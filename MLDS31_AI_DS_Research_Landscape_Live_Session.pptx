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28"/>
  </p:notes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5" r:id="rId9"/>
    <p:sldId id="277" r:id="rId10"/>
    <p:sldId id="278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6" r:id="rId47"/>
    <p:sldId id="317" r:id="rId48"/>
    <p:sldId id="318" r:id="rId49"/>
    <p:sldId id="319" r:id="rId50"/>
    <p:sldId id="320" r:id="rId51"/>
    <p:sldId id="321" r:id="rId52"/>
    <p:sldId id="322" r:id="rId53"/>
    <p:sldId id="323" r:id="rId54"/>
    <p:sldId id="324" r:id="rId55"/>
    <p:sldId id="325" r:id="rId56"/>
    <p:sldId id="326" r:id="rId57"/>
    <p:sldId id="327" r:id="rId58"/>
    <p:sldId id="328" r:id="rId59"/>
    <p:sldId id="329" r:id="rId60"/>
    <p:sldId id="331" r:id="rId61"/>
    <p:sldId id="332" r:id="rId62"/>
    <p:sldId id="333" r:id="rId63"/>
    <p:sldId id="334" r:id="rId64"/>
    <p:sldId id="335" r:id="rId65"/>
    <p:sldId id="336" r:id="rId66"/>
    <p:sldId id="337" r:id="rId67"/>
    <p:sldId id="338" r:id="rId68"/>
    <p:sldId id="339" r:id="rId69"/>
    <p:sldId id="340" r:id="rId70"/>
    <p:sldId id="341" r:id="rId71"/>
    <p:sldId id="342" r:id="rId72"/>
    <p:sldId id="343" r:id="rId73"/>
    <p:sldId id="344" r:id="rId74"/>
    <p:sldId id="345" r:id="rId75"/>
    <p:sldId id="346" r:id="rId76"/>
    <p:sldId id="347" r:id="rId77"/>
    <p:sldId id="348" r:id="rId78"/>
    <p:sldId id="349" r:id="rId79"/>
    <p:sldId id="350" r:id="rId80"/>
    <p:sldId id="351" r:id="rId81"/>
    <p:sldId id="352" r:id="rId82"/>
    <p:sldId id="353" r:id="rId83"/>
    <p:sldId id="354" r:id="rId84"/>
    <p:sldId id="355" r:id="rId85"/>
    <p:sldId id="356" r:id="rId86"/>
    <p:sldId id="357" r:id="rId87"/>
    <p:sldId id="358" r:id="rId88"/>
    <p:sldId id="359" r:id="rId89"/>
    <p:sldId id="360" r:id="rId90"/>
    <p:sldId id="361" r:id="rId91"/>
    <p:sldId id="362" r:id="rId92"/>
    <p:sldId id="363" r:id="rId93"/>
    <p:sldId id="364" r:id="rId94"/>
    <p:sldId id="365" r:id="rId95"/>
    <p:sldId id="366" r:id="rId96"/>
    <p:sldId id="367" r:id="rId97"/>
    <p:sldId id="368" r:id="rId98"/>
    <p:sldId id="369" r:id="rId99"/>
    <p:sldId id="370" r:id="rId100"/>
    <p:sldId id="371" r:id="rId101"/>
    <p:sldId id="372" r:id="rId102"/>
    <p:sldId id="373" r:id="rId103"/>
    <p:sldId id="374" r:id="rId104"/>
    <p:sldId id="375" r:id="rId105"/>
    <p:sldId id="376" r:id="rId106"/>
    <p:sldId id="378" r:id="rId107"/>
    <p:sldId id="379" r:id="rId108"/>
    <p:sldId id="380" r:id="rId109"/>
    <p:sldId id="381" r:id="rId110"/>
    <p:sldId id="383" r:id="rId111"/>
    <p:sldId id="384" r:id="rId112"/>
    <p:sldId id="385" r:id="rId113"/>
    <p:sldId id="386" r:id="rId114"/>
    <p:sldId id="387" r:id="rId115"/>
    <p:sldId id="388" r:id="rId116"/>
    <p:sldId id="389" r:id="rId117"/>
    <p:sldId id="390" r:id="rId118"/>
    <p:sldId id="391" r:id="rId119"/>
    <p:sldId id="392" r:id="rId120"/>
    <p:sldId id="393" r:id="rId121"/>
    <p:sldId id="394" r:id="rId122"/>
    <p:sldId id="395" r:id="rId123"/>
    <p:sldId id="396" r:id="rId124"/>
    <p:sldId id="397" r:id="rId125"/>
    <p:sldId id="398" r:id="rId126"/>
    <p:sldId id="399" r:id="rId127"/>
    <p:sldId id="400" r:id="rId128"/>
    <p:sldId id="401" r:id="rId129"/>
    <p:sldId id="402" r:id="rId130"/>
    <p:sldId id="403" r:id="rId131"/>
    <p:sldId id="404" r:id="rId132"/>
    <p:sldId id="405" r:id="rId133"/>
    <p:sldId id="406" r:id="rId134"/>
    <p:sldId id="407" r:id="rId135"/>
    <p:sldId id="409" r:id="rId136"/>
    <p:sldId id="410" r:id="rId137"/>
    <p:sldId id="412" r:id="rId138"/>
    <p:sldId id="413" r:id="rId139"/>
    <p:sldId id="414" r:id="rId140"/>
    <p:sldId id="416" r:id="rId141"/>
    <p:sldId id="417" r:id="rId142"/>
    <p:sldId id="418" r:id="rId143"/>
    <p:sldId id="420" r:id="rId144"/>
    <p:sldId id="421" r:id="rId145"/>
    <p:sldId id="422" r:id="rId146"/>
    <p:sldId id="423" r:id="rId147"/>
    <p:sldId id="424" r:id="rId148"/>
    <p:sldId id="425" r:id="rId149"/>
    <p:sldId id="426" r:id="rId150"/>
    <p:sldId id="427" r:id="rId151"/>
    <p:sldId id="428" r:id="rId152"/>
    <p:sldId id="429" r:id="rId153"/>
    <p:sldId id="430" r:id="rId154"/>
    <p:sldId id="431" r:id="rId155"/>
    <p:sldId id="432" r:id="rId156"/>
    <p:sldId id="433" r:id="rId157"/>
    <p:sldId id="434" r:id="rId158"/>
    <p:sldId id="435" r:id="rId159"/>
    <p:sldId id="436" r:id="rId160"/>
    <p:sldId id="437" r:id="rId161"/>
    <p:sldId id="438" r:id="rId162"/>
    <p:sldId id="439" r:id="rId163"/>
    <p:sldId id="440" r:id="rId164"/>
    <p:sldId id="441" r:id="rId165"/>
    <p:sldId id="442" r:id="rId166"/>
    <p:sldId id="443" r:id="rId167"/>
    <p:sldId id="444" r:id="rId168"/>
    <p:sldId id="445" r:id="rId169"/>
    <p:sldId id="446" r:id="rId170"/>
    <p:sldId id="447" r:id="rId171"/>
    <p:sldId id="449" r:id="rId172"/>
    <p:sldId id="450" r:id="rId173"/>
    <p:sldId id="451" r:id="rId174"/>
    <p:sldId id="452" r:id="rId175"/>
    <p:sldId id="453" r:id="rId176"/>
    <p:sldId id="454" r:id="rId177"/>
    <p:sldId id="455" r:id="rId178"/>
    <p:sldId id="456" r:id="rId179"/>
    <p:sldId id="457" r:id="rId180"/>
    <p:sldId id="458" r:id="rId181"/>
    <p:sldId id="459" r:id="rId182"/>
    <p:sldId id="460" r:id="rId183"/>
    <p:sldId id="461" r:id="rId184"/>
    <p:sldId id="462" r:id="rId185"/>
    <p:sldId id="463" r:id="rId186"/>
    <p:sldId id="464" r:id="rId187"/>
    <p:sldId id="465" r:id="rId188"/>
    <p:sldId id="466" r:id="rId189"/>
    <p:sldId id="467" r:id="rId190"/>
    <p:sldId id="468" r:id="rId191"/>
    <p:sldId id="469" r:id="rId192"/>
    <p:sldId id="470" r:id="rId193"/>
    <p:sldId id="471" r:id="rId194"/>
    <p:sldId id="472" r:id="rId195"/>
    <p:sldId id="473" r:id="rId196"/>
    <p:sldId id="474" r:id="rId197"/>
    <p:sldId id="475" r:id="rId198"/>
    <p:sldId id="476" r:id="rId199"/>
    <p:sldId id="477" r:id="rId200"/>
    <p:sldId id="478" r:id="rId201"/>
    <p:sldId id="479" r:id="rId202"/>
    <p:sldId id="480" r:id="rId203"/>
    <p:sldId id="481" r:id="rId204"/>
    <p:sldId id="482" r:id="rId205"/>
    <p:sldId id="483" r:id="rId206"/>
    <p:sldId id="484" r:id="rId207"/>
    <p:sldId id="485" r:id="rId208"/>
    <p:sldId id="486" r:id="rId209"/>
    <p:sldId id="487" r:id="rId210"/>
    <p:sldId id="489" r:id="rId211"/>
    <p:sldId id="490" r:id="rId212"/>
    <p:sldId id="491" r:id="rId213"/>
    <p:sldId id="492" r:id="rId214"/>
    <p:sldId id="493" r:id="rId215"/>
    <p:sldId id="494" r:id="rId216"/>
    <p:sldId id="495" r:id="rId217"/>
    <p:sldId id="497" r:id="rId218"/>
    <p:sldId id="498" r:id="rId219"/>
    <p:sldId id="499" r:id="rId220"/>
    <p:sldId id="500" r:id="rId221"/>
    <p:sldId id="501" r:id="rId222"/>
    <p:sldId id="502" r:id="rId223"/>
    <p:sldId id="503" r:id="rId224"/>
    <p:sldId id="504" r:id="rId225"/>
    <p:sldId id="511" r:id="rId226"/>
    <p:sldId id="269" r:id="rId227"/>
  </p:sldIdLst>
  <p:sldSz cx="9144000" cy="5143500" type="screen16x9"/>
  <p:notesSz cx="6858000" cy="9144000"/>
  <p:embeddedFontLst>
    <p:embeddedFont>
      <p:font typeface="Lato" panose="020F0502020204030203" pitchFamily="34" charset="0"/>
      <p:regular r:id="rId229"/>
      <p:bold r:id="rId230"/>
      <p:boldItalic r:id="rId231"/>
    </p:embeddedFont>
    <p:embeddedFont>
      <p:font typeface="Proxima Nova" panose="020B0604020202020204" charset="0"/>
      <p:regular r:id="rId232"/>
      <p:bold r:id="rId233"/>
      <p:italic r:id="rId234"/>
      <p:boldItalic r:id="rId235"/>
    </p:embeddedFont>
    <p:embeddedFont>
      <p:font typeface="Roboto" panose="02000000000000000000" pitchFamily="2" charset="0"/>
      <p:bold r:id="rId2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presProps" Target="pres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viewProps" Target="viewProps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theme" Target="theme/theme1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font" Target="fonts/font1.fntdata"/><Relationship Id="rId240" Type="http://schemas.openxmlformats.org/officeDocument/2006/relationships/tableStyles" Target="tableStyles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font" Target="fonts/font2.fntdata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font" Target="fonts/font8.fntdata"/><Relationship Id="rId26" Type="http://schemas.openxmlformats.org/officeDocument/2006/relationships/slide" Target="slides/slide25.xml"/><Relationship Id="rId231" Type="http://schemas.openxmlformats.org/officeDocument/2006/relationships/font" Target="fonts/font3.fntdata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font" Target="fonts/font4.fntdata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font" Target="fonts/font5.fntdata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font" Target="fonts/font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font" Target="fonts/font7.fntdata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620" name="Google Shape;6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Pause 10 seconds. Ask everyone to type ONE answer in the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them 30 seconds. Read out 3 or 4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Poll: give 30–40 seconds, then reveal the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8848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Poll: give 30–40 seconds, then reveal the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Poll: give 30–40 seconds, then reveal the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Poll: give 30–40 seconds, then reveal the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Poll: give 30–40 seconds, then reveal the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Poll: give 30–40 seconds, then reveal the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Poll: give 30–40 seconds, then reveal the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Poll: give 30–40 seconds, then reveal the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Poll: give 30–40 seconds, then reveal the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Poll: give 30–40 seconds, then reveal the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Poll: give 30–40 seconds, then reveal the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Poll: give 30–40 seconds, then reveal the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each scenario, pause 5 seconds, then reveal the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Poll: give 30–40 seconds, then reveal the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Poll: give 30–40 seconds, then reveal the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Poll: give 30–40 seconds, then reveal the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Ask: how would YOU answer in one breath?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Poll: give 30–40 seconds, then reveal the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Poll: give 30–40 seconds, then reveal the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5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663921" y="465388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72D4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616976" y="401240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0" y="0"/>
            <a:ext cx="9144000" cy="465388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3922" y="571887"/>
            <a:ext cx="2057400" cy="548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1756">
          <p15:clr>
            <a:srgbClr val="FBAE40"/>
          </p15:clr>
        </p15:guide>
        <p15:guide id="5" pos="33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vider">
  <p:cSld name="2_Divi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Proxima Nov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90">
          <p15:clr>
            <a:srgbClr val="FBAE40"/>
          </p15:clr>
        </p15:guide>
        <p15:guide id="2" pos="612">
          <p15:clr>
            <a:srgbClr val="FBAE40"/>
          </p15:clr>
        </p15:guide>
        <p15:guide id="3" pos="2222">
          <p15:clr>
            <a:srgbClr val="FBAE40"/>
          </p15:clr>
        </p15:guide>
        <p15:guide id="4" orient="horz" pos="16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>
  <p:cSld name="Divi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-431" y="0"/>
            <a:ext cx="9144000" cy="51435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30238" y="544498"/>
            <a:ext cx="5990568" cy="562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2 Line Title and Content">
  <p:cSld name="1_2 Line Title and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1"/>
          </p:nvPr>
        </p:nvSpPr>
        <p:spPr>
          <a:xfrm>
            <a:off x="3303588" y="1816100"/>
            <a:ext cx="5265737" cy="261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5" name="Google Shape;5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2794">
          <p15:clr>
            <a:srgbClr val="FBAE40"/>
          </p15:clr>
        </p15:guide>
        <p15:guide id="5" pos="2081">
          <p15:clr>
            <a:srgbClr val="FBAE40"/>
          </p15:clr>
        </p15:guide>
        <p15:guide id="6" orient="horz" pos="11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picture and caption">
  <p:cSld name="Title, picture and 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>
            <a:spLocks noGrp="1"/>
          </p:cNvSpPr>
          <p:nvPr>
            <p:ph type="pic" idx="2"/>
          </p:nvPr>
        </p:nvSpPr>
        <p:spPr>
          <a:xfrm>
            <a:off x="4136817" y="1681163"/>
            <a:ext cx="4535267" cy="282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648274" y="1681163"/>
            <a:ext cx="3140075" cy="282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1053">
          <p15:clr>
            <a:srgbClr val="FBAE40"/>
          </p15:clr>
        </p15:guide>
        <p15:guide id="3" orient="horz" pos="2845">
          <p15:clr>
            <a:srgbClr val="FBAE40"/>
          </p15:clr>
        </p15:guide>
        <p15:guide id="4" pos="3254">
          <p15:clr>
            <a:srgbClr val="FBAE40"/>
          </p15:clr>
        </p15:guide>
        <p15:guide id="5" pos="339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vider">
  <p:cSld name="1_Divider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8" name="Google Shape;338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40" name="Google Shape;34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1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/>
          </a:p>
        </p:txBody>
      </p:sp>
      <p:pic>
        <p:nvPicPr>
          <p:cNvPr id="342" name="Google Shape;342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1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90">
          <p15:clr>
            <a:srgbClr val="FBAE40"/>
          </p15:clr>
        </p15:guide>
        <p15:guide id="2" pos="612">
          <p15:clr>
            <a:srgbClr val="FBAE40"/>
          </p15:clr>
        </p15:guide>
        <p15:guide id="3" pos="2222">
          <p15:clr>
            <a:srgbClr val="FBAE40"/>
          </p15:clr>
        </p15:guide>
        <p15:guide id="4" orient="horz" pos="16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3 picture with caption">
  <p:cSld name="Title and 3 picture with caption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 txBox="1">
            <a:spLocks noGrp="1"/>
          </p:cNvSpPr>
          <p:nvPr>
            <p:ph type="title"/>
          </p:nvPr>
        </p:nvSpPr>
        <p:spPr>
          <a:xfrm>
            <a:off x="629841" y="600075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22"/>
          <p:cNvSpPr>
            <a:spLocks noGrp="1"/>
          </p:cNvSpPr>
          <p:nvPr>
            <p:ph type="pic" idx="2"/>
          </p:nvPr>
        </p:nvSpPr>
        <p:spPr>
          <a:xfrm>
            <a:off x="1445363" y="1382268"/>
            <a:ext cx="1668121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9" name="Google Shape;349;p22"/>
          <p:cNvSpPr>
            <a:spLocks noGrp="1"/>
          </p:cNvSpPr>
          <p:nvPr>
            <p:ph type="pic" idx="3"/>
          </p:nvPr>
        </p:nvSpPr>
        <p:spPr>
          <a:xfrm>
            <a:off x="3744984" y="1382268"/>
            <a:ext cx="1654032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0" name="Google Shape;350;p22"/>
          <p:cNvSpPr>
            <a:spLocks noGrp="1"/>
          </p:cNvSpPr>
          <p:nvPr>
            <p:ph type="pic" idx="4"/>
          </p:nvPr>
        </p:nvSpPr>
        <p:spPr>
          <a:xfrm>
            <a:off x="6055443" y="1382268"/>
            <a:ext cx="1654032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1" name="Google Shape;351;p22"/>
          <p:cNvSpPr txBox="1">
            <a:spLocks noGrp="1"/>
          </p:cNvSpPr>
          <p:nvPr>
            <p:ph type="body" idx="1"/>
          </p:nvPr>
        </p:nvSpPr>
        <p:spPr>
          <a:xfrm>
            <a:off x="1439466" y="3519224"/>
            <a:ext cx="1674019" cy="27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2" name="Google Shape;352;p22"/>
          <p:cNvSpPr txBox="1">
            <a:spLocks noGrp="1"/>
          </p:cNvSpPr>
          <p:nvPr>
            <p:ph type="body" idx="5"/>
          </p:nvPr>
        </p:nvSpPr>
        <p:spPr>
          <a:xfrm>
            <a:off x="3744985" y="3519224"/>
            <a:ext cx="1654032" cy="27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3" name="Google Shape;353;p22"/>
          <p:cNvSpPr txBox="1">
            <a:spLocks noGrp="1"/>
          </p:cNvSpPr>
          <p:nvPr>
            <p:ph type="body" idx="6"/>
          </p:nvPr>
        </p:nvSpPr>
        <p:spPr>
          <a:xfrm>
            <a:off x="6050503" y="3519223"/>
            <a:ext cx="1654032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4" name="Google Shape;354;p22"/>
          <p:cNvSpPr txBox="1">
            <a:spLocks noGrp="1"/>
          </p:cNvSpPr>
          <p:nvPr>
            <p:ph type="body" idx="7"/>
          </p:nvPr>
        </p:nvSpPr>
        <p:spPr>
          <a:xfrm>
            <a:off x="1439863" y="3862520"/>
            <a:ext cx="1674019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5" name="Google Shape;355;p22"/>
          <p:cNvSpPr txBox="1">
            <a:spLocks noGrp="1"/>
          </p:cNvSpPr>
          <p:nvPr>
            <p:ph type="body" idx="8"/>
          </p:nvPr>
        </p:nvSpPr>
        <p:spPr>
          <a:xfrm>
            <a:off x="3735388" y="3862520"/>
            <a:ext cx="1674019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6" name="Google Shape;356;p22"/>
          <p:cNvSpPr txBox="1">
            <a:spLocks noGrp="1"/>
          </p:cNvSpPr>
          <p:nvPr>
            <p:ph type="body" idx="9"/>
          </p:nvPr>
        </p:nvSpPr>
        <p:spPr>
          <a:xfrm>
            <a:off x="6050502" y="3862520"/>
            <a:ext cx="1658973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7" name="Google Shape;357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59" name="Google Shape;3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10">
          <p15:clr>
            <a:srgbClr val="FBAE40"/>
          </p15:clr>
        </p15:guide>
        <p15:guide id="2" orient="horz" pos="2391">
          <p15:clr>
            <a:srgbClr val="FBAE40"/>
          </p15:clr>
        </p15:guide>
        <p15:guide id="3" orient="horz" pos="2096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907">
          <p15:clr>
            <a:srgbClr val="FBAE40"/>
          </p15:clr>
        </p15:guide>
        <p15:guide id="6" orient="horz" pos="872">
          <p15:clr>
            <a:srgbClr val="FBAE40"/>
          </p15:clr>
        </p15:guide>
        <p15:guide id="7" pos="1961">
          <p15:clr>
            <a:srgbClr val="FBAE40"/>
          </p15:clr>
        </p15:guide>
        <p15:guide id="8" pos="2353">
          <p15:clr>
            <a:srgbClr val="FBAE40"/>
          </p15:clr>
        </p15:guide>
        <p15:guide id="9" pos="3407">
          <p15:clr>
            <a:srgbClr val="FBAE40"/>
          </p15:clr>
        </p15:guide>
        <p15:guide id="10" pos="3810">
          <p15:clr>
            <a:srgbClr val="FBAE40"/>
          </p15:clr>
        </p15:guide>
        <p15:guide id="11" pos="485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2 pictures">
  <p:cSld name="Title and 2 pictures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 txBox="1">
            <a:spLocks noGrp="1"/>
          </p:cNvSpPr>
          <p:nvPr>
            <p:ph type="title"/>
          </p:nvPr>
        </p:nvSpPr>
        <p:spPr>
          <a:xfrm>
            <a:off x="642473" y="546498"/>
            <a:ext cx="5902706" cy="56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23"/>
          <p:cNvSpPr/>
          <p:nvPr/>
        </p:nvSpPr>
        <p:spPr>
          <a:xfrm>
            <a:off x="4599929" y="1870236"/>
            <a:ext cx="3921771" cy="232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>
            <a:spLocks noGrp="1"/>
          </p:cNvSpPr>
          <p:nvPr>
            <p:ph type="pic" idx="2"/>
          </p:nvPr>
        </p:nvSpPr>
        <p:spPr>
          <a:xfrm>
            <a:off x="4599929" y="1868092"/>
            <a:ext cx="3921771" cy="2325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5" name="Google Shape;365;p23"/>
          <p:cNvSpPr>
            <a:spLocks noGrp="1"/>
          </p:cNvSpPr>
          <p:nvPr>
            <p:ph type="pic" idx="3"/>
          </p:nvPr>
        </p:nvSpPr>
        <p:spPr>
          <a:xfrm>
            <a:off x="621848" y="1868091"/>
            <a:ext cx="25920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6" name="Google Shape;366;p23"/>
          <p:cNvSpPr txBox="1">
            <a:spLocks noGrp="1"/>
          </p:cNvSpPr>
          <p:nvPr>
            <p:ph type="body" idx="1"/>
          </p:nvPr>
        </p:nvSpPr>
        <p:spPr>
          <a:xfrm>
            <a:off x="629841" y="3145632"/>
            <a:ext cx="3343275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15"/>
              <a:buFont typeface="Arial"/>
              <a:buNone/>
              <a:defRPr sz="1215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7" name="Google Shape;367;p23"/>
          <p:cNvSpPr txBox="1">
            <a:spLocks noGrp="1"/>
          </p:cNvSpPr>
          <p:nvPr>
            <p:ph type="body" idx="4"/>
          </p:nvPr>
        </p:nvSpPr>
        <p:spPr>
          <a:xfrm>
            <a:off x="635000" y="3515616"/>
            <a:ext cx="3343275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Arial"/>
              <a:buNone/>
              <a:defRPr sz="131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8" name="Google Shape;368;p23"/>
          <p:cNvSpPr txBox="1">
            <a:spLocks noGrp="1"/>
          </p:cNvSpPr>
          <p:nvPr>
            <p:ph type="dt" idx="10"/>
          </p:nvPr>
        </p:nvSpPr>
        <p:spPr>
          <a:xfrm>
            <a:off x="64247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23"/>
          <p:cNvSpPr txBox="1">
            <a:spLocks noGrp="1"/>
          </p:cNvSpPr>
          <p:nvPr>
            <p:ph type="sldNum" idx="12"/>
          </p:nvPr>
        </p:nvSpPr>
        <p:spPr>
          <a:xfrm>
            <a:off x="64660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70" name="Google Shape;37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3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4599929" y="1870236"/>
            <a:ext cx="3969000" cy="232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1178">
          <p15:clr>
            <a:srgbClr val="FBAE40"/>
          </p15:clr>
        </p15:guide>
        <p15:guide id="3" orient="horz" pos="1671">
          <p15:clr>
            <a:srgbClr val="FBAE40"/>
          </p15:clr>
        </p15:guide>
        <p15:guide id="4" orient="horz" pos="1977">
          <p15:clr>
            <a:srgbClr val="FBAE40"/>
          </p15:clr>
        </p15:guide>
        <p15:guide id="5" orient="horz" pos="2930">
          <p15:clr>
            <a:srgbClr val="FBAE40"/>
          </p15:clr>
        </p15:guide>
        <p15:guide id="6" orient="horz" pos="2641">
          <p15:clr>
            <a:srgbClr val="FBAE40"/>
          </p15:clr>
        </p15:guide>
        <p15:guide id="7" pos="2897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Icons and Content">
  <p:cSld name="Title, Icons and Content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7869" y="988850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869" y="1469040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869" y="1948824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7869" y="2427167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7868" y="2907797"/>
            <a:ext cx="402337" cy="40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4"/>
          <p:cNvSpPr txBox="1">
            <a:spLocks noGrp="1"/>
          </p:cNvSpPr>
          <p:nvPr>
            <p:ph type="body" idx="1"/>
          </p:nvPr>
        </p:nvSpPr>
        <p:spPr>
          <a:xfrm>
            <a:off x="878243" y="1572506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1" name="Google Shape;381;p24"/>
          <p:cNvSpPr txBox="1">
            <a:spLocks noGrp="1"/>
          </p:cNvSpPr>
          <p:nvPr>
            <p:ph type="body" idx="2"/>
          </p:nvPr>
        </p:nvSpPr>
        <p:spPr>
          <a:xfrm>
            <a:off x="878243" y="1088140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2" name="Google Shape;382;p24"/>
          <p:cNvSpPr txBox="1">
            <a:spLocks noGrp="1"/>
          </p:cNvSpPr>
          <p:nvPr>
            <p:ph type="body" idx="3"/>
          </p:nvPr>
        </p:nvSpPr>
        <p:spPr>
          <a:xfrm>
            <a:off x="878243" y="2046971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3" name="Google Shape;383;p24"/>
          <p:cNvSpPr txBox="1">
            <a:spLocks noGrp="1"/>
          </p:cNvSpPr>
          <p:nvPr>
            <p:ph type="body" idx="4"/>
          </p:nvPr>
        </p:nvSpPr>
        <p:spPr>
          <a:xfrm>
            <a:off x="878243" y="2528954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4" name="Google Shape;384;p24"/>
          <p:cNvSpPr txBox="1">
            <a:spLocks noGrp="1"/>
          </p:cNvSpPr>
          <p:nvPr>
            <p:ph type="body" idx="5"/>
          </p:nvPr>
        </p:nvSpPr>
        <p:spPr>
          <a:xfrm>
            <a:off x="878243" y="3005394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5" name="Google Shape;385;p24"/>
          <p:cNvSpPr txBox="1">
            <a:spLocks noGrp="1"/>
          </p:cNvSpPr>
          <p:nvPr>
            <p:ph type="body" idx="6"/>
          </p:nvPr>
        </p:nvSpPr>
        <p:spPr>
          <a:xfrm>
            <a:off x="4359486" y="1572507"/>
            <a:ext cx="2413617" cy="231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6" name="Google Shape;386;p24"/>
          <p:cNvSpPr txBox="1">
            <a:spLocks noGrp="1"/>
          </p:cNvSpPr>
          <p:nvPr>
            <p:ph type="body" idx="7"/>
          </p:nvPr>
        </p:nvSpPr>
        <p:spPr>
          <a:xfrm>
            <a:off x="4359486" y="1088140"/>
            <a:ext cx="2413617" cy="241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7" name="Google Shape;387;p24"/>
          <p:cNvSpPr txBox="1">
            <a:spLocks noGrp="1"/>
          </p:cNvSpPr>
          <p:nvPr>
            <p:ph type="body" idx="8"/>
          </p:nvPr>
        </p:nvSpPr>
        <p:spPr>
          <a:xfrm>
            <a:off x="4359486" y="2046971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8" name="Google Shape;388;p24"/>
          <p:cNvSpPr txBox="1">
            <a:spLocks noGrp="1"/>
          </p:cNvSpPr>
          <p:nvPr>
            <p:ph type="body" idx="9"/>
          </p:nvPr>
        </p:nvSpPr>
        <p:spPr>
          <a:xfrm>
            <a:off x="4359486" y="2528954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9" name="Google Shape;389;p24"/>
          <p:cNvSpPr txBox="1">
            <a:spLocks noGrp="1"/>
          </p:cNvSpPr>
          <p:nvPr>
            <p:ph type="body" idx="13"/>
          </p:nvPr>
        </p:nvSpPr>
        <p:spPr>
          <a:xfrm>
            <a:off x="4359486" y="3005394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0" name="Google Shape;390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2" name="Google Shape;39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0427" y="99723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427" y="147742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427" y="1957209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427" y="2435552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0426" y="2916182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4155" y="99723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74154" y="147742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874153" y="1957209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74153" y="2434706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874153" y="2914489"/>
            <a:ext cx="402337" cy="402337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4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4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4" name="Google Shape;404;p2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78">
          <p15:clr>
            <a:srgbClr val="FBAE40"/>
          </p15:clr>
        </p15:guide>
        <p15:guide id="2" pos="397">
          <p15:clr>
            <a:srgbClr val="FBAE40"/>
          </p15:clr>
        </p15:guide>
        <p15:guide id="3" orient="horz" pos="378">
          <p15:clr>
            <a:srgbClr val="FBAE40"/>
          </p15:clr>
        </p15:guide>
        <p15:guide id="4" orient="horz" pos="923">
          <p15:clr>
            <a:srgbClr val="FBAE40"/>
          </p15:clr>
        </p15:guide>
        <p15:guide id="5" pos="1638">
          <p15:clr>
            <a:srgbClr val="FBAE40"/>
          </p15:clr>
        </p15:guide>
        <p15:guide id="6" pos="3578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pos="1877">
          <p15:clr>
            <a:srgbClr val="FBAE40"/>
          </p15:clr>
        </p15:guide>
        <p15:guide id="9" pos="1928">
          <p15:clr>
            <a:srgbClr val="FBAE40"/>
          </p15:clr>
        </p15:guide>
        <p15:guide id="10" pos="383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Section Header">
  <p:cSld name="5_Section Header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5"/>
          <p:cNvSpPr/>
          <p:nvPr/>
        </p:nvSpPr>
        <p:spPr>
          <a:xfrm>
            <a:off x="629841" y="2556933"/>
            <a:ext cx="7891859" cy="82662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8" name="Google Shape;408;p25"/>
          <p:cNvGrpSpPr/>
          <p:nvPr/>
        </p:nvGrpSpPr>
        <p:grpSpPr>
          <a:xfrm>
            <a:off x="994787" y="3020755"/>
            <a:ext cx="775019" cy="174751"/>
            <a:chOff x="1326382" y="4041646"/>
            <a:chExt cx="2597497" cy="653143"/>
          </a:xfrm>
        </p:grpSpPr>
        <p:sp>
          <p:nvSpPr>
            <p:cNvPr id="409" name="Google Shape;409;p25"/>
            <p:cNvSpPr/>
            <p:nvPr/>
          </p:nvSpPr>
          <p:spPr>
            <a:xfrm>
              <a:off x="1326382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25"/>
            <p:cNvSpPr/>
            <p:nvPr/>
          </p:nvSpPr>
          <p:spPr>
            <a:xfrm>
              <a:off x="1974500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25"/>
            <p:cNvSpPr/>
            <p:nvPr/>
          </p:nvSpPr>
          <p:spPr>
            <a:xfrm>
              <a:off x="2622617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25"/>
            <p:cNvSpPr/>
            <p:nvPr/>
          </p:nvSpPr>
          <p:spPr>
            <a:xfrm>
              <a:off x="3270737" y="4041646"/>
              <a:ext cx="653142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25"/>
            <p:cNvSpPr/>
            <p:nvPr/>
          </p:nvSpPr>
          <p:spPr>
            <a:xfrm>
              <a:off x="3597306" y="4041650"/>
              <a:ext cx="326569" cy="653139"/>
            </a:xfrm>
            <a:custGeom>
              <a:avLst/>
              <a:gdLst/>
              <a:ahLst/>
              <a:cxnLst/>
              <a:rect l="l" t="t" r="r" b="b"/>
              <a:pathLst>
                <a:path w="326570" h="653141" extrusionOk="0">
                  <a:moveTo>
                    <a:pt x="0" y="0"/>
                  </a:moveTo>
                  <a:lnTo>
                    <a:pt x="77091" y="249480"/>
                  </a:lnTo>
                  <a:lnTo>
                    <a:pt x="326570" y="249478"/>
                  </a:lnTo>
                  <a:lnTo>
                    <a:pt x="124736" y="403663"/>
                  </a:lnTo>
                  <a:lnTo>
                    <a:pt x="201831" y="653141"/>
                  </a:lnTo>
                  <a:lnTo>
                    <a:pt x="0" y="4989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4" name="Google Shape;414;p25"/>
          <p:cNvSpPr txBox="1">
            <a:spLocks noGrp="1"/>
          </p:cNvSpPr>
          <p:nvPr>
            <p:ph type="body" idx="1"/>
          </p:nvPr>
        </p:nvSpPr>
        <p:spPr>
          <a:xfrm>
            <a:off x="1029406" y="2721203"/>
            <a:ext cx="846528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5" name="Google Shape;415;p25"/>
          <p:cNvSpPr txBox="1">
            <a:spLocks noGrp="1"/>
          </p:cNvSpPr>
          <p:nvPr>
            <p:ph type="body" idx="2"/>
          </p:nvPr>
        </p:nvSpPr>
        <p:spPr>
          <a:xfrm>
            <a:off x="1921844" y="3016014"/>
            <a:ext cx="946585" cy="18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6" name="Google Shape;416;p25"/>
          <p:cNvSpPr txBox="1">
            <a:spLocks noGrp="1"/>
          </p:cNvSpPr>
          <p:nvPr>
            <p:ph type="body" idx="3"/>
          </p:nvPr>
        </p:nvSpPr>
        <p:spPr>
          <a:xfrm>
            <a:off x="2868429" y="3714682"/>
            <a:ext cx="2471738" cy="13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7" name="Google Shape;417;p25"/>
          <p:cNvSpPr txBox="1">
            <a:spLocks noGrp="1"/>
          </p:cNvSpPr>
          <p:nvPr>
            <p:ph type="dt" idx="10"/>
          </p:nvPr>
        </p:nvSpPr>
        <p:spPr>
          <a:xfrm>
            <a:off x="6367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25"/>
          <p:cNvSpPr txBox="1">
            <a:spLocks noGrp="1"/>
          </p:cNvSpPr>
          <p:nvPr>
            <p:ph type="sldNum" idx="12"/>
          </p:nvPr>
        </p:nvSpPr>
        <p:spPr>
          <a:xfrm>
            <a:off x="64660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19" name="Google Shape;419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5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5"/>
          <p:cNvSpPr/>
          <p:nvPr/>
        </p:nvSpPr>
        <p:spPr>
          <a:xfrm>
            <a:off x="629841" y="2535239"/>
            <a:ext cx="7939088" cy="84831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2" name="Google Shape;422;p25"/>
          <p:cNvGrpSpPr/>
          <p:nvPr/>
        </p:nvGrpSpPr>
        <p:grpSpPr>
          <a:xfrm>
            <a:off x="923664" y="3020755"/>
            <a:ext cx="775019" cy="174751"/>
            <a:chOff x="1326382" y="4041646"/>
            <a:chExt cx="2597497" cy="653143"/>
          </a:xfrm>
        </p:grpSpPr>
        <p:sp>
          <p:nvSpPr>
            <p:cNvPr id="423" name="Google Shape;423;p25"/>
            <p:cNvSpPr/>
            <p:nvPr/>
          </p:nvSpPr>
          <p:spPr>
            <a:xfrm>
              <a:off x="1326382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5"/>
            <p:cNvSpPr/>
            <p:nvPr/>
          </p:nvSpPr>
          <p:spPr>
            <a:xfrm>
              <a:off x="1974500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25"/>
            <p:cNvSpPr/>
            <p:nvPr/>
          </p:nvSpPr>
          <p:spPr>
            <a:xfrm>
              <a:off x="2622617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25"/>
            <p:cNvSpPr/>
            <p:nvPr/>
          </p:nvSpPr>
          <p:spPr>
            <a:xfrm>
              <a:off x="3270737" y="4041646"/>
              <a:ext cx="653142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25"/>
            <p:cNvSpPr/>
            <p:nvPr/>
          </p:nvSpPr>
          <p:spPr>
            <a:xfrm>
              <a:off x="3597306" y="4041650"/>
              <a:ext cx="326569" cy="653139"/>
            </a:xfrm>
            <a:custGeom>
              <a:avLst/>
              <a:gdLst/>
              <a:ahLst/>
              <a:cxnLst/>
              <a:rect l="l" t="t" r="r" b="b"/>
              <a:pathLst>
                <a:path w="326570" h="653141" extrusionOk="0">
                  <a:moveTo>
                    <a:pt x="0" y="0"/>
                  </a:moveTo>
                  <a:lnTo>
                    <a:pt x="77091" y="249480"/>
                  </a:lnTo>
                  <a:lnTo>
                    <a:pt x="326570" y="249478"/>
                  </a:lnTo>
                  <a:lnTo>
                    <a:pt x="124736" y="403663"/>
                  </a:lnTo>
                  <a:lnTo>
                    <a:pt x="201831" y="653141"/>
                  </a:lnTo>
                  <a:lnTo>
                    <a:pt x="0" y="4989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8" name="Google Shape;428;p25"/>
          <p:cNvSpPr txBox="1">
            <a:spLocks noGrp="1"/>
          </p:cNvSpPr>
          <p:nvPr>
            <p:ph type="body" idx="4"/>
          </p:nvPr>
        </p:nvSpPr>
        <p:spPr>
          <a:xfrm>
            <a:off x="958283" y="2721203"/>
            <a:ext cx="846528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9" name="Google Shape;429;p25"/>
          <p:cNvSpPr txBox="1">
            <a:spLocks noGrp="1"/>
          </p:cNvSpPr>
          <p:nvPr>
            <p:ph type="body" idx="5"/>
          </p:nvPr>
        </p:nvSpPr>
        <p:spPr>
          <a:xfrm>
            <a:off x="1850721" y="3016014"/>
            <a:ext cx="946585" cy="18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0" name="Google Shape;430;p25"/>
          <p:cNvSpPr txBox="1">
            <a:spLocks noGrp="1"/>
          </p:cNvSpPr>
          <p:nvPr>
            <p:ph type="title"/>
          </p:nvPr>
        </p:nvSpPr>
        <p:spPr>
          <a:xfrm>
            <a:off x="630238" y="600075"/>
            <a:ext cx="6246812" cy="44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31" name="Google Shape;43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2210">
          <p15:clr>
            <a:srgbClr val="FBAE40"/>
          </p15:clr>
        </p15:guide>
        <p15:guide id="3" orient="horz" pos="2130">
          <p15:clr>
            <a:srgbClr val="FBAE40"/>
          </p15:clr>
        </p15:guide>
        <p15:guide id="4" orient="horz" pos="1597">
          <p15:clr>
            <a:srgbClr val="FBAE40"/>
          </p15:clr>
        </p15:guide>
        <p15:guide id="5" orient="horz" pos="2641">
          <p15:clr>
            <a:srgbClr val="FBAE40"/>
          </p15:clr>
        </p15:guide>
        <p15:guide id="6" pos="1134">
          <p15:clr>
            <a:srgbClr val="FBAE40"/>
          </p15:clr>
        </p15:guide>
        <p15:guide id="7" pos="43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Imeline Infographic">
  <p:cSld name="Title and TImeline Infographic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35" name="Google Shape;435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632499" y="2973622"/>
            <a:ext cx="7691174" cy="667936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6"/>
          <p:cNvSpPr txBox="1">
            <a:spLocks noGrp="1"/>
          </p:cNvSpPr>
          <p:nvPr>
            <p:ph type="body" idx="1"/>
          </p:nvPr>
        </p:nvSpPr>
        <p:spPr>
          <a:xfrm>
            <a:off x="991750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7" name="Google Shape;437;p26"/>
          <p:cNvSpPr txBox="1">
            <a:spLocks noGrp="1"/>
          </p:cNvSpPr>
          <p:nvPr>
            <p:ph type="body" idx="2"/>
          </p:nvPr>
        </p:nvSpPr>
        <p:spPr>
          <a:xfrm>
            <a:off x="991750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8" name="Google Shape;438;p26"/>
          <p:cNvSpPr txBox="1">
            <a:spLocks noGrp="1"/>
          </p:cNvSpPr>
          <p:nvPr>
            <p:ph type="body" idx="3"/>
          </p:nvPr>
        </p:nvSpPr>
        <p:spPr>
          <a:xfrm>
            <a:off x="991750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9" name="Google Shape;439;p26"/>
          <p:cNvSpPr txBox="1">
            <a:spLocks noGrp="1"/>
          </p:cNvSpPr>
          <p:nvPr>
            <p:ph type="body" idx="4"/>
          </p:nvPr>
        </p:nvSpPr>
        <p:spPr>
          <a:xfrm>
            <a:off x="2440487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0" name="Google Shape;440;p26"/>
          <p:cNvSpPr txBox="1">
            <a:spLocks noGrp="1"/>
          </p:cNvSpPr>
          <p:nvPr>
            <p:ph type="body" idx="5"/>
          </p:nvPr>
        </p:nvSpPr>
        <p:spPr>
          <a:xfrm>
            <a:off x="2440487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1" name="Google Shape;441;p26"/>
          <p:cNvSpPr txBox="1">
            <a:spLocks noGrp="1"/>
          </p:cNvSpPr>
          <p:nvPr>
            <p:ph type="body" idx="6"/>
          </p:nvPr>
        </p:nvSpPr>
        <p:spPr>
          <a:xfrm>
            <a:off x="2440487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2" name="Google Shape;442;p26"/>
          <p:cNvSpPr txBox="1">
            <a:spLocks noGrp="1"/>
          </p:cNvSpPr>
          <p:nvPr>
            <p:ph type="body" idx="7"/>
          </p:nvPr>
        </p:nvSpPr>
        <p:spPr>
          <a:xfrm>
            <a:off x="3892297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3" name="Google Shape;443;p26"/>
          <p:cNvSpPr txBox="1">
            <a:spLocks noGrp="1"/>
          </p:cNvSpPr>
          <p:nvPr>
            <p:ph type="body" idx="8"/>
          </p:nvPr>
        </p:nvSpPr>
        <p:spPr>
          <a:xfrm>
            <a:off x="3892297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4" name="Google Shape;444;p26"/>
          <p:cNvSpPr txBox="1">
            <a:spLocks noGrp="1"/>
          </p:cNvSpPr>
          <p:nvPr>
            <p:ph type="body" idx="9"/>
          </p:nvPr>
        </p:nvSpPr>
        <p:spPr>
          <a:xfrm>
            <a:off x="3892297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5" name="Google Shape;445;p26"/>
          <p:cNvSpPr txBox="1">
            <a:spLocks noGrp="1"/>
          </p:cNvSpPr>
          <p:nvPr>
            <p:ph type="body" idx="13"/>
          </p:nvPr>
        </p:nvSpPr>
        <p:spPr>
          <a:xfrm>
            <a:off x="5326899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6" name="Google Shape;446;p26"/>
          <p:cNvSpPr txBox="1">
            <a:spLocks noGrp="1"/>
          </p:cNvSpPr>
          <p:nvPr>
            <p:ph type="body" idx="14"/>
          </p:nvPr>
        </p:nvSpPr>
        <p:spPr>
          <a:xfrm>
            <a:off x="5326899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7" name="Google Shape;447;p26"/>
          <p:cNvSpPr txBox="1">
            <a:spLocks noGrp="1"/>
          </p:cNvSpPr>
          <p:nvPr>
            <p:ph type="body" idx="15"/>
          </p:nvPr>
        </p:nvSpPr>
        <p:spPr>
          <a:xfrm>
            <a:off x="5326899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8" name="Google Shape;448;p26"/>
          <p:cNvSpPr txBox="1">
            <a:spLocks noGrp="1"/>
          </p:cNvSpPr>
          <p:nvPr>
            <p:ph type="body" idx="16"/>
          </p:nvPr>
        </p:nvSpPr>
        <p:spPr>
          <a:xfrm>
            <a:off x="6735161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9" name="Google Shape;449;p26"/>
          <p:cNvSpPr txBox="1">
            <a:spLocks noGrp="1"/>
          </p:cNvSpPr>
          <p:nvPr>
            <p:ph type="body" idx="17"/>
          </p:nvPr>
        </p:nvSpPr>
        <p:spPr>
          <a:xfrm>
            <a:off x="6735161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0" name="Google Shape;450;p26"/>
          <p:cNvSpPr txBox="1">
            <a:spLocks noGrp="1"/>
          </p:cNvSpPr>
          <p:nvPr>
            <p:ph type="body" idx="18"/>
          </p:nvPr>
        </p:nvSpPr>
        <p:spPr>
          <a:xfrm>
            <a:off x="6735161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1" name="Google Shape;451;p26"/>
          <p:cNvSpPr txBox="1">
            <a:spLocks noGrp="1"/>
          </p:cNvSpPr>
          <p:nvPr>
            <p:ph type="body" idx="19"/>
          </p:nvPr>
        </p:nvSpPr>
        <p:spPr>
          <a:xfrm>
            <a:off x="904066" y="3531649"/>
            <a:ext cx="1324840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2" name="Google Shape;452;p26"/>
          <p:cNvSpPr txBox="1">
            <a:spLocks noGrp="1"/>
          </p:cNvSpPr>
          <p:nvPr>
            <p:ph type="body" idx="20"/>
          </p:nvPr>
        </p:nvSpPr>
        <p:spPr>
          <a:xfrm>
            <a:off x="2352802" y="3531649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3" name="Google Shape;453;p26"/>
          <p:cNvSpPr txBox="1">
            <a:spLocks noGrp="1"/>
          </p:cNvSpPr>
          <p:nvPr>
            <p:ph type="body" idx="21"/>
          </p:nvPr>
        </p:nvSpPr>
        <p:spPr>
          <a:xfrm>
            <a:off x="3829621" y="3531648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4" name="Google Shape;454;p26"/>
          <p:cNvSpPr txBox="1">
            <a:spLocks noGrp="1"/>
          </p:cNvSpPr>
          <p:nvPr>
            <p:ph type="body" idx="22"/>
          </p:nvPr>
        </p:nvSpPr>
        <p:spPr>
          <a:xfrm>
            <a:off x="5306440" y="3531648"/>
            <a:ext cx="1324840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5" name="Google Shape;455;p26"/>
          <p:cNvSpPr txBox="1">
            <a:spLocks noGrp="1"/>
          </p:cNvSpPr>
          <p:nvPr>
            <p:ph type="body" idx="23"/>
          </p:nvPr>
        </p:nvSpPr>
        <p:spPr>
          <a:xfrm>
            <a:off x="6755176" y="3531647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56" name="Google Shape;456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632499" y="2973622"/>
            <a:ext cx="7691174" cy="667936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6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6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59" name="Google Shape;45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oughnut Chart">
  <p:cSld name="Title and Doughnut Chart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3" name="Google Shape;463;p27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7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5" name="Google Shape;465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ne Chart">
  <p:cSld name="Title and Line Chart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9" name="Google Shape;469;p28"/>
          <p:cNvSpPr/>
          <p:nvPr/>
        </p:nvSpPr>
        <p:spPr>
          <a:xfrm>
            <a:off x="3170379" y="4105875"/>
            <a:ext cx="1512168" cy="41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0" name="Google Shape;470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6215" y="3284258"/>
            <a:ext cx="1319792" cy="42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9469" y="3232411"/>
            <a:ext cx="1333750" cy="431988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8"/>
          <p:cNvSpPr txBox="1">
            <a:spLocks noGrp="1"/>
          </p:cNvSpPr>
          <p:nvPr>
            <p:ph type="body" idx="1"/>
          </p:nvPr>
        </p:nvSpPr>
        <p:spPr>
          <a:xfrm>
            <a:off x="630238" y="1600199"/>
            <a:ext cx="3182128" cy="3006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3" name="Google Shape;473;p28"/>
          <p:cNvSpPr txBox="1">
            <a:spLocks noGrp="1"/>
          </p:cNvSpPr>
          <p:nvPr>
            <p:ph type="body" idx="2"/>
          </p:nvPr>
        </p:nvSpPr>
        <p:spPr>
          <a:xfrm>
            <a:off x="5306779" y="3059187"/>
            <a:ext cx="671653" cy="350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4" name="Google Shape;474;p28"/>
          <p:cNvSpPr txBox="1">
            <a:spLocks noGrp="1"/>
          </p:cNvSpPr>
          <p:nvPr>
            <p:ph type="body" idx="3"/>
          </p:nvPr>
        </p:nvSpPr>
        <p:spPr>
          <a:xfrm>
            <a:off x="6894111" y="3052728"/>
            <a:ext cx="671653" cy="325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5" name="Google Shape;475;p28"/>
          <p:cNvSpPr txBox="1">
            <a:spLocks noGrp="1"/>
          </p:cNvSpPr>
          <p:nvPr>
            <p:ph type="body" idx="4"/>
          </p:nvPr>
        </p:nvSpPr>
        <p:spPr>
          <a:xfrm>
            <a:off x="5306778" y="3559464"/>
            <a:ext cx="1077979" cy="21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6" name="Google Shape;476;p28"/>
          <p:cNvSpPr txBox="1">
            <a:spLocks noGrp="1"/>
          </p:cNvSpPr>
          <p:nvPr>
            <p:ph type="body" idx="5"/>
          </p:nvPr>
        </p:nvSpPr>
        <p:spPr>
          <a:xfrm>
            <a:off x="5299344" y="3813792"/>
            <a:ext cx="1077979" cy="799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7" name="Google Shape;477;p28"/>
          <p:cNvSpPr txBox="1">
            <a:spLocks noGrp="1"/>
          </p:cNvSpPr>
          <p:nvPr>
            <p:ph type="body" idx="6"/>
          </p:nvPr>
        </p:nvSpPr>
        <p:spPr>
          <a:xfrm>
            <a:off x="6890089" y="3559464"/>
            <a:ext cx="1077979" cy="21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8" name="Google Shape;478;p28"/>
          <p:cNvSpPr txBox="1">
            <a:spLocks noGrp="1"/>
          </p:cNvSpPr>
          <p:nvPr>
            <p:ph type="body" idx="7"/>
          </p:nvPr>
        </p:nvSpPr>
        <p:spPr>
          <a:xfrm>
            <a:off x="6882655" y="3813792"/>
            <a:ext cx="1077979" cy="799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9" name="Google Shape;479;p28"/>
          <p:cNvSpPr>
            <a:spLocks noGrp="1"/>
          </p:cNvSpPr>
          <p:nvPr>
            <p:ph type="chart" idx="8"/>
          </p:nvPr>
        </p:nvSpPr>
        <p:spPr>
          <a:xfrm>
            <a:off x="5295900" y="1600200"/>
            <a:ext cx="32258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0" name="Google Shape;480;p28"/>
          <p:cNvSpPr/>
          <p:nvPr/>
        </p:nvSpPr>
        <p:spPr>
          <a:xfrm>
            <a:off x="3170379" y="4105875"/>
            <a:ext cx="1512168" cy="41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1" name="Google Shape;481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6215" y="3284258"/>
            <a:ext cx="1319792" cy="42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9469" y="3232411"/>
            <a:ext cx="1333750" cy="431988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8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8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5" name="Google Shape;485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2754">
          <p15:clr>
            <a:srgbClr val="FBAE40"/>
          </p15:clr>
        </p15:guide>
        <p15:guide id="4" pos="240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oughnut Chart 2">
  <p:cSld name="Title and Doughnut Chart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89" name="Google Shape;489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60619" y="1967641"/>
            <a:ext cx="2754306" cy="140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659" y="1705476"/>
            <a:ext cx="4222864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2547" y="1697092"/>
            <a:ext cx="4222864" cy="216024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9"/>
          <p:cNvSpPr txBox="1">
            <a:spLocks noGrp="1"/>
          </p:cNvSpPr>
          <p:nvPr>
            <p:ph type="body" idx="1"/>
          </p:nvPr>
        </p:nvSpPr>
        <p:spPr>
          <a:xfrm>
            <a:off x="2286696" y="257175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3" name="Google Shape;493;p29"/>
          <p:cNvSpPr txBox="1">
            <a:spLocks noGrp="1"/>
          </p:cNvSpPr>
          <p:nvPr>
            <p:ph type="body" idx="2"/>
          </p:nvPr>
        </p:nvSpPr>
        <p:spPr>
          <a:xfrm>
            <a:off x="2286696" y="293937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4" name="Google Shape;494;p29"/>
          <p:cNvSpPr txBox="1">
            <a:spLocks noGrp="1"/>
          </p:cNvSpPr>
          <p:nvPr>
            <p:ph type="body" idx="3"/>
          </p:nvPr>
        </p:nvSpPr>
        <p:spPr>
          <a:xfrm>
            <a:off x="4973335" y="257175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5" name="Google Shape;495;p29"/>
          <p:cNvSpPr txBox="1">
            <a:spLocks noGrp="1"/>
          </p:cNvSpPr>
          <p:nvPr>
            <p:ph type="body" idx="4"/>
          </p:nvPr>
        </p:nvSpPr>
        <p:spPr>
          <a:xfrm>
            <a:off x="4973335" y="293937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96" name="Google Shape;496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60619" y="1967641"/>
            <a:ext cx="2754306" cy="140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659" y="1705476"/>
            <a:ext cx="4222864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2547" y="1697092"/>
            <a:ext cx="4222864" cy="216024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9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9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01" name="Google Shape;501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hic">
  <p:cSld name="Title and Infograhic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05" name="Google Shape;50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02" y="2566307"/>
            <a:ext cx="2538282" cy="1298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760" y="1581506"/>
            <a:ext cx="7431156" cy="2999208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0"/>
          <p:cNvSpPr txBox="1">
            <a:spLocks noGrp="1"/>
          </p:cNvSpPr>
          <p:nvPr>
            <p:ph type="body" idx="1"/>
          </p:nvPr>
        </p:nvSpPr>
        <p:spPr>
          <a:xfrm>
            <a:off x="1263041" y="2104600"/>
            <a:ext cx="830454" cy="292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8" name="Google Shape;508;p30"/>
          <p:cNvSpPr txBox="1">
            <a:spLocks noGrp="1"/>
          </p:cNvSpPr>
          <p:nvPr>
            <p:ph type="body" idx="2"/>
          </p:nvPr>
        </p:nvSpPr>
        <p:spPr>
          <a:xfrm>
            <a:off x="2470356" y="3778988"/>
            <a:ext cx="784195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9" name="Google Shape;509;p30"/>
          <p:cNvSpPr txBox="1">
            <a:spLocks noGrp="1"/>
          </p:cNvSpPr>
          <p:nvPr>
            <p:ph type="body" idx="3"/>
          </p:nvPr>
        </p:nvSpPr>
        <p:spPr>
          <a:xfrm>
            <a:off x="3530790" y="2108961"/>
            <a:ext cx="824532" cy="287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0" name="Google Shape;510;p30"/>
          <p:cNvSpPr txBox="1">
            <a:spLocks noGrp="1"/>
          </p:cNvSpPr>
          <p:nvPr>
            <p:ph type="body" idx="4"/>
          </p:nvPr>
        </p:nvSpPr>
        <p:spPr>
          <a:xfrm>
            <a:off x="4729642" y="3771033"/>
            <a:ext cx="745627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1" name="Google Shape;511;p30"/>
          <p:cNvSpPr txBox="1">
            <a:spLocks noGrp="1"/>
          </p:cNvSpPr>
          <p:nvPr>
            <p:ph type="body" idx="5"/>
          </p:nvPr>
        </p:nvSpPr>
        <p:spPr>
          <a:xfrm>
            <a:off x="5904099" y="2107682"/>
            <a:ext cx="758842" cy="292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2" name="Google Shape;512;p30"/>
          <p:cNvSpPr txBox="1">
            <a:spLocks noGrp="1"/>
          </p:cNvSpPr>
          <p:nvPr>
            <p:ph type="body" idx="6"/>
          </p:nvPr>
        </p:nvSpPr>
        <p:spPr>
          <a:xfrm>
            <a:off x="7023857" y="3762859"/>
            <a:ext cx="784195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3" name="Google Shape;513;p30"/>
          <p:cNvSpPr txBox="1">
            <a:spLocks noGrp="1"/>
          </p:cNvSpPr>
          <p:nvPr>
            <p:ph type="body" idx="7"/>
          </p:nvPr>
        </p:nvSpPr>
        <p:spPr>
          <a:xfrm>
            <a:off x="2156171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4" name="Google Shape;514;p30"/>
          <p:cNvSpPr txBox="1">
            <a:spLocks noGrp="1"/>
          </p:cNvSpPr>
          <p:nvPr>
            <p:ph type="body" idx="8"/>
          </p:nvPr>
        </p:nvSpPr>
        <p:spPr>
          <a:xfrm>
            <a:off x="2156171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5" name="Google Shape;515;p30"/>
          <p:cNvSpPr txBox="1">
            <a:spLocks noGrp="1"/>
          </p:cNvSpPr>
          <p:nvPr>
            <p:ph type="body" idx="9"/>
          </p:nvPr>
        </p:nvSpPr>
        <p:spPr>
          <a:xfrm>
            <a:off x="4513908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6" name="Google Shape;516;p30"/>
          <p:cNvSpPr txBox="1">
            <a:spLocks noGrp="1"/>
          </p:cNvSpPr>
          <p:nvPr>
            <p:ph type="body" idx="13"/>
          </p:nvPr>
        </p:nvSpPr>
        <p:spPr>
          <a:xfrm>
            <a:off x="4513908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7" name="Google Shape;517;p30"/>
          <p:cNvSpPr txBox="1">
            <a:spLocks noGrp="1"/>
          </p:cNvSpPr>
          <p:nvPr>
            <p:ph type="body" idx="14"/>
          </p:nvPr>
        </p:nvSpPr>
        <p:spPr>
          <a:xfrm>
            <a:off x="6720777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8" name="Google Shape;518;p30"/>
          <p:cNvSpPr txBox="1">
            <a:spLocks noGrp="1"/>
          </p:cNvSpPr>
          <p:nvPr>
            <p:ph type="body" idx="15"/>
          </p:nvPr>
        </p:nvSpPr>
        <p:spPr>
          <a:xfrm>
            <a:off x="6720777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9" name="Google Shape;519;p30"/>
          <p:cNvSpPr txBox="1">
            <a:spLocks noGrp="1"/>
          </p:cNvSpPr>
          <p:nvPr>
            <p:ph type="body" idx="16"/>
          </p:nvPr>
        </p:nvSpPr>
        <p:spPr>
          <a:xfrm>
            <a:off x="995265" y="3791876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0" name="Google Shape;520;p30"/>
          <p:cNvSpPr txBox="1">
            <a:spLocks noGrp="1"/>
          </p:cNvSpPr>
          <p:nvPr>
            <p:ph type="body" idx="17"/>
          </p:nvPr>
        </p:nvSpPr>
        <p:spPr>
          <a:xfrm>
            <a:off x="995265" y="4057543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1" name="Google Shape;521;p30"/>
          <p:cNvSpPr txBox="1">
            <a:spLocks noGrp="1"/>
          </p:cNvSpPr>
          <p:nvPr>
            <p:ph type="body" idx="18"/>
          </p:nvPr>
        </p:nvSpPr>
        <p:spPr>
          <a:xfrm>
            <a:off x="3326285" y="377969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2" name="Google Shape;522;p30"/>
          <p:cNvSpPr txBox="1">
            <a:spLocks noGrp="1"/>
          </p:cNvSpPr>
          <p:nvPr>
            <p:ph type="body" idx="19"/>
          </p:nvPr>
        </p:nvSpPr>
        <p:spPr>
          <a:xfrm>
            <a:off x="3326285" y="4045358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3" name="Google Shape;523;p30"/>
          <p:cNvSpPr txBox="1">
            <a:spLocks noGrp="1"/>
          </p:cNvSpPr>
          <p:nvPr>
            <p:ph type="body" idx="20"/>
          </p:nvPr>
        </p:nvSpPr>
        <p:spPr>
          <a:xfrm>
            <a:off x="5599996" y="375897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4" name="Google Shape;524;p30"/>
          <p:cNvSpPr txBox="1">
            <a:spLocks noGrp="1"/>
          </p:cNvSpPr>
          <p:nvPr>
            <p:ph type="body" idx="21"/>
          </p:nvPr>
        </p:nvSpPr>
        <p:spPr>
          <a:xfrm>
            <a:off x="5599996" y="4024639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25" name="Google Shape;52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02" y="2566307"/>
            <a:ext cx="2538282" cy="1298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760" y="1581506"/>
            <a:ext cx="7431156" cy="2999208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0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0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29" name="Google Shape;529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phic 2">
  <p:cSld name="Title and Infographic 2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2" name="Google Shape;532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33" name="Google Shape;533;p31" descr="C:\Users\diyajoseph\Desktop\New folder (3)\Infographics-01-0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49184" y="1331625"/>
            <a:ext cx="3644856" cy="3644859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31"/>
          <p:cNvSpPr txBox="1">
            <a:spLocks noGrp="1"/>
          </p:cNvSpPr>
          <p:nvPr>
            <p:ph type="body" idx="1"/>
          </p:nvPr>
        </p:nvSpPr>
        <p:spPr>
          <a:xfrm>
            <a:off x="630238" y="1347788"/>
            <a:ext cx="3182128" cy="277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5" name="Google Shape;535;p31"/>
          <p:cNvSpPr txBox="1">
            <a:spLocks noGrp="1"/>
          </p:cNvSpPr>
          <p:nvPr>
            <p:ph type="body" idx="2"/>
          </p:nvPr>
        </p:nvSpPr>
        <p:spPr>
          <a:xfrm>
            <a:off x="6433953" y="1722104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6" name="Google Shape;536;p31"/>
          <p:cNvSpPr txBox="1">
            <a:spLocks noGrp="1"/>
          </p:cNvSpPr>
          <p:nvPr>
            <p:ph type="body" idx="3"/>
          </p:nvPr>
        </p:nvSpPr>
        <p:spPr>
          <a:xfrm>
            <a:off x="6433953" y="198777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7" name="Google Shape;537;p31"/>
          <p:cNvSpPr txBox="1">
            <a:spLocks noGrp="1"/>
          </p:cNvSpPr>
          <p:nvPr>
            <p:ph type="body" idx="4"/>
          </p:nvPr>
        </p:nvSpPr>
        <p:spPr>
          <a:xfrm>
            <a:off x="4628562" y="3026158"/>
            <a:ext cx="1182772" cy="38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8" name="Google Shape;538;p31"/>
          <p:cNvSpPr txBox="1">
            <a:spLocks noGrp="1"/>
          </p:cNvSpPr>
          <p:nvPr>
            <p:ph type="body" idx="5"/>
          </p:nvPr>
        </p:nvSpPr>
        <p:spPr>
          <a:xfrm>
            <a:off x="7003447" y="278373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9" name="Google Shape;539;p31"/>
          <p:cNvSpPr txBox="1">
            <a:spLocks noGrp="1"/>
          </p:cNvSpPr>
          <p:nvPr>
            <p:ph type="body" idx="6"/>
          </p:nvPr>
        </p:nvSpPr>
        <p:spPr>
          <a:xfrm>
            <a:off x="7009593" y="3303767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0" name="Google Shape;540;p31"/>
          <p:cNvSpPr txBox="1">
            <a:spLocks noGrp="1"/>
          </p:cNvSpPr>
          <p:nvPr>
            <p:ph type="body" idx="7"/>
          </p:nvPr>
        </p:nvSpPr>
        <p:spPr>
          <a:xfrm>
            <a:off x="7009593" y="3569434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1" name="Google Shape;541;p31"/>
          <p:cNvSpPr txBox="1">
            <a:spLocks noGrp="1"/>
          </p:cNvSpPr>
          <p:nvPr>
            <p:ph type="body" idx="8"/>
          </p:nvPr>
        </p:nvSpPr>
        <p:spPr>
          <a:xfrm>
            <a:off x="6433953" y="403431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2" name="Google Shape;542;p31"/>
          <p:cNvSpPr txBox="1">
            <a:spLocks noGrp="1"/>
          </p:cNvSpPr>
          <p:nvPr>
            <p:ph type="body" idx="9"/>
          </p:nvPr>
        </p:nvSpPr>
        <p:spPr>
          <a:xfrm>
            <a:off x="6433953" y="4299978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3" name="Google Shape;543;p31"/>
          <p:cNvSpPr txBox="1">
            <a:spLocks noGrp="1"/>
          </p:cNvSpPr>
          <p:nvPr>
            <p:ph type="body" idx="13"/>
          </p:nvPr>
        </p:nvSpPr>
        <p:spPr>
          <a:xfrm>
            <a:off x="7001132" y="2524953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4" name="Google Shape;544;p31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5" name="Google Shape;54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orient="horz" pos="849">
          <p15:clr>
            <a:srgbClr val="FBAE40"/>
          </p15:clr>
        </p15:guide>
        <p15:guide id="3" orient="horz" pos="2663">
          <p15:clr>
            <a:srgbClr val="FBAE40"/>
          </p15:clr>
        </p15:guide>
        <p15:guide id="4" pos="25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phic 3">
  <p:cSld name="Title and Infographic 3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49" name="Google Shape;549;p32"/>
          <p:cNvSpPr txBox="1">
            <a:spLocks noGrp="1"/>
          </p:cNvSpPr>
          <p:nvPr>
            <p:ph type="body" idx="1"/>
          </p:nvPr>
        </p:nvSpPr>
        <p:spPr>
          <a:xfrm>
            <a:off x="2184783" y="1316876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0" name="Google Shape;550;p32"/>
          <p:cNvSpPr txBox="1">
            <a:spLocks noGrp="1"/>
          </p:cNvSpPr>
          <p:nvPr>
            <p:ph type="body" idx="2"/>
          </p:nvPr>
        </p:nvSpPr>
        <p:spPr>
          <a:xfrm>
            <a:off x="2184783" y="1496505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1" name="Google Shape;551;p32"/>
          <p:cNvSpPr txBox="1">
            <a:spLocks noGrp="1"/>
          </p:cNvSpPr>
          <p:nvPr>
            <p:ph type="body" idx="3"/>
          </p:nvPr>
        </p:nvSpPr>
        <p:spPr>
          <a:xfrm>
            <a:off x="2184783" y="1708544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2" name="Google Shape;552;p32"/>
          <p:cNvSpPr txBox="1">
            <a:spLocks noGrp="1"/>
          </p:cNvSpPr>
          <p:nvPr>
            <p:ph type="body" idx="4"/>
          </p:nvPr>
        </p:nvSpPr>
        <p:spPr>
          <a:xfrm>
            <a:off x="1648313" y="2160534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3" name="Google Shape;553;p32"/>
          <p:cNvSpPr txBox="1">
            <a:spLocks noGrp="1"/>
          </p:cNvSpPr>
          <p:nvPr>
            <p:ph type="body" idx="5"/>
          </p:nvPr>
        </p:nvSpPr>
        <p:spPr>
          <a:xfrm>
            <a:off x="1648313" y="2340163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4" name="Google Shape;554;p32"/>
          <p:cNvSpPr txBox="1">
            <a:spLocks noGrp="1"/>
          </p:cNvSpPr>
          <p:nvPr>
            <p:ph type="body" idx="6"/>
          </p:nvPr>
        </p:nvSpPr>
        <p:spPr>
          <a:xfrm>
            <a:off x="1648313" y="2552202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5" name="Google Shape;555;p32"/>
          <p:cNvSpPr txBox="1">
            <a:spLocks noGrp="1"/>
          </p:cNvSpPr>
          <p:nvPr>
            <p:ph type="body" idx="7"/>
          </p:nvPr>
        </p:nvSpPr>
        <p:spPr>
          <a:xfrm>
            <a:off x="1670695" y="3113991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6" name="Google Shape;556;p32"/>
          <p:cNvSpPr txBox="1">
            <a:spLocks noGrp="1"/>
          </p:cNvSpPr>
          <p:nvPr>
            <p:ph type="body" idx="8"/>
          </p:nvPr>
        </p:nvSpPr>
        <p:spPr>
          <a:xfrm>
            <a:off x="1670695" y="3293620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7" name="Google Shape;557;p32"/>
          <p:cNvSpPr txBox="1">
            <a:spLocks noGrp="1"/>
          </p:cNvSpPr>
          <p:nvPr>
            <p:ph type="body" idx="9"/>
          </p:nvPr>
        </p:nvSpPr>
        <p:spPr>
          <a:xfrm>
            <a:off x="1670695" y="3505659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8" name="Google Shape;558;p32"/>
          <p:cNvSpPr txBox="1">
            <a:spLocks noGrp="1"/>
          </p:cNvSpPr>
          <p:nvPr>
            <p:ph type="body" idx="13"/>
          </p:nvPr>
        </p:nvSpPr>
        <p:spPr>
          <a:xfrm>
            <a:off x="2154251" y="3833167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9" name="Google Shape;559;p32"/>
          <p:cNvSpPr txBox="1">
            <a:spLocks noGrp="1"/>
          </p:cNvSpPr>
          <p:nvPr>
            <p:ph type="body" idx="14"/>
          </p:nvPr>
        </p:nvSpPr>
        <p:spPr>
          <a:xfrm>
            <a:off x="2154251" y="4012796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0" name="Google Shape;560;p32"/>
          <p:cNvSpPr txBox="1">
            <a:spLocks noGrp="1"/>
          </p:cNvSpPr>
          <p:nvPr>
            <p:ph type="body" idx="15"/>
          </p:nvPr>
        </p:nvSpPr>
        <p:spPr>
          <a:xfrm>
            <a:off x="2154251" y="4224835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1" name="Google Shape;561;p32"/>
          <p:cNvSpPr txBox="1">
            <a:spLocks noGrp="1"/>
          </p:cNvSpPr>
          <p:nvPr>
            <p:ph type="body" idx="16"/>
          </p:nvPr>
        </p:nvSpPr>
        <p:spPr>
          <a:xfrm>
            <a:off x="5711844" y="1274684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2" name="Google Shape;562;p32"/>
          <p:cNvSpPr txBox="1">
            <a:spLocks noGrp="1"/>
          </p:cNvSpPr>
          <p:nvPr>
            <p:ph type="body" idx="17"/>
          </p:nvPr>
        </p:nvSpPr>
        <p:spPr>
          <a:xfrm>
            <a:off x="5711844" y="1454313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3" name="Google Shape;563;p32"/>
          <p:cNvSpPr txBox="1">
            <a:spLocks noGrp="1"/>
          </p:cNvSpPr>
          <p:nvPr>
            <p:ph type="body" idx="18"/>
          </p:nvPr>
        </p:nvSpPr>
        <p:spPr>
          <a:xfrm>
            <a:off x="5711844" y="1666352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4" name="Google Shape;564;p32"/>
          <p:cNvSpPr txBox="1">
            <a:spLocks noGrp="1"/>
          </p:cNvSpPr>
          <p:nvPr>
            <p:ph type="body" idx="19"/>
          </p:nvPr>
        </p:nvSpPr>
        <p:spPr>
          <a:xfrm>
            <a:off x="6247590" y="2081713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5" name="Google Shape;565;p32"/>
          <p:cNvSpPr txBox="1">
            <a:spLocks noGrp="1"/>
          </p:cNvSpPr>
          <p:nvPr>
            <p:ph type="body" idx="20"/>
          </p:nvPr>
        </p:nvSpPr>
        <p:spPr>
          <a:xfrm>
            <a:off x="6247590" y="2261342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6" name="Google Shape;566;p32"/>
          <p:cNvSpPr txBox="1">
            <a:spLocks noGrp="1"/>
          </p:cNvSpPr>
          <p:nvPr>
            <p:ph type="body" idx="21"/>
          </p:nvPr>
        </p:nvSpPr>
        <p:spPr>
          <a:xfrm>
            <a:off x="6247590" y="2473381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7" name="Google Shape;567;p32"/>
          <p:cNvSpPr txBox="1">
            <a:spLocks noGrp="1"/>
          </p:cNvSpPr>
          <p:nvPr>
            <p:ph type="body" idx="22"/>
          </p:nvPr>
        </p:nvSpPr>
        <p:spPr>
          <a:xfrm>
            <a:off x="6247590" y="3009669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8" name="Google Shape;568;p32"/>
          <p:cNvSpPr txBox="1">
            <a:spLocks noGrp="1"/>
          </p:cNvSpPr>
          <p:nvPr>
            <p:ph type="body" idx="23"/>
          </p:nvPr>
        </p:nvSpPr>
        <p:spPr>
          <a:xfrm>
            <a:off x="6247590" y="3189298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9" name="Google Shape;569;p32"/>
          <p:cNvSpPr txBox="1">
            <a:spLocks noGrp="1"/>
          </p:cNvSpPr>
          <p:nvPr>
            <p:ph type="body" idx="24"/>
          </p:nvPr>
        </p:nvSpPr>
        <p:spPr>
          <a:xfrm>
            <a:off x="6247590" y="3401337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0" name="Google Shape;570;p32"/>
          <p:cNvSpPr txBox="1">
            <a:spLocks noGrp="1"/>
          </p:cNvSpPr>
          <p:nvPr>
            <p:ph type="body" idx="25"/>
          </p:nvPr>
        </p:nvSpPr>
        <p:spPr>
          <a:xfrm>
            <a:off x="5911033" y="3827718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1" name="Google Shape;571;p32"/>
          <p:cNvSpPr txBox="1">
            <a:spLocks noGrp="1"/>
          </p:cNvSpPr>
          <p:nvPr>
            <p:ph type="body" idx="26"/>
          </p:nvPr>
        </p:nvSpPr>
        <p:spPr>
          <a:xfrm>
            <a:off x="5911033" y="4007347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2" name="Google Shape;572;p32"/>
          <p:cNvSpPr txBox="1">
            <a:spLocks noGrp="1"/>
          </p:cNvSpPr>
          <p:nvPr>
            <p:ph type="body" idx="27"/>
          </p:nvPr>
        </p:nvSpPr>
        <p:spPr>
          <a:xfrm>
            <a:off x="5911033" y="4219386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573" name="Google Shape;573;p32"/>
          <p:cNvGrpSpPr/>
          <p:nvPr/>
        </p:nvGrpSpPr>
        <p:grpSpPr>
          <a:xfrm>
            <a:off x="3064089" y="1322496"/>
            <a:ext cx="3130304" cy="3130304"/>
            <a:chOff x="1725851" y="197234"/>
            <a:chExt cx="4799362" cy="4799363"/>
          </a:xfrm>
        </p:grpSpPr>
        <p:sp>
          <p:nvSpPr>
            <p:cNvPr id="574" name="Google Shape;574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3500000"/>
                <a:gd name="adj2" fmla="val 16200000"/>
                <a:gd name="adj3" fmla="val 343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0800000"/>
                <a:gd name="adj2" fmla="val 13500000"/>
                <a:gd name="adj3" fmla="val 3430"/>
              </a:avLst>
            </a:pr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8100000"/>
                <a:gd name="adj2" fmla="val 10800000"/>
                <a:gd name="adj3" fmla="val 343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5400000"/>
                <a:gd name="adj2" fmla="val 8100000"/>
                <a:gd name="adj3" fmla="val 3430"/>
              </a:avLst>
            </a:prstGeom>
            <a:solidFill>
              <a:srgbClr val="B4B4B4"/>
            </a:solidFill>
            <a:ln w="9525" cap="flat" cmpd="sng">
              <a:solidFill>
                <a:srgbClr val="A8A8A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2700000"/>
                <a:gd name="adj2" fmla="val 5400000"/>
                <a:gd name="adj3" fmla="val 343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0"/>
                <a:gd name="adj2" fmla="val 2700000"/>
                <a:gd name="adj3" fmla="val 3430"/>
              </a:avLst>
            </a:prstGeom>
            <a:solidFill>
              <a:srgbClr val="F632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8900000"/>
                <a:gd name="adj2" fmla="val 0"/>
                <a:gd name="adj3" fmla="val 3430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6200000"/>
                <a:gd name="adj2" fmla="val 18900000"/>
                <a:gd name="adj3" fmla="val 3430"/>
              </a:avLst>
            </a:prstGeom>
            <a:solidFill>
              <a:srgbClr val="F632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2"/>
            <p:cNvSpPr/>
            <p:nvPr/>
          </p:nvSpPr>
          <p:spPr>
            <a:xfrm>
              <a:off x="3128723" y="1600108"/>
              <a:ext cx="1993614" cy="1993614"/>
            </a:xfrm>
            <a:custGeom>
              <a:avLst/>
              <a:gdLst/>
              <a:ahLst/>
              <a:cxnLst/>
              <a:rect l="l" t="t" r="r" b="b"/>
              <a:pathLst>
                <a:path w="1993614" h="1993614" extrusionOk="0">
                  <a:moveTo>
                    <a:pt x="0" y="996807"/>
                  </a:moveTo>
                  <a:cubicBezTo>
                    <a:pt x="0" y="446286"/>
                    <a:pt x="446286" y="0"/>
                    <a:pt x="996807" y="0"/>
                  </a:cubicBezTo>
                  <a:cubicBezTo>
                    <a:pt x="1547328" y="0"/>
                    <a:pt x="1993614" y="446286"/>
                    <a:pt x="1993614" y="996807"/>
                  </a:cubicBezTo>
                  <a:cubicBezTo>
                    <a:pt x="1993614" y="1547328"/>
                    <a:pt x="1547328" y="1993614"/>
                    <a:pt x="996807" y="1993614"/>
                  </a:cubicBezTo>
                  <a:cubicBezTo>
                    <a:pt x="446286" y="1993614"/>
                    <a:pt x="0" y="1547328"/>
                    <a:pt x="0" y="996807"/>
                  </a:cubicBezTo>
                  <a:close/>
                </a:path>
              </a:pathLst>
            </a:custGeom>
            <a:noFill/>
            <a:ln w="50800" cap="flat" cmpd="sng">
              <a:solidFill>
                <a:srgbClr val="4C4C4C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8100000" algn="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307175" tIns="307175" rIns="307175" bIns="3071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4C4C4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3" name="Google Shape;583;p32"/>
            <p:cNvSpPr/>
            <p:nvPr/>
          </p:nvSpPr>
          <p:spPr>
            <a:xfrm>
              <a:off x="3657379" y="19723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32"/>
            <p:cNvSpPr/>
            <p:nvPr/>
          </p:nvSpPr>
          <p:spPr>
            <a:xfrm>
              <a:off x="5023178" y="762966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CCCCC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32"/>
            <p:cNvSpPr/>
            <p:nvPr/>
          </p:nvSpPr>
          <p:spPr>
            <a:xfrm>
              <a:off x="5588911" y="21287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5023177" y="3494562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9D9D9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32"/>
            <p:cNvSpPr/>
            <p:nvPr/>
          </p:nvSpPr>
          <p:spPr>
            <a:xfrm>
              <a:off x="3657379" y="4060295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32"/>
            <p:cNvSpPr/>
            <p:nvPr/>
          </p:nvSpPr>
          <p:spPr>
            <a:xfrm>
              <a:off x="2291582" y="34945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A8A8A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32"/>
            <p:cNvSpPr/>
            <p:nvPr/>
          </p:nvSpPr>
          <p:spPr>
            <a:xfrm>
              <a:off x="1725851" y="21287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32"/>
            <p:cNvSpPr/>
            <p:nvPr/>
          </p:nvSpPr>
          <p:spPr>
            <a:xfrm>
              <a:off x="2291581" y="762965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98989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91" name="Google Shape;591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06518" y="1572770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2122" y="3840710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5784" y="3229619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60129" y="2284117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71063" y="1518775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06880" y="2182634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41355" y="3145032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14639" y="3877794"/>
            <a:ext cx="365816" cy="365816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2"/>
          <p:cNvSpPr txBox="1">
            <a:spLocks noGrp="1"/>
          </p:cNvSpPr>
          <p:nvPr>
            <p:ph type="body" idx="28"/>
          </p:nvPr>
        </p:nvSpPr>
        <p:spPr>
          <a:xfrm>
            <a:off x="4052675" y="2723156"/>
            <a:ext cx="1182772" cy="38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0" name="Google Shape;600;p32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2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02" name="Google Shape;602;p3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06" name="Google Shape;606;p33"/>
          <p:cNvSpPr txBox="1">
            <a:spLocks noGrp="1"/>
          </p:cNvSpPr>
          <p:nvPr>
            <p:ph type="body" idx="1"/>
          </p:nvPr>
        </p:nvSpPr>
        <p:spPr>
          <a:xfrm>
            <a:off x="630238" y="1455738"/>
            <a:ext cx="2933700" cy="30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7" name="Google Shape;607;p33"/>
          <p:cNvSpPr>
            <a:spLocks noGrp="1"/>
          </p:cNvSpPr>
          <p:nvPr>
            <p:ph type="chart" idx="2"/>
          </p:nvPr>
        </p:nvSpPr>
        <p:spPr>
          <a:xfrm>
            <a:off x="3676650" y="1466850"/>
            <a:ext cx="484505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8" name="Google Shape;608;p33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3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10" name="Google Shape;610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pos="2245">
          <p15:clr>
            <a:srgbClr val="FBAE40"/>
          </p15:clr>
        </p15:guide>
        <p15:guide id="3" orient="horz" pos="917">
          <p15:clr>
            <a:srgbClr val="FBAE40"/>
          </p15:clr>
        </p15:guide>
        <p15:guide id="4" orient="horz" pos="2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30238" y="544498"/>
            <a:ext cx="6196824" cy="56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929762" y="209484"/>
            <a:ext cx="814046" cy="21721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398">
          <p15:clr>
            <a:srgbClr val="F26B43"/>
          </p15:clr>
        </p15:guide>
        <p15:guide id="2" orient="horz" pos="191">
          <p15:clr>
            <a:srgbClr val="F26B43"/>
          </p15:clr>
        </p15:guide>
        <p15:guide id="3" orient="horz" pos="344">
          <p15:clr>
            <a:srgbClr val="F26B43"/>
          </p15:clr>
        </p15:guide>
        <p15:guide id="4" pos="3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53.png"/><Relationship Id="rId7" Type="http://schemas.openxmlformats.org/officeDocument/2006/relationships/image" Target="../media/image59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0.png"/><Relationship Id="rId7" Type="http://schemas.openxmlformats.org/officeDocument/2006/relationships/image" Target="../media/image5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65.png"/><Relationship Id="rId7" Type="http://schemas.openxmlformats.org/officeDocument/2006/relationships/image" Target="../media/image3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69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70.png"/><Relationship Id="rId7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1.png"/><Relationship Id="rId5" Type="http://schemas.openxmlformats.org/officeDocument/2006/relationships/image" Target="../media/image63.png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43.png"/><Relationship Id="rId7" Type="http://schemas.openxmlformats.org/officeDocument/2006/relationships/image" Target="../media/image7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40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82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1.png"/><Relationship Id="rId5" Type="http://schemas.openxmlformats.org/officeDocument/2006/relationships/image" Target="../media/image56.png"/><Relationship Id="rId4" Type="http://schemas.openxmlformats.org/officeDocument/2006/relationships/image" Target="../media/image8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8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50.png"/><Relationship Id="rId4" Type="http://schemas.openxmlformats.org/officeDocument/2006/relationships/image" Target="../media/image8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4.png"/><Relationship Id="rId7" Type="http://schemas.openxmlformats.org/officeDocument/2006/relationships/image" Target="../media/image5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png"/><Relationship Id="rId5" Type="http://schemas.openxmlformats.org/officeDocument/2006/relationships/image" Target="../media/image75.png"/><Relationship Id="rId10" Type="http://schemas.openxmlformats.org/officeDocument/2006/relationships/image" Target="../media/image48.png"/><Relationship Id="rId4" Type="http://schemas.openxmlformats.org/officeDocument/2006/relationships/image" Target="../media/image85.png"/><Relationship Id="rId9" Type="http://schemas.openxmlformats.org/officeDocument/2006/relationships/image" Target="../media/image5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7.png"/><Relationship Id="rId5" Type="http://schemas.openxmlformats.org/officeDocument/2006/relationships/image" Target="../media/image72.png"/><Relationship Id="rId4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6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4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0.png"/><Relationship Id="rId4" Type="http://schemas.openxmlformats.org/officeDocument/2006/relationships/image" Target="../media/image7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5.png"/><Relationship Id="rId4" Type="http://schemas.openxmlformats.org/officeDocument/2006/relationships/image" Target="../media/image43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6.png"/><Relationship Id="rId5" Type="http://schemas.openxmlformats.org/officeDocument/2006/relationships/image" Target="../media/image83.png"/><Relationship Id="rId4" Type="http://schemas.openxmlformats.org/officeDocument/2006/relationships/image" Target="../media/image66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79.png"/><Relationship Id="rId7" Type="http://schemas.openxmlformats.org/officeDocument/2006/relationships/image" Target="../media/image98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1.png"/><Relationship Id="rId5" Type="http://schemas.openxmlformats.org/officeDocument/2006/relationships/image" Target="../media/image50.png"/><Relationship Id="rId4" Type="http://schemas.openxmlformats.org/officeDocument/2006/relationships/image" Target="../media/image9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6.png"/><Relationship Id="rId7" Type="http://schemas.openxmlformats.org/officeDocument/2006/relationships/image" Target="../media/image70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1.png"/><Relationship Id="rId5" Type="http://schemas.openxmlformats.org/officeDocument/2006/relationships/image" Target="../media/image40.png"/><Relationship Id="rId4" Type="http://schemas.openxmlformats.org/officeDocument/2006/relationships/image" Target="../media/image5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8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4.png"/><Relationship Id="rId5" Type="http://schemas.openxmlformats.org/officeDocument/2006/relationships/image" Target="../media/image79.png"/><Relationship Id="rId4" Type="http://schemas.openxmlformats.org/officeDocument/2006/relationships/image" Target="../media/image43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5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2.png"/><Relationship Id="rId5" Type="http://schemas.openxmlformats.org/officeDocument/2006/relationships/image" Target="../media/image72.png"/><Relationship Id="rId4" Type="http://schemas.openxmlformats.org/officeDocument/2006/relationships/image" Target="../media/image37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73.png"/><Relationship Id="rId7" Type="http://schemas.openxmlformats.org/officeDocument/2006/relationships/image" Target="../media/image5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3.png"/><Relationship Id="rId5" Type="http://schemas.openxmlformats.org/officeDocument/2006/relationships/image" Target="../media/image52.png"/><Relationship Id="rId4" Type="http://schemas.openxmlformats.org/officeDocument/2006/relationships/image" Target="../media/image106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1.png"/><Relationship Id="rId5" Type="http://schemas.openxmlformats.org/officeDocument/2006/relationships/image" Target="../media/image92.png"/><Relationship Id="rId4" Type="http://schemas.openxmlformats.org/officeDocument/2006/relationships/image" Target="../media/image8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6.png"/><Relationship Id="rId4" Type="http://schemas.openxmlformats.org/officeDocument/2006/relationships/image" Target="../media/image108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3.png"/><Relationship Id="rId5" Type="http://schemas.openxmlformats.org/officeDocument/2006/relationships/image" Target="../media/image46.png"/><Relationship Id="rId4" Type="http://schemas.openxmlformats.org/officeDocument/2006/relationships/image" Target="../media/image94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1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102.png"/><Relationship Id="rId7" Type="http://schemas.openxmlformats.org/officeDocument/2006/relationships/image" Target="../media/image5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61.png"/><Relationship Id="rId10" Type="http://schemas.openxmlformats.org/officeDocument/2006/relationships/image" Target="../media/image112.png"/><Relationship Id="rId4" Type="http://schemas.openxmlformats.org/officeDocument/2006/relationships/image" Target="../media/image50.png"/><Relationship Id="rId9" Type="http://schemas.openxmlformats.org/officeDocument/2006/relationships/image" Target="../media/image98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3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png"/><Relationship Id="rId5" Type="http://schemas.openxmlformats.org/officeDocument/2006/relationships/image" Target="../media/image78.png"/><Relationship Id="rId4" Type="http://schemas.openxmlformats.org/officeDocument/2006/relationships/image" Target="../media/image94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4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9.png"/><Relationship Id="rId5" Type="http://schemas.openxmlformats.org/officeDocument/2006/relationships/image" Target="../media/image37.png"/><Relationship Id="rId4" Type="http://schemas.openxmlformats.org/officeDocument/2006/relationships/image" Target="../media/image113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7.png"/><Relationship Id="rId5" Type="http://schemas.openxmlformats.org/officeDocument/2006/relationships/image" Target="../media/image87.png"/><Relationship Id="rId4" Type="http://schemas.openxmlformats.org/officeDocument/2006/relationships/image" Target="../media/image104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65.png"/><Relationship Id="rId7" Type="http://schemas.openxmlformats.org/officeDocument/2006/relationships/image" Target="../media/image84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5" Type="http://schemas.openxmlformats.org/officeDocument/2006/relationships/image" Target="../media/image45.png"/><Relationship Id="rId10" Type="http://schemas.openxmlformats.org/officeDocument/2006/relationships/image" Target="../media/image109.png"/><Relationship Id="rId4" Type="http://schemas.openxmlformats.org/officeDocument/2006/relationships/image" Target="../media/image50.png"/><Relationship Id="rId9" Type="http://schemas.openxmlformats.org/officeDocument/2006/relationships/image" Target="../media/image66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81.png"/><Relationship Id="rId4" Type="http://schemas.openxmlformats.org/officeDocument/2006/relationships/image" Target="../media/image56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5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57.png"/><Relationship Id="rId4" Type="http://schemas.openxmlformats.org/officeDocument/2006/relationships/image" Target="../media/image62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65.png"/><Relationship Id="rId7" Type="http://schemas.openxmlformats.org/officeDocument/2006/relationships/image" Target="../media/image5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3.png"/><Relationship Id="rId5" Type="http://schemas.openxmlformats.org/officeDocument/2006/relationships/image" Target="../media/image95.png"/><Relationship Id="rId10" Type="http://schemas.openxmlformats.org/officeDocument/2006/relationships/image" Target="../media/image115.png"/><Relationship Id="rId4" Type="http://schemas.openxmlformats.org/officeDocument/2006/relationships/image" Target="../media/image37.png"/><Relationship Id="rId9" Type="http://schemas.openxmlformats.org/officeDocument/2006/relationships/image" Target="../media/image72.png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6.png"/><Relationship Id="rId5" Type="http://schemas.openxmlformats.org/officeDocument/2006/relationships/image" Target="../media/image90.png"/><Relationship Id="rId4" Type="http://schemas.openxmlformats.org/officeDocument/2006/relationships/image" Target="../media/image84.png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61.png"/><Relationship Id="rId7" Type="http://schemas.openxmlformats.org/officeDocument/2006/relationships/image" Target="../media/image8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54.png"/><Relationship Id="rId10" Type="http://schemas.openxmlformats.org/officeDocument/2006/relationships/image" Target="../media/image112.png"/><Relationship Id="rId4" Type="http://schemas.openxmlformats.org/officeDocument/2006/relationships/image" Target="../media/image108.png"/><Relationship Id="rId9" Type="http://schemas.openxmlformats.org/officeDocument/2006/relationships/image" Target="../media/image117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11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8.png"/><Relationship Id="rId5" Type="http://schemas.openxmlformats.org/officeDocument/2006/relationships/image" Target="../media/image91.png"/><Relationship Id="rId4" Type="http://schemas.openxmlformats.org/officeDocument/2006/relationships/image" Target="../media/image36.png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0.png"/><Relationship Id="rId5" Type="http://schemas.openxmlformats.org/officeDocument/2006/relationships/image" Target="../media/image71.png"/><Relationship Id="rId4" Type="http://schemas.openxmlformats.org/officeDocument/2006/relationships/image" Target="../media/image79.png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1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120.png"/><Relationship Id="rId7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4.png"/><Relationship Id="rId5" Type="http://schemas.openxmlformats.org/officeDocument/2006/relationships/image" Target="../media/image44.png"/><Relationship Id="rId10" Type="http://schemas.openxmlformats.org/officeDocument/2006/relationships/image" Target="../media/image95.png"/><Relationship Id="rId4" Type="http://schemas.openxmlformats.org/officeDocument/2006/relationships/image" Target="../media/image121.png"/><Relationship Id="rId9" Type="http://schemas.openxmlformats.org/officeDocument/2006/relationships/image" Target="../media/image42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112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1.png"/><Relationship Id="rId5" Type="http://schemas.openxmlformats.org/officeDocument/2006/relationships/image" Target="../media/image86.png"/><Relationship Id="rId4" Type="http://schemas.openxmlformats.org/officeDocument/2006/relationships/image" Target="../media/image102.png"/></Relationships>
</file>

<file path=ppt/slides/_rels/slide1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102.png"/><Relationship Id="rId7" Type="http://schemas.openxmlformats.org/officeDocument/2006/relationships/image" Target="../media/image103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71.png"/><Relationship Id="rId4" Type="http://schemas.openxmlformats.org/officeDocument/2006/relationships/image" Target="../media/image76.png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1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104.png"/><Relationship Id="rId7" Type="http://schemas.openxmlformats.org/officeDocument/2006/relationships/image" Target="../media/image12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95.png"/><Relationship Id="rId10" Type="http://schemas.openxmlformats.org/officeDocument/2006/relationships/image" Target="../media/image59.png"/><Relationship Id="rId4" Type="http://schemas.openxmlformats.org/officeDocument/2006/relationships/image" Target="../media/image49.png"/><Relationship Id="rId9" Type="http://schemas.openxmlformats.org/officeDocument/2006/relationships/image" Target="../media/image124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113.png"/><Relationship Id="rId4" Type="http://schemas.openxmlformats.org/officeDocument/2006/relationships/image" Target="../media/image97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7.png"/><Relationship Id="rId5" Type="http://schemas.openxmlformats.org/officeDocument/2006/relationships/image" Target="../media/image128.png"/><Relationship Id="rId4" Type="http://schemas.openxmlformats.org/officeDocument/2006/relationships/image" Target="../media/image73.png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2.png"/><Relationship Id="rId4" Type="http://schemas.openxmlformats.org/officeDocument/2006/relationships/image" Target="../media/image49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5.png"/><Relationship Id="rId5" Type="http://schemas.openxmlformats.org/officeDocument/2006/relationships/image" Target="../media/image68.png"/><Relationship Id="rId4" Type="http://schemas.openxmlformats.org/officeDocument/2006/relationships/image" Target="../media/image90.png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3.png"/><Relationship Id="rId5" Type="http://schemas.openxmlformats.org/officeDocument/2006/relationships/image" Target="../media/image130.png"/><Relationship Id="rId4" Type="http://schemas.openxmlformats.org/officeDocument/2006/relationships/image" Target="../media/image107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0.png"/><Relationship Id="rId4" Type="http://schemas.openxmlformats.org/officeDocument/2006/relationships/image" Target="../media/image131.png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4"/>
          <p:cNvSpPr txBox="1"/>
          <p:nvPr/>
        </p:nvSpPr>
        <p:spPr>
          <a:xfrm>
            <a:off x="399914" y="2065926"/>
            <a:ext cx="8197077" cy="1171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roxima Nova"/>
              <a:buNone/>
            </a:pPr>
            <a:r>
              <a:rPr lang="en-IN" sz="4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LJMU MSDS/ML C31</a:t>
            </a:r>
          </a:p>
          <a:p>
            <a:pPr lvl="0" algn="ctr">
              <a:lnSpc>
                <a:spcPct val="90000"/>
              </a:lnSpc>
              <a:buClr>
                <a:schemeClr val="dk1"/>
              </a:buClr>
              <a:buSzPts val="4000"/>
            </a:pPr>
            <a:br>
              <a:rPr lang="en-US" sz="3200" b="1" dirty="0">
                <a:solidFill>
                  <a:schemeClr val="dk1"/>
                </a:solidFill>
                <a:latin typeface="Lato"/>
                <a:ea typeface="Lato"/>
                <a:cs typeface="Lato"/>
              </a:rPr>
            </a:br>
            <a:endParaRPr sz="32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16" name="Google Shape;61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2370" y="0"/>
            <a:ext cx="1356542" cy="1577482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34"/>
          <p:cNvSpPr txBox="1">
            <a:spLocks noGrp="1"/>
          </p:cNvSpPr>
          <p:nvPr>
            <p:ph type="sldNum" idx="12"/>
          </p:nvPr>
        </p:nvSpPr>
        <p:spPr>
          <a:xfrm>
            <a:off x="6616976" y="401240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3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698" b="7697"/>
          <a:stretch/>
        </p:blipFill>
        <p:spPr>
          <a:xfrm>
            <a:off x="0" y="-1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35"/>
          <p:cNvSpPr txBox="1">
            <a:spLocks noGrp="1"/>
          </p:cNvSpPr>
          <p:nvPr>
            <p:ph type="dt" idx="10"/>
          </p:nvPr>
        </p:nvSpPr>
        <p:spPr>
          <a:xfrm>
            <a:off x="6381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72D3F"/>
              </a:buClr>
              <a:buSzPts val="1400"/>
              <a:buFont typeface="Proxima Nova"/>
              <a:buNone/>
            </a:pPr>
            <a:r>
              <a:rPr lang="en-IN" sz="900" dirty="0">
                <a:solidFill>
                  <a:srgbClr val="E72D3F"/>
                </a:solidFill>
                <a:latin typeface="Proxima Nova"/>
                <a:ea typeface="Proxima Nova"/>
                <a:cs typeface="Proxima Nova"/>
                <a:sym typeface="Proxima Nova"/>
              </a:rPr>
              <a:t>10/10/2026</a:t>
            </a:r>
            <a:endParaRPr sz="900" dirty="0">
              <a:solidFill>
                <a:srgbClr val="E72D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24" name="Google Shape;624;p35"/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E72D3F"/>
              </a:buClr>
              <a:buSzPts val="900"/>
              <a:buFont typeface="Proxima Nova"/>
              <a:buNone/>
            </a:pPr>
            <a:fld id="{00000000-1234-1234-1234-123412341234}" type="slidenum">
              <a:rPr lang="en-IN" sz="900">
                <a:solidFill>
                  <a:srgbClr val="E72D3F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fld>
            <a:endParaRPr sz="900" dirty="0">
              <a:solidFill>
                <a:srgbClr val="E72D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25" name="Google Shape;625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4" y="94657"/>
            <a:ext cx="3811975" cy="4634524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35"/>
          <p:cNvSpPr txBox="1"/>
          <p:nvPr/>
        </p:nvSpPr>
        <p:spPr>
          <a:xfrm>
            <a:off x="638174" y="508976"/>
            <a:ext cx="3677375" cy="116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50000"/>
              </a:lnSpc>
              <a:buSzPts val="1800"/>
            </a:pPr>
            <a:r>
              <a:rPr lang="en-IN" sz="18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</a:t>
            </a:r>
            <a:r>
              <a:rPr lang="en-IN" sz="1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Course:</a:t>
            </a:r>
            <a:r>
              <a:rPr lang="en-IN" sz="1800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     </a:t>
            </a:r>
            <a:r>
              <a:rPr lang="en-IN" sz="18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MSDS/ML</a:t>
            </a:r>
            <a:endParaRPr lang="en-US" sz="1800" b="1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lvl="3">
              <a:spcBef>
                <a:spcPts val="1000"/>
              </a:spcBef>
              <a:buSzPts val="1800"/>
            </a:pPr>
            <a:r>
              <a:rPr lang="en-IN" sz="18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-US" sz="1800" b="1" i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Live Session </a:t>
            </a:r>
            <a:r>
              <a:rPr lang="en-US" sz="1800" b="1" i="1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On:      </a:t>
            </a:r>
            <a:r>
              <a:rPr lang="en-US" sz="1800" b="1" i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AI &amp; Data Science Research Landscape</a:t>
            </a:r>
          </a:p>
          <a:p>
            <a:pPr lvl="0" algn="ctr">
              <a:lnSpc>
                <a:spcPct val="150000"/>
              </a:lnSpc>
              <a:spcBef>
                <a:spcPts val="1000"/>
              </a:spcBef>
              <a:buSzPts val="1800"/>
            </a:pPr>
            <a:r>
              <a:rPr lang="en-IN" sz="1800" b="1" i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Instructor:                 Dr. Jyoti Dabass </a:t>
            </a:r>
            <a:endParaRPr sz="1800" b="1" i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27" name="Google Shape;627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landscape.png">
            <a:extLst>
              <a:ext uri="{FF2B5EF4-FFF2-40B4-BE49-F238E27FC236}">
                <a16:creationId xmlns:a16="http://schemas.microsoft.com/office/drawing/2014/main" id="{D756E0A9-BE1F-7F62-E35A-7CB211E1050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022" t="14966" r="16209"/>
          <a:stretch>
            <a:fillRect/>
          </a:stretch>
        </p:blipFill>
        <p:spPr>
          <a:xfrm>
            <a:off x="5129282" y="1091888"/>
            <a:ext cx="3395593" cy="23992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81AA5F-4A19-79D4-9760-D7BCFBBFFA92}"/>
              </a:ext>
            </a:extLst>
          </p:cNvPr>
          <p:cNvSpPr txBox="1"/>
          <p:nvPr/>
        </p:nvSpPr>
        <p:spPr>
          <a:xfrm>
            <a:off x="0" y="4506043"/>
            <a:ext cx="9143999" cy="44627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5C6A64"/>
                </a:solidFill>
              </a:defRPr>
            </a:pPr>
            <a:r>
              <a:rPr lang="en-US" sz="2300" dirty="0"/>
              <a:t>From technology trends → meaningful research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1783080"/>
            <a:ext cx="7680960" cy="2011680"/>
          </a:xfrm>
        </p:spPr>
        <p:txBody>
          <a:bodyPr wrap="square" lIns="0" tIns="0" rIns="0" bIns="0" anchor="t"/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Proxima Nova"/>
              </a:rPr>
              <a:t>From AI Technology to Research Thinking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3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093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272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3624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8541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9631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0720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18104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900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3989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50791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6168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72583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8348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9437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0527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1616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502920"/>
            <a:ext cx="630936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Welcome and Opening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4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tag"/>
          <p:cNvSpPr/>
          <p:nvPr/>
        </p:nvSpPr>
        <p:spPr>
          <a:xfrm>
            <a:off x="630936" y="12801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con-hourglasshalf" descr="hourglasshalf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44168"/>
            <a:ext cx="25603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1280160"/>
            <a:ext cx="178308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PAUSE &amp; THINK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783080"/>
            <a:ext cx="7863840" cy="178308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Proxima Nova"/>
              </a:rPr>
              <a:t>What is the most exciting area in AI today?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3657600"/>
            <a:ext cx="7680960" cy="8229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000" b="0" i="0">
                <a:solidFill>
                  <a:srgbClr val="FFE3E5"/>
                </a:solidFill>
                <a:latin typeface="Proxima Nova"/>
              </a:rPr>
              <a:t>GenAI • LLMs • Agents • Vision • Security • Responsible AI … or something else?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A Simple Question: Is Every AI Project Research?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914400"/>
            <a:ext cx="3886200" cy="3072384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914400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 useful AI project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37943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1933041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627632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Accurate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24328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719425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2414016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Users like it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410712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505809"/>
            <a:ext cx="175564" cy="1755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" y="3200400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Business likes it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197096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4292193"/>
            <a:ext cx="175564" cy="1755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5568" y="3986784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Live in production</a:t>
            </a:r>
          </a:p>
        </p:txBody>
      </p:sp>
      <p:sp>
        <p:nvSpPr>
          <p:cNvPr id="19" name="panel-2"/>
          <p:cNvSpPr/>
          <p:nvPr/>
        </p:nvSpPr>
        <p:spPr>
          <a:xfrm>
            <a:off x="4800600" y="914400"/>
            <a:ext cx="3886200" cy="3072384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anel-head-2"/>
          <p:cNvSpPr/>
          <p:nvPr/>
        </p:nvSpPr>
        <p:spPr>
          <a:xfrm>
            <a:off x="4800600" y="914400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 research contribution</a:t>
            </a:r>
          </a:p>
        </p:txBody>
      </p:sp>
      <p:sp>
        <p:nvSpPr>
          <p:cNvPr id="21" name="Oval 20"/>
          <p:cNvSpPr/>
          <p:nvPr/>
        </p:nvSpPr>
        <p:spPr>
          <a:xfrm>
            <a:off x="4983480" y="1837943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lightbulb" descr="light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1933041"/>
            <a:ext cx="175564" cy="1755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58968" y="1627632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Asks a new question</a:t>
            </a:r>
          </a:p>
        </p:txBody>
      </p:sp>
      <p:sp>
        <p:nvSpPr>
          <p:cNvPr id="24" name="Oval 23"/>
          <p:cNvSpPr/>
          <p:nvPr/>
        </p:nvSpPr>
        <p:spPr>
          <a:xfrm>
            <a:off x="4983480" y="262432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icon-lightbulb" descr="light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719425"/>
            <a:ext cx="175564" cy="1755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58968" y="2414016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Adds new knowledge</a:t>
            </a:r>
          </a:p>
        </p:txBody>
      </p:sp>
      <p:sp>
        <p:nvSpPr>
          <p:cNvPr id="27" name="Oval 26"/>
          <p:cNvSpPr/>
          <p:nvPr/>
        </p:nvSpPr>
        <p:spPr>
          <a:xfrm>
            <a:off x="4983480" y="341071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icon-lightbulb" descr="light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505809"/>
            <a:ext cx="175564" cy="1755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58968" y="3200400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Backed by evidence</a:t>
            </a:r>
          </a:p>
        </p:txBody>
      </p:sp>
      <p:sp>
        <p:nvSpPr>
          <p:cNvPr id="30" name="Oval 29"/>
          <p:cNvSpPr/>
          <p:nvPr/>
        </p:nvSpPr>
        <p:spPr>
          <a:xfrm>
            <a:off x="4334256" y="2212848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  <p:sp>
        <p:nvSpPr>
          <p:cNvPr id="31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icon-question" descr="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oxima Nova"/>
              </a:rPr>
              <a:t>Research asks: “What have we learned that was not known before?”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The 10-Second Research Test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6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256032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Technology</a:t>
            </a:r>
          </a:p>
        </p:txBody>
      </p:sp>
      <p:sp>
        <p:nvSpPr>
          <p:cNvPr id="6" name="Oval 5"/>
          <p:cNvSpPr/>
          <p:nvPr/>
        </p:nvSpPr>
        <p:spPr>
          <a:xfrm>
            <a:off x="160934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3291840" y="2039112"/>
            <a:ext cx="256032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Problem</a:t>
            </a:r>
          </a:p>
        </p:txBody>
      </p:sp>
      <p:sp>
        <p:nvSpPr>
          <p:cNvPr id="9" name="Oval 8"/>
          <p:cNvSpPr/>
          <p:nvPr/>
        </p:nvSpPr>
        <p:spPr>
          <a:xfrm>
            <a:off x="444398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6126480" y="2039112"/>
            <a:ext cx="256032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Investigation</a:t>
            </a:r>
          </a:p>
        </p:txBody>
      </p:sp>
      <p:sp>
        <p:nvSpPr>
          <p:cNvPr id="12" name="Oval 11"/>
          <p:cNvSpPr/>
          <p:nvPr/>
        </p:nvSpPr>
        <p:spPr>
          <a:xfrm>
            <a:off x="7278624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Ask: “What is new here?”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The AI &amp; Data Science Research Landscape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7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brain" descr="brai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Machine Learning</a:t>
            </a:r>
          </a:p>
        </p:txBody>
      </p:sp>
      <p:sp>
        <p:nvSpPr>
          <p:cNvPr id="9" name="card-2"/>
          <p:cNvSpPr/>
          <p:nvPr/>
        </p:nvSpPr>
        <p:spPr>
          <a:xfrm>
            <a:off x="2564892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74777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layergroup" descr="layergro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667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92908" y="164591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Deep Learning</a:t>
            </a:r>
          </a:p>
        </p:txBody>
      </p:sp>
      <p:sp>
        <p:nvSpPr>
          <p:cNvPr id="13" name="card-3"/>
          <p:cNvSpPr/>
          <p:nvPr/>
        </p:nvSpPr>
        <p:spPr>
          <a:xfrm>
            <a:off x="4672584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55464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language" descr="langua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359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00600" y="164591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Generative AI &amp; NLP</a:t>
            </a:r>
          </a:p>
        </p:txBody>
      </p:sp>
      <p:sp>
        <p:nvSpPr>
          <p:cNvPr id="17" name="card-4"/>
          <p:cNvSpPr/>
          <p:nvPr/>
        </p:nvSpPr>
        <p:spPr>
          <a:xfrm>
            <a:off x="6780276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6315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robot" descr="robo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051" y="1183599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08292" y="164591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Transformers &amp; LLMs</a:t>
            </a:r>
          </a:p>
        </p:txBody>
      </p:sp>
      <p:sp>
        <p:nvSpPr>
          <p:cNvPr id="21" name="card-5"/>
          <p:cNvSpPr/>
          <p:nvPr/>
        </p:nvSpPr>
        <p:spPr>
          <a:xfrm>
            <a:off x="457200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eye" descr="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75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5216" y="3300984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Computer Vision</a:t>
            </a:r>
          </a:p>
        </p:txBody>
      </p:sp>
      <p:sp>
        <p:nvSpPr>
          <p:cNvPr id="25" name="card-6"/>
          <p:cNvSpPr/>
          <p:nvPr/>
        </p:nvSpPr>
        <p:spPr>
          <a:xfrm>
            <a:off x="2564892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747772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image" descr="imag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667" y="283866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692908" y="3300984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Multimodal AI</a:t>
            </a:r>
          </a:p>
        </p:txBody>
      </p:sp>
      <p:sp>
        <p:nvSpPr>
          <p:cNvPr id="29" name="card-7"/>
          <p:cNvSpPr/>
          <p:nvPr/>
        </p:nvSpPr>
        <p:spPr>
          <a:xfrm>
            <a:off x="4672584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855464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icon-cogs" descr="cog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8359" y="2838663"/>
            <a:ext cx="266273" cy="2662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800600" y="3300984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Agentic AI</a:t>
            </a:r>
          </a:p>
        </p:txBody>
      </p:sp>
      <p:sp>
        <p:nvSpPr>
          <p:cNvPr id="33" name="card-8"/>
          <p:cNvSpPr/>
          <p:nvPr/>
        </p:nvSpPr>
        <p:spPr>
          <a:xfrm>
            <a:off x="6780276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963156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con-chartline" descr="chartlin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051" y="2838663"/>
            <a:ext cx="266273" cy="2662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08292" y="3300984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Predictive &amp; Time-Series</a:t>
            </a:r>
          </a:p>
        </p:txBody>
      </p:sp>
      <p:sp>
        <p:nvSpPr>
          <p:cNvPr id="37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icon-layergroup" descr="layergro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oxima Nova"/>
              </a:rPr>
              <a:t>Plus: Recommenders • Graph Learning • RL • XAI • Security • MLOps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Imagine AI Research as a Map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8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pic>
        <p:nvPicPr>
          <p:cNvPr id="5" name="research-landscape-ma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16152"/>
            <a:ext cx="3794760" cy="2168434"/>
          </a:xfrm>
          <a:prstGeom prst="rect">
            <a:avLst/>
          </a:prstGeom>
        </p:spPr>
      </p:pic>
      <p:sp>
        <p:nvSpPr>
          <p:cNvPr id="6" name="intersection-1"/>
          <p:cNvSpPr/>
          <p:nvPr/>
        </p:nvSpPr>
        <p:spPr>
          <a:xfrm>
            <a:off x="457200" y="969263"/>
            <a:ext cx="4160520" cy="804672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85216" y="118871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969263"/>
            <a:ext cx="352044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LLMs + RAG + Enterprise knowledge</a:t>
            </a:r>
          </a:p>
        </p:txBody>
      </p:sp>
      <p:sp>
        <p:nvSpPr>
          <p:cNvPr id="9" name="intersection-2"/>
          <p:cNvSpPr/>
          <p:nvPr/>
        </p:nvSpPr>
        <p:spPr>
          <a:xfrm>
            <a:off x="457200" y="1901952"/>
            <a:ext cx="4160520" cy="804672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85216" y="212140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01952"/>
            <a:ext cx="352044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LLMs + Agents + Security</a:t>
            </a:r>
          </a:p>
        </p:txBody>
      </p:sp>
      <p:sp>
        <p:nvSpPr>
          <p:cNvPr id="12" name="intersection-3"/>
          <p:cNvSpPr/>
          <p:nvPr/>
        </p:nvSpPr>
        <p:spPr>
          <a:xfrm>
            <a:off x="457200" y="2834639"/>
            <a:ext cx="4160520" cy="804672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5216" y="3054095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34639"/>
            <a:ext cx="352044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Vision + Healthcare + Explainability</a:t>
            </a:r>
          </a:p>
        </p:txBody>
      </p:sp>
      <p:sp>
        <p:nvSpPr>
          <p:cNvPr id="15" name="intersection-4"/>
          <p:cNvSpPr/>
          <p:nvPr/>
        </p:nvSpPr>
        <p:spPr>
          <a:xfrm>
            <a:off x="457200" y="3767328"/>
            <a:ext cx="4160520" cy="804672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5216" y="3986784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767328"/>
            <a:ext cx="352044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Time-series + Finance + Causal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The One Word I Want You to Remember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9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8229600" cy="155448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8000" b="1" i="0">
                <a:solidFill>
                  <a:srgbClr val="F5333F"/>
                </a:solidFill>
                <a:latin typeface="Proxima Nova"/>
              </a:rPr>
              <a:t>WHY?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79191"/>
            <a:ext cx="8229600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2800" b="1" i="0">
                <a:solidFill>
                  <a:srgbClr val="1C2A26"/>
                </a:solidFill>
                <a:latin typeface="Proxima Nova"/>
              </a:rPr>
              <a:t>The one word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93592"/>
            <a:ext cx="6766560" cy="10058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2000" b="0" i="0">
                <a:solidFill>
                  <a:srgbClr val="5C6A64"/>
                </a:solidFill>
                <a:latin typeface="Proxima Nova"/>
              </a:rPr>
              <a:t>Why does it fail? Why does performance change? Why does one method beat another?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A Very Small Research Experiment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10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90% → 92% accuracy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Fails on one type of case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Nobody knows why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Now it is research!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An unexplained failure is a research opportunity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502920"/>
            <a:ext cx="630936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Your First Challenge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11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tag"/>
          <p:cNvSpPr/>
          <p:nvPr/>
        </p:nvSpPr>
        <p:spPr>
          <a:xfrm>
            <a:off x="630936" y="12801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con-pen" descr="pen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44168"/>
            <a:ext cx="25603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1280160"/>
            <a:ext cx="178308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YOUR 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783080"/>
            <a:ext cx="7863840" cy="178308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Proxima Nova"/>
              </a:rPr>
              <a:t>“One thing about AI or Data Science that I would genuinely like to understand better is…”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3657600"/>
            <a:ext cx="7680960" cy="8229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000" b="0" i="0">
                <a:solidFill>
                  <a:srgbClr val="FFE3E5"/>
                </a:solidFill>
                <a:latin typeface="Proxima Nova"/>
              </a:rPr>
              <a:t>Type it in the chat — 30 seconds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1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12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Which of the following best represents a research-oriented AI problem?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Building an LLM-based chatbot for employees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Deploying an existing ML model with high accuracy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Using RAG to create an enterprise knowledge assistant</a:t>
            </a:r>
          </a:p>
        </p:txBody>
      </p:sp>
      <p:sp>
        <p:nvSpPr>
          <p:cNvPr id="15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0" i="0">
                <a:solidFill>
                  <a:srgbClr val="1C2A26"/>
                </a:solidFill>
                <a:latin typeface="Proxima Nova"/>
              </a:rPr>
              <a:t>Investigating why retrieval quality decreases when enterprise documents contain conflicting or outdated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3708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FFE3E5"/>
                </a:solidFill>
                <a:latin typeface="Proxima Nova"/>
              </a:rPr>
              <a:t>Type your answer in the chat — A, B, C or 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1 — Answer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13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Which of the following best represents a research-oriented AI problem?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Building an LLM-based chatbot for employees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Deploying an existing ML model with high accuracy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Using RAG to create an enterprise knowledge assistant</a:t>
            </a:r>
          </a:p>
        </p:txBody>
      </p:sp>
      <p:sp>
        <p:nvSpPr>
          <p:cNvPr id="15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5333F"/>
                </a:solidFill>
                <a:latin typeface="Proxima Nov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roxima Nova"/>
              </a:rPr>
              <a:t>Investigating why retrieval quality decreases when enterprise documents contain conflicting or outdated information</a:t>
            </a:r>
          </a:p>
        </p:txBody>
      </p:sp>
      <p:pic>
        <p:nvPicPr>
          <p:cNvPr id="18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3621024"/>
            <a:ext cx="329184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0936" y="431596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E3E5"/>
                </a:solidFill>
                <a:latin typeface="Proxima Nova"/>
              </a:rPr>
              <a:t>Why? </a:t>
            </a:r>
            <a:r>
              <a:rPr sz="1500" b="0" i="0">
                <a:solidFill>
                  <a:srgbClr val="FFFFFF"/>
                </a:solidFill>
                <a:latin typeface="Proxima Nova"/>
              </a:rPr>
              <a:t>Research investigates an unresolved problem or limitation and generates evidence that contributes to knowledge.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1783080"/>
            <a:ext cx="7680960" cy="201168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Proxima Nova"/>
              </a:rPr>
              <a:t>Understanding the Major Research Areas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14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inutes-chip"/>
          <p:cNvSpPr/>
          <p:nvPr/>
        </p:nvSpPr>
        <p:spPr>
          <a:xfrm>
            <a:off x="630936" y="118872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endParaRPr sz="1500" b="1" i="0" dirty="0">
              <a:solidFill>
                <a:srgbClr val="1C2A26"/>
              </a:solidFill>
              <a:latin typeface="Proxima Nov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093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272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3624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8541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9631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0720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18104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900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3989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50791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6168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72583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8348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9437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0527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1616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From “AI” to the Actual Research Landscape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quote-card"/>
          <p:cNvSpPr/>
          <p:nvPr/>
        </p:nvSpPr>
        <p:spPr>
          <a:xfrm>
            <a:off x="457200" y="1033271"/>
            <a:ext cx="8229600" cy="3474720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353312"/>
            <a:ext cx="731520" cy="73152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question" descr="quest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" y="1528876"/>
            <a:ext cx="380390" cy="3803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37360" y="1216152"/>
            <a:ext cx="6583680" cy="201168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3000" b="1" i="0">
                <a:solidFill>
                  <a:srgbClr val="1C2A26"/>
                </a:solidFill>
                <a:latin typeface="Proxima Nova"/>
              </a:rPr>
              <a:t>Do not memorize technologies. Understand the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319272"/>
            <a:ext cx="6583680" cy="10058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800" b="0" i="0">
                <a:solidFill>
                  <a:srgbClr val="5C6A64"/>
                </a:solidFill>
                <a:latin typeface="Proxima Nova"/>
              </a:rPr>
              <a:t>The questions reveal the landscape. Algorithm names do not.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Machine Learning: The Foundation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16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914400"/>
            <a:ext cx="3886200" cy="3712463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914400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Old question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37943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1933041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627632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“Can we train a model?”</a:t>
            </a:r>
          </a:p>
        </p:txBody>
      </p:sp>
      <p:sp>
        <p:nvSpPr>
          <p:cNvPr id="10" name="panel-2"/>
          <p:cNvSpPr/>
          <p:nvPr/>
        </p:nvSpPr>
        <p:spPr>
          <a:xfrm>
            <a:off x="4800600" y="914400"/>
            <a:ext cx="3886200" cy="3712463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anel-head-2"/>
          <p:cNvSpPr/>
          <p:nvPr/>
        </p:nvSpPr>
        <p:spPr>
          <a:xfrm>
            <a:off x="4800600" y="914400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Research questions</a:t>
            </a:r>
          </a:p>
        </p:txBody>
      </p:sp>
      <p:sp>
        <p:nvSpPr>
          <p:cNvPr id="12" name="Oval 11"/>
          <p:cNvSpPr/>
          <p:nvPr/>
        </p:nvSpPr>
        <p:spPr>
          <a:xfrm>
            <a:off x="4983480" y="1837943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-search" descr="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1933041"/>
            <a:ext cx="175564" cy="1755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58968" y="1627632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Learn from limited data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62432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search" descr="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719425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2414016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Generalize and stay robust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341071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search" descr="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505809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3415260"/>
            <a:ext cx="3136392" cy="32008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r>
              <a:rPr sz="1600" b="0" i="0" dirty="0">
                <a:solidFill>
                  <a:srgbClr val="1C2A26"/>
                </a:solidFill>
                <a:latin typeface="Proxima Nova"/>
              </a:rPr>
              <a:t>Reduce bias</a:t>
            </a:r>
            <a:r>
              <a:rPr lang="en-US" sz="1600" b="0" i="0" dirty="0">
                <a:solidFill>
                  <a:srgbClr val="1C2A26"/>
                </a:solidFill>
                <a:latin typeface="Proxima Nova"/>
              </a:rPr>
              <a:t>, </a:t>
            </a:r>
            <a:r>
              <a:rPr lang="en-IN" sz="1600" dirty="0">
                <a:solidFill>
                  <a:srgbClr val="1C2A26"/>
                </a:solidFill>
                <a:latin typeface="Proxima Nova"/>
              </a:rPr>
              <a:t>Explain predictions</a:t>
            </a:r>
          </a:p>
        </p:txBody>
      </p:sp>
      <p:sp>
        <p:nvSpPr>
          <p:cNvPr id="21" name="Oval 20"/>
          <p:cNvSpPr/>
          <p:nvPr/>
        </p:nvSpPr>
        <p:spPr>
          <a:xfrm>
            <a:off x="4983480" y="419709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search" descr="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4292193"/>
            <a:ext cx="175564" cy="1755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58968" y="3986784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 dirty="0">
                <a:solidFill>
                  <a:srgbClr val="1C2A26"/>
                </a:solidFill>
                <a:latin typeface="Proxima Nova"/>
              </a:rPr>
              <a:t>Adapt when data changes</a:t>
            </a:r>
          </a:p>
        </p:txBody>
      </p:sp>
      <p:sp>
        <p:nvSpPr>
          <p:cNvPr id="27" name="Oval 26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Deep Learning: More Than Bigger Models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17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layergroup" descr="layergrou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70658"/>
            <a:ext cx="2353056" cy="64452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Why does it generalize?</a:t>
            </a:r>
          </a:p>
        </p:txBody>
      </p:sp>
      <p:sp>
        <p:nvSpPr>
          <p:cNvPr id="10" name="card-2"/>
          <p:cNvSpPr/>
          <p:nvPr/>
        </p:nvSpPr>
        <p:spPr>
          <a:xfrm>
            <a:off x="3267456" y="896112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5033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-database" descr="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31" y="1183599"/>
            <a:ext cx="266273" cy="266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95472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Data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5472" y="1970658"/>
            <a:ext cx="2353056" cy="64452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How much is enough?</a:t>
            </a:r>
          </a:p>
        </p:txBody>
      </p:sp>
      <p:sp>
        <p:nvSpPr>
          <p:cNvPr id="15" name="card-3"/>
          <p:cNvSpPr/>
          <p:nvPr/>
        </p:nvSpPr>
        <p:spPr>
          <a:xfrm>
            <a:off x="6077712" y="896112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6059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bolt" descr="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87" y="1183599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05728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5728" y="1970658"/>
            <a:ext cx="2353056" cy="64452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Less compute, same power</a:t>
            </a:r>
          </a:p>
        </p:txBody>
      </p:sp>
      <p:sp>
        <p:nvSpPr>
          <p:cNvPr id="20" name="card-4"/>
          <p:cNvSpPr/>
          <p:nvPr/>
        </p:nvSpPr>
        <p:spPr>
          <a:xfrm>
            <a:off x="457200" y="2871215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080" y="303580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shieldalt" descr="shielda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3158703"/>
            <a:ext cx="266273" cy="2662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5216" y="3621023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Robustness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3945762"/>
            <a:ext cx="2353056" cy="64452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Survive changing environments</a:t>
            </a:r>
          </a:p>
        </p:txBody>
      </p:sp>
      <p:sp>
        <p:nvSpPr>
          <p:cNvPr id="25" name="card-5"/>
          <p:cNvSpPr/>
          <p:nvPr/>
        </p:nvSpPr>
        <p:spPr>
          <a:xfrm>
            <a:off x="3267456" y="2871215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450336" y="303580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slidersh" descr="sliders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231" y="315870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395472" y="3621023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Optimization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95472" y="3945762"/>
            <a:ext cx="2353056" cy="64452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Learn faster, learn better</a:t>
            </a:r>
          </a:p>
        </p:txBody>
      </p:sp>
      <p:sp>
        <p:nvSpPr>
          <p:cNvPr id="30" name="card-6"/>
          <p:cNvSpPr/>
          <p:nvPr/>
        </p:nvSpPr>
        <p:spPr>
          <a:xfrm>
            <a:off x="6077712" y="2871215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260592" y="303580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icon-cube" descr="cub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487" y="3158703"/>
            <a:ext cx="266273" cy="26627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05728" y="3621023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Representation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5728" y="4215637"/>
            <a:ext cx="2353056" cy="37464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What has it actually learned?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NLP and Transformers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18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Text classification</a:t>
            </a:r>
          </a:p>
        </p:txBody>
      </p:sp>
      <p:sp>
        <p:nvSpPr>
          <p:cNvPr id="6" name="Oval 5"/>
          <p:cNvSpPr/>
          <p:nvPr/>
        </p:nvSpPr>
        <p:spPr>
          <a:xfrm>
            <a:off x="1042416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157984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Translation and QA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3858768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Transformers</a:t>
            </a:r>
          </a:p>
        </p:txBody>
      </p:sp>
      <p:sp>
        <p:nvSpPr>
          <p:cNvPr id="12" name="Oval 11"/>
          <p:cNvSpPr/>
          <p:nvPr/>
        </p:nvSpPr>
        <p:spPr>
          <a:xfrm>
            <a:off x="444398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5559552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Language models</a:t>
            </a:r>
          </a:p>
        </p:txBody>
      </p:sp>
      <p:sp>
        <p:nvSpPr>
          <p:cNvPr id="15" name="Oval 14"/>
          <p:cNvSpPr/>
          <p:nvPr/>
        </p:nvSpPr>
        <p:spPr>
          <a:xfrm>
            <a:off x="6144768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pic>
        <p:nvPicPr>
          <p:cNvPr id="16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2532888"/>
            <a:ext cx="201168" cy="201168"/>
          </a:xfrm>
          <a:prstGeom prst="rect">
            <a:avLst/>
          </a:prstGeom>
        </p:spPr>
      </p:pic>
      <p:sp>
        <p:nvSpPr>
          <p:cNvPr id="17" name="step-5"/>
          <p:cNvSpPr/>
          <p:nvPr/>
        </p:nvSpPr>
        <p:spPr>
          <a:xfrm>
            <a:off x="7260336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Proxima Nova"/>
              </a:rPr>
              <a:t>New problems!</a:t>
            </a:r>
          </a:p>
        </p:txBody>
      </p:sp>
      <p:sp>
        <p:nvSpPr>
          <p:cNvPr id="18" name="Oval 17"/>
          <p:cNvSpPr/>
          <p:nvPr/>
        </p:nvSpPr>
        <p:spPr>
          <a:xfrm>
            <a:off x="7845552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Powerful models did not end research problems. They created new ones.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Generative AI and Large Language Models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19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checkcircle" descr="checkcirc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Reliable?</a:t>
            </a:r>
          </a:p>
        </p:txBody>
      </p:sp>
      <p:sp>
        <p:nvSpPr>
          <p:cNvPr id="9" name="card-2"/>
          <p:cNvSpPr/>
          <p:nvPr/>
        </p:nvSpPr>
        <p:spPr>
          <a:xfrm>
            <a:off x="3267456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5033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slidersh" descr="sliders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31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95472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Controllable?</a:t>
            </a:r>
          </a:p>
        </p:txBody>
      </p:sp>
      <p:sp>
        <p:nvSpPr>
          <p:cNvPr id="13" name="card-3"/>
          <p:cNvSpPr/>
          <p:nvPr/>
        </p:nvSpPr>
        <p:spPr>
          <a:xfrm>
            <a:off x="6077712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6059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ruler" descr="rul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87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5728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Quality?</a:t>
            </a:r>
          </a:p>
        </p:txBody>
      </p:sp>
      <p:sp>
        <p:nvSpPr>
          <p:cNvPr id="17" name="card-4"/>
          <p:cNvSpPr/>
          <p:nvPr/>
        </p:nvSpPr>
        <p:spPr>
          <a:xfrm>
            <a:off x="457200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exclamationtriangle" descr="exclamationtriang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2838663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5216" y="3300984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Hallucinations</a:t>
            </a:r>
          </a:p>
        </p:txBody>
      </p:sp>
      <p:sp>
        <p:nvSpPr>
          <p:cNvPr id="21" name="card-5"/>
          <p:cNvSpPr/>
          <p:nvPr/>
        </p:nvSpPr>
        <p:spPr>
          <a:xfrm>
            <a:off x="3267456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450336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anchor" descr="ancho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231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395472" y="3300984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Grounded in evidence</a:t>
            </a:r>
          </a:p>
        </p:txBody>
      </p:sp>
      <p:sp>
        <p:nvSpPr>
          <p:cNvPr id="25" name="card-6"/>
          <p:cNvSpPr/>
          <p:nvPr/>
        </p:nvSpPr>
        <p:spPr>
          <a:xfrm>
            <a:off x="6077712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260592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usercheck" descr="user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487" y="283866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05728" y="3300984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Personalized &amp; safe</a:t>
            </a:r>
          </a:p>
        </p:txBody>
      </p:sp>
      <p:sp>
        <p:nvSpPr>
          <p:cNvPr id="29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on-question" descr="question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oxima Nova"/>
              </a:rPr>
              <a:t>“Can AI generate content?” We know it can. The real question is HOW WELL.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RAG: Retrieval-Augmented Generation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20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search" descr="search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What to retrieve?</a:t>
            </a:r>
          </a:p>
        </p:txBody>
      </p:sp>
      <p:sp>
        <p:nvSpPr>
          <p:cNvPr id="9" name="card-2"/>
          <p:cNvSpPr/>
          <p:nvPr/>
        </p:nvSpPr>
        <p:spPr>
          <a:xfrm>
            <a:off x="3267456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5033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copy" descr="cop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31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95472" y="1645919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How many documents?</a:t>
            </a:r>
          </a:p>
        </p:txBody>
      </p:sp>
      <p:sp>
        <p:nvSpPr>
          <p:cNvPr id="13" name="card-3"/>
          <p:cNvSpPr/>
          <p:nvPr/>
        </p:nvSpPr>
        <p:spPr>
          <a:xfrm>
            <a:off x="6077712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6059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filter" descr="filt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87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5728" y="1645919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Irrelevant results?</a:t>
            </a:r>
          </a:p>
        </p:txBody>
      </p:sp>
      <p:sp>
        <p:nvSpPr>
          <p:cNvPr id="17" name="card-4"/>
          <p:cNvSpPr/>
          <p:nvPr/>
        </p:nvSpPr>
        <p:spPr>
          <a:xfrm>
            <a:off x="457200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balancescale" descr="balancesca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2838663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5216" y="3300984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Conflicting documents?</a:t>
            </a:r>
          </a:p>
        </p:txBody>
      </p:sp>
      <p:sp>
        <p:nvSpPr>
          <p:cNvPr id="21" name="card-5"/>
          <p:cNvSpPr/>
          <p:nvPr/>
        </p:nvSpPr>
        <p:spPr>
          <a:xfrm>
            <a:off x="3267456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450336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anchor" descr="ancho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231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395472" y="3300984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Is the answer grounded?</a:t>
            </a:r>
          </a:p>
        </p:txBody>
      </p:sp>
      <p:sp>
        <p:nvSpPr>
          <p:cNvPr id="25" name="card-6"/>
          <p:cNvSpPr/>
          <p:nvPr/>
        </p:nvSpPr>
        <p:spPr>
          <a:xfrm>
            <a:off x="6077712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260592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ruler" descr="rul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487" y="283866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05728" y="3300984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How to evaluate?</a:t>
            </a:r>
          </a:p>
        </p:txBody>
      </p:sp>
      <p:sp>
        <p:nvSpPr>
          <p:cNvPr id="29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on-route" descr="rout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roxima Nova"/>
              </a:rPr>
              <a:t>Question → Retrieve → Augment → Generate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Agentic AI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21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1399031"/>
            <a:ext cx="256032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Understand the goal</a:t>
            </a:r>
          </a:p>
        </p:txBody>
      </p:sp>
      <p:sp>
        <p:nvSpPr>
          <p:cNvPr id="6" name="Oval 5"/>
          <p:cNvSpPr/>
          <p:nvPr/>
        </p:nvSpPr>
        <p:spPr>
          <a:xfrm>
            <a:off x="1609344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180136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3291840" y="1399031"/>
            <a:ext cx="256032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Plan the steps</a:t>
            </a:r>
          </a:p>
        </p:txBody>
      </p:sp>
      <p:sp>
        <p:nvSpPr>
          <p:cNvPr id="9" name="Oval 8"/>
          <p:cNvSpPr/>
          <p:nvPr/>
        </p:nvSpPr>
        <p:spPr>
          <a:xfrm>
            <a:off x="4443984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180136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6126480" y="1399031"/>
            <a:ext cx="256032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Select tools</a:t>
            </a:r>
          </a:p>
        </p:txBody>
      </p:sp>
      <p:sp>
        <p:nvSpPr>
          <p:cNvPr id="12" name="Oval 11"/>
          <p:cNvSpPr/>
          <p:nvPr/>
        </p:nvSpPr>
        <p:spPr>
          <a:xfrm>
            <a:off x="7278624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3" name="step-4"/>
          <p:cNvSpPr/>
          <p:nvPr/>
        </p:nvSpPr>
        <p:spPr>
          <a:xfrm>
            <a:off x="457200" y="2862072"/>
            <a:ext cx="256032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Act</a:t>
            </a:r>
          </a:p>
        </p:txBody>
      </p:sp>
      <p:sp>
        <p:nvSpPr>
          <p:cNvPr id="14" name="Oval 13"/>
          <p:cNvSpPr/>
          <p:nvPr/>
        </p:nvSpPr>
        <p:spPr>
          <a:xfrm>
            <a:off x="1609344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pic>
        <p:nvPicPr>
          <p:cNvPr id="15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3264408"/>
            <a:ext cx="201168" cy="201168"/>
          </a:xfrm>
          <a:prstGeom prst="rect">
            <a:avLst/>
          </a:prstGeom>
        </p:spPr>
      </p:pic>
      <p:sp>
        <p:nvSpPr>
          <p:cNvPr id="16" name="step-5"/>
          <p:cNvSpPr/>
          <p:nvPr/>
        </p:nvSpPr>
        <p:spPr>
          <a:xfrm>
            <a:off x="3291840" y="2862072"/>
            <a:ext cx="256032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Observe results</a:t>
            </a:r>
          </a:p>
        </p:txBody>
      </p:sp>
      <p:sp>
        <p:nvSpPr>
          <p:cNvPr id="17" name="Oval 16"/>
          <p:cNvSpPr/>
          <p:nvPr/>
        </p:nvSpPr>
        <p:spPr>
          <a:xfrm>
            <a:off x="4443984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pic>
        <p:nvPicPr>
          <p:cNvPr id="18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3264408"/>
            <a:ext cx="201168" cy="201168"/>
          </a:xfrm>
          <a:prstGeom prst="rect">
            <a:avLst/>
          </a:prstGeom>
        </p:spPr>
      </p:pic>
      <p:sp>
        <p:nvSpPr>
          <p:cNvPr id="19" name="step-6"/>
          <p:cNvSpPr/>
          <p:nvPr/>
        </p:nvSpPr>
        <p:spPr>
          <a:xfrm>
            <a:off x="6126480" y="2862072"/>
            <a:ext cx="256032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Repeat until done</a:t>
            </a:r>
          </a:p>
        </p:txBody>
      </p:sp>
      <p:sp>
        <p:nvSpPr>
          <p:cNvPr id="20" name="Oval 19"/>
          <p:cNvSpPr/>
          <p:nvPr/>
        </p:nvSpPr>
        <p:spPr>
          <a:xfrm>
            <a:off x="7278624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Research: planning • tool choice • recovery • memory • safety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Computer Vision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22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tags" descr="tag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Classification</a:t>
            </a:r>
          </a:p>
        </p:txBody>
      </p:sp>
      <p:sp>
        <p:nvSpPr>
          <p:cNvPr id="9" name="card-2"/>
          <p:cNvSpPr/>
          <p:nvPr/>
        </p:nvSpPr>
        <p:spPr>
          <a:xfrm>
            <a:off x="3267456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5033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bullseye" descr="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31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95472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Detection</a:t>
            </a:r>
          </a:p>
        </p:txBody>
      </p:sp>
      <p:sp>
        <p:nvSpPr>
          <p:cNvPr id="13" name="card-3"/>
          <p:cNvSpPr/>
          <p:nvPr/>
        </p:nvSpPr>
        <p:spPr>
          <a:xfrm>
            <a:off x="6077712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6059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puzzlepiece" descr="puzzlepiec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87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5728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Segmentation</a:t>
            </a:r>
          </a:p>
        </p:txBody>
      </p:sp>
      <p:sp>
        <p:nvSpPr>
          <p:cNvPr id="17" name="card-4"/>
          <p:cNvSpPr/>
          <p:nvPr/>
        </p:nvSpPr>
        <p:spPr>
          <a:xfrm>
            <a:off x="457200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magic" descr="magic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2838663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5216" y="3300984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Generation</a:t>
            </a:r>
          </a:p>
        </p:txBody>
      </p:sp>
      <p:sp>
        <p:nvSpPr>
          <p:cNvPr id="21" name="card-5"/>
          <p:cNvSpPr/>
          <p:nvPr/>
        </p:nvSpPr>
        <p:spPr>
          <a:xfrm>
            <a:off x="3267456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450336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brain" descr="brai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231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395472" y="3300984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Understanding</a:t>
            </a:r>
          </a:p>
        </p:txBody>
      </p:sp>
      <p:sp>
        <p:nvSpPr>
          <p:cNvPr id="25" name="card-6"/>
          <p:cNvSpPr/>
          <p:nvPr/>
        </p:nvSpPr>
        <p:spPr>
          <a:xfrm>
            <a:off x="6077712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260592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question" descr="questio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487" y="283866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05728" y="3300984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Visual Q&amp;A</a:t>
            </a:r>
          </a:p>
        </p:txBody>
      </p:sp>
      <p:sp>
        <p:nvSpPr>
          <p:cNvPr id="29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on-eye" descr="ey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oxima Nova"/>
              </a:rPr>
              <a:t>Noisy images? Little data? New environments? Does it generalize?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Multimodal AI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23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image" descr="imag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1639884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171700"/>
            <a:ext cx="1650492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Text + Image</a:t>
            </a:r>
          </a:p>
        </p:txBody>
      </p:sp>
      <p:sp>
        <p:nvSpPr>
          <p:cNvPr id="9" name="card-2"/>
          <p:cNvSpPr/>
          <p:nvPr/>
        </p:nvSpPr>
        <p:spPr>
          <a:xfrm>
            <a:off x="2564892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747772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microphone" descr="micro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612" y="1639884"/>
            <a:ext cx="313822" cy="31382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92908" y="2171700"/>
            <a:ext cx="1650492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Text + Audio</a:t>
            </a:r>
          </a:p>
        </p:txBody>
      </p:sp>
      <p:sp>
        <p:nvSpPr>
          <p:cNvPr id="13" name="card-3"/>
          <p:cNvSpPr/>
          <p:nvPr/>
        </p:nvSpPr>
        <p:spPr>
          <a:xfrm>
            <a:off x="4672584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55464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language" descr="langua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04" y="1639884"/>
            <a:ext cx="313822" cy="31382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00600" y="2171700"/>
            <a:ext cx="1650492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Image + Language</a:t>
            </a:r>
          </a:p>
        </p:txBody>
      </p:sp>
      <p:sp>
        <p:nvSpPr>
          <p:cNvPr id="17" name="card-4"/>
          <p:cNvSpPr/>
          <p:nvPr/>
        </p:nvSpPr>
        <p:spPr>
          <a:xfrm>
            <a:off x="6780276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63156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film" descr="film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996" y="1639884"/>
            <a:ext cx="313822" cy="31382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08292" y="2171700"/>
            <a:ext cx="1650492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Video + Signals</a:t>
            </a:r>
          </a:p>
        </p:txBody>
      </p:sp>
      <p:sp>
        <p:nvSpPr>
          <p:cNvPr id="21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question" descr="questio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oxima Nova"/>
              </a:rPr>
              <a:t>Open questions: alignment • missing modality • conflicting signals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Predictive Analytics and Time-Series Research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24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chartline" descr="chartlin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Sales &amp; demand</a:t>
            </a:r>
          </a:p>
        </p:txBody>
      </p:sp>
      <p:sp>
        <p:nvSpPr>
          <p:cNvPr id="9" name="card-2"/>
          <p:cNvSpPr/>
          <p:nvPr/>
        </p:nvSpPr>
        <p:spPr>
          <a:xfrm>
            <a:off x="3267456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5033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coins" descr="coin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31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95472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Financial</a:t>
            </a:r>
          </a:p>
        </p:txBody>
      </p:sp>
      <p:sp>
        <p:nvSpPr>
          <p:cNvPr id="13" name="card-3"/>
          <p:cNvSpPr/>
          <p:nvPr/>
        </p:nvSpPr>
        <p:spPr>
          <a:xfrm>
            <a:off x="6077712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6059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bolt" descr="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87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5728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Energy</a:t>
            </a:r>
          </a:p>
        </p:txBody>
      </p:sp>
      <p:sp>
        <p:nvSpPr>
          <p:cNvPr id="17" name="card-4"/>
          <p:cNvSpPr/>
          <p:nvPr/>
        </p:nvSpPr>
        <p:spPr>
          <a:xfrm>
            <a:off x="457200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route" descr="rout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2838663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5216" y="3300984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Traffic</a:t>
            </a:r>
          </a:p>
        </p:txBody>
      </p:sp>
      <p:sp>
        <p:nvSpPr>
          <p:cNvPr id="21" name="card-5"/>
          <p:cNvSpPr/>
          <p:nvPr/>
        </p:nvSpPr>
        <p:spPr>
          <a:xfrm>
            <a:off x="3267456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450336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users" descr="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231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395472" y="3300984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Customer behaviour</a:t>
            </a:r>
          </a:p>
        </p:txBody>
      </p:sp>
      <p:sp>
        <p:nvSpPr>
          <p:cNvPr id="25" name="card-6"/>
          <p:cNvSpPr/>
          <p:nvPr/>
        </p:nvSpPr>
        <p:spPr>
          <a:xfrm>
            <a:off x="6077712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260592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cogs" descr="cog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487" y="283866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05728" y="3300984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Operations</a:t>
            </a:r>
          </a:p>
        </p:txBody>
      </p:sp>
      <p:sp>
        <p:nvSpPr>
          <p:cNvPr id="29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on-clock" descr="clo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oxima Nova"/>
              </a:rPr>
              <a:t>How far ahead? Changing patterns? Noisy or missing data?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Recommender Systems and Personalisation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914400"/>
            <a:ext cx="3886200" cy="3712463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914400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Proxima Nova"/>
              </a:rPr>
              <a:t>The obvious question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37943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question" descr="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7" y="1933041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627632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“Will the user like it?”</a:t>
            </a:r>
          </a:p>
        </p:txBody>
      </p:sp>
      <p:sp>
        <p:nvSpPr>
          <p:cNvPr id="10" name="panel-2"/>
          <p:cNvSpPr/>
          <p:nvPr/>
        </p:nvSpPr>
        <p:spPr>
          <a:xfrm>
            <a:off x="4800600" y="914400"/>
            <a:ext cx="3886200" cy="3712463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anel-head-2"/>
          <p:cNvSpPr/>
          <p:nvPr/>
        </p:nvSpPr>
        <p:spPr>
          <a:xfrm>
            <a:off x="4800600" y="914400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Proxima Nova"/>
              </a:rPr>
              <a:t>The research questions</a:t>
            </a:r>
          </a:p>
        </p:txBody>
      </p:sp>
      <p:sp>
        <p:nvSpPr>
          <p:cNvPr id="12" name="Oval 11"/>
          <p:cNvSpPr/>
          <p:nvPr/>
        </p:nvSpPr>
        <p:spPr>
          <a:xfrm>
            <a:off x="4983480" y="1837943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-search" descr="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8577" y="1933041"/>
            <a:ext cx="175564" cy="1755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58968" y="1627632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New users, little data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62432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search" descr="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8577" y="2719425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2414016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New products and content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341071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search" descr="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8577" y="3505809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3200400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Personalization vs. diversity</a:t>
            </a:r>
          </a:p>
        </p:txBody>
      </p:sp>
      <p:sp>
        <p:nvSpPr>
          <p:cNvPr id="21" name="Oval 20"/>
          <p:cNvSpPr/>
          <p:nvPr/>
        </p:nvSpPr>
        <p:spPr>
          <a:xfrm>
            <a:off x="4983480" y="419709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search" descr="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8577" y="4292193"/>
            <a:ext cx="175564" cy="1755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58968" y="4078533"/>
            <a:ext cx="3136392" cy="566309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r>
              <a:rPr sz="1600" b="0" i="0" dirty="0">
                <a:solidFill>
                  <a:srgbClr val="1C2A26"/>
                </a:solidFill>
                <a:latin typeface="Proxima Nova"/>
              </a:rPr>
              <a:t>Narrow information bubbles</a:t>
            </a:r>
            <a:r>
              <a:rPr lang="en-US" sz="1600" b="0" i="0" dirty="0">
                <a:solidFill>
                  <a:srgbClr val="1C2A26"/>
                </a:solidFill>
                <a:latin typeface="Proxima Nova"/>
              </a:rPr>
              <a:t>, </a:t>
            </a:r>
            <a:r>
              <a:rPr lang="en-IN" sz="1600" dirty="0">
                <a:solidFill>
                  <a:srgbClr val="1C2A26"/>
                </a:solidFill>
                <a:latin typeface="Proxima Nova"/>
              </a:rPr>
              <a:t>Fair evaluation</a:t>
            </a:r>
          </a:p>
        </p:txBody>
      </p:sp>
      <p:sp>
        <p:nvSpPr>
          <p:cNvPr id="27" name="Oval 26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Responsible AI, Explainability and Security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26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balancescale" descr="balancesca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Fair?</a:t>
            </a:r>
          </a:p>
        </p:txBody>
      </p:sp>
      <p:sp>
        <p:nvSpPr>
          <p:cNvPr id="9" name="card-2"/>
          <p:cNvSpPr/>
          <p:nvPr/>
        </p:nvSpPr>
        <p:spPr>
          <a:xfrm>
            <a:off x="2564892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74777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eye" descr="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667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92908" y="1645919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Explainable?</a:t>
            </a:r>
          </a:p>
        </p:txBody>
      </p:sp>
      <p:sp>
        <p:nvSpPr>
          <p:cNvPr id="13" name="card-3"/>
          <p:cNvSpPr/>
          <p:nvPr/>
        </p:nvSpPr>
        <p:spPr>
          <a:xfrm>
            <a:off x="4672584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55464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shieldalt" descr="shielda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359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00600" y="1645919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Robust?</a:t>
            </a:r>
          </a:p>
        </p:txBody>
      </p:sp>
      <p:sp>
        <p:nvSpPr>
          <p:cNvPr id="17" name="card-4"/>
          <p:cNvSpPr/>
          <p:nvPr/>
        </p:nvSpPr>
        <p:spPr>
          <a:xfrm>
            <a:off x="6780276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6315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lock" descr="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051" y="1183599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08292" y="1645919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Secure?</a:t>
            </a:r>
          </a:p>
        </p:txBody>
      </p:sp>
      <p:sp>
        <p:nvSpPr>
          <p:cNvPr id="21" name="card-5"/>
          <p:cNvSpPr/>
          <p:nvPr/>
        </p:nvSpPr>
        <p:spPr>
          <a:xfrm>
            <a:off x="457200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fingerprint" descr="fingerprin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75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5216" y="3300984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Private?</a:t>
            </a:r>
          </a:p>
        </p:txBody>
      </p:sp>
      <p:sp>
        <p:nvSpPr>
          <p:cNvPr id="25" name="card-6"/>
          <p:cNvSpPr/>
          <p:nvPr/>
        </p:nvSpPr>
        <p:spPr>
          <a:xfrm>
            <a:off x="2564892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747772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clipboardcheck" descr="clipboard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667" y="283866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692908" y="3300984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Auditable?</a:t>
            </a:r>
          </a:p>
        </p:txBody>
      </p:sp>
      <p:sp>
        <p:nvSpPr>
          <p:cNvPr id="29" name="card-7"/>
          <p:cNvSpPr/>
          <p:nvPr/>
        </p:nvSpPr>
        <p:spPr>
          <a:xfrm>
            <a:off x="4672584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855464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icon-handshake" descr="handshak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8359" y="2838663"/>
            <a:ext cx="266273" cy="2662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800600" y="3300984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Trustworthy?</a:t>
            </a:r>
          </a:p>
        </p:txBody>
      </p:sp>
      <p:sp>
        <p:nvSpPr>
          <p:cNvPr id="33" name="card-8"/>
          <p:cNvSpPr/>
          <p:nvPr/>
        </p:nvSpPr>
        <p:spPr>
          <a:xfrm>
            <a:off x="6780276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963156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con-exclamationtriangle" descr="exclamationtriangl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051" y="2838663"/>
            <a:ext cx="266273" cy="2662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08292" y="3300984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Harm-aware?</a:t>
            </a:r>
          </a:p>
        </p:txBody>
      </p:sp>
      <p:sp>
        <p:nvSpPr>
          <p:cNvPr id="37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icon-layergroup" descr="layergroup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oxima Nova"/>
              </a:rPr>
              <a:t>Responsible AI is a research dimension across every area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The Big Picture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27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987552"/>
            <a:ext cx="5120640" cy="356615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5120640" cy="19202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3400" b="1" i="0">
                <a:solidFill>
                  <a:srgbClr val="1C2A26"/>
                </a:solidFill>
                <a:latin typeface="Proxima Nova"/>
              </a:rPr>
              <a:t>A landscape of </a:t>
            </a:r>
            <a:r>
              <a:rPr sz="3400" b="1" i="0">
                <a:solidFill>
                  <a:srgbClr val="F5333F"/>
                </a:solidFill>
                <a:latin typeface="Proxima Nova"/>
              </a:rPr>
              <a:t>problems</a:t>
            </a:r>
            <a:r>
              <a:rPr sz="3400" b="1" i="0">
                <a:solidFill>
                  <a:srgbClr val="1C2A26"/>
                </a:solidFill>
                <a:latin typeface="Proxima Nova"/>
              </a:rPr>
              <a:t>, methods, data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82112"/>
            <a:ext cx="5120640" cy="10972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800" b="0" i="0">
                <a:solidFill>
                  <a:srgbClr val="5C6A64"/>
                </a:solidFill>
                <a:latin typeface="Proxima Nova"/>
              </a:rPr>
              <a:t>Not a list of technologies</a:t>
            </a:r>
          </a:p>
        </p:txBody>
      </p:sp>
      <p:sp>
        <p:nvSpPr>
          <p:cNvPr id="8" name="Oval 7"/>
          <p:cNvSpPr/>
          <p:nvPr/>
        </p:nvSpPr>
        <p:spPr>
          <a:xfrm>
            <a:off x="5806440" y="1124712"/>
            <a:ext cx="2834640" cy="2834640"/>
          </a:xfrm>
          <a:prstGeom prst="ellipse">
            <a:avLst/>
          </a:prstGeom>
          <a:solidFill>
            <a:srgbClr val="FDECE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217920" y="1536192"/>
            <a:ext cx="2011680" cy="201168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-networkwired" descr="networkwire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47672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1783080"/>
            <a:ext cx="7680960" cy="201168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Proxima Nova"/>
              </a:rPr>
              <a:t>From Research Area to Research Gap and Research Question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28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inutes-chip"/>
          <p:cNvSpPr/>
          <p:nvPr/>
        </p:nvSpPr>
        <p:spPr>
          <a:xfrm>
            <a:off x="630936" y="118872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endParaRPr sz="1500" b="1" i="0" dirty="0">
              <a:solidFill>
                <a:srgbClr val="1C2A26"/>
              </a:solidFill>
              <a:latin typeface="Proxima Nov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093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272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3624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8541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9631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0720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18104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900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3989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50791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6168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72583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8348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9437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0527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1616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Research Area vs. Research Problem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29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Proxima Nova"/>
              </a:rPr>
              <a:t>Research area (broad)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compass" descr="compas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06105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Artificial Intelligence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compass" descr="compas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92973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258318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Generative AI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con-compass" descr="compas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798417"/>
            <a:ext cx="175564" cy="1755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" y="345186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AI in healthcare</a:t>
            </a:r>
          </a:p>
        </p:txBody>
      </p:sp>
      <p:sp>
        <p:nvSpPr>
          <p:cNvPr id="16" name="panel-2"/>
          <p:cNvSpPr/>
          <p:nvPr/>
        </p:nvSpPr>
        <p:spPr>
          <a:xfrm>
            <a:off x="48006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anel-head-2"/>
          <p:cNvSpPr/>
          <p:nvPr/>
        </p:nvSpPr>
        <p:spPr>
          <a:xfrm>
            <a:off x="48006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Proxima Nova"/>
              </a:rPr>
              <a:t>Research problem (specific)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196596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bullseye" descr="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06105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LLMs generate incorrect information in domain-specific applications</a:t>
            </a:r>
          </a:p>
        </p:txBody>
      </p:sp>
      <p:sp>
        <p:nvSpPr>
          <p:cNvPr id="21" name="Oval 20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The Research Narrowing Process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30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level-1"/>
          <p:cNvSpPr/>
          <p:nvPr/>
        </p:nvSpPr>
        <p:spPr>
          <a:xfrm>
            <a:off x="457200" y="896112"/>
            <a:ext cx="5120640" cy="571499"/>
          </a:xfrm>
          <a:prstGeom prst="rect">
            <a:avLst/>
          </a:prstGeom>
          <a:solidFill>
            <a:srgbClr val="F9B4B9"/>
          </a:solidFill>
          <a:ln>
            <a:noFill/>
          </a:ln>
        </p:spPr>
        <p:txBody>
          <a:bodyPr wrap="square" lIns="45720" tIns="18288" rIns="45720" bIns="18288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896112"/>
            <a:ext cx="2880360" cy="571499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1">
                <a:solidFill>
                  <a:srgbClr val="5C6A64"/>
                </a:solidFill>
                <a:latin typeface="Proxima Nova"/>
              </a:rPr>
              <a:t>Area</a:t>
            </a:r>
          </a:p>
        </p:txBody>
      </p:sp>
      <p:sp>
        <p:nvSpPr>
          <p:cNvPr id="7" name="level-2"/>
          <p:cNvSpPr/>
          <p:nvPr/>
        </p:nvSpPr>
        <p:spPr>
          <a:xfrm>
            <a:off x="749807" y="1531620"/>
            <a:ext cx="4535424" cy="571499"/>
          </a:xfrm>
          <a:prstGeom prst="rect">
            <a:avLst/>
          </a:prstGeom>
          <a:solidFill>
            <a:srgbClr val="F78790"/>
          </a:solidFill>
          <a:ln>
            <a:noFill/>
          </a:ln>
        </p:spPr>
        <p:txBody>
          <a:bodyPr wrap="square" lIns="45720" tIns="18288" rIns="45720" bIns="18288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Generative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531620"/>
            <a:ext cx="2880360" cy="571499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1">
                <a:solidFill>
                  <a:srgbClr val="5C6A64"/>
                </a:solidFill>
                <a:latin typeface="Proxima Nova"/>
              </a:rPr>
              <a:t>Theme</a:t>
            </a:r>
          </a:p>
        </p:txBody>
      </p:sp>
      <p:sp>
        <p:nvSpPr>
          <p:cNvPr id="9" name="level-3"/>
          <p:cNvSpPr/>
          <p:nvPr/>
        </p:nvSpPr>
        <p:spPr>
          <a:xfrm>
            <a:off x="1042416" y="2167128"/>
            <a:ext cx="3950207" cy="571499"/>
          </a:xfrm>
          <a:prstGeom prst="rect">
            <a:avLst/>
          </a:prstGeom>
          <a:solidFill>
            <a:srgbClr val="F65C67"/>
          </a:solidFill>
          <a:ln>
            <a:noFill/>
          </a:ln>
        </p:spPr>
        <p:txBody>
          <a:bodyPr wrap="square" lIns="45720" tIns="18288" rIns="45720" bIns="18288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GenAI in 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167128"/>
            <a:ext cx="2880360" cy="571499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1">
                <a:solidFill>
                  <a:srgbClr val="5C6A64"/>
                </a:solidFill>
                <a:latin typeface="Proxima Nova"/>
              </a:rPr>
              <a:t>Context</a:t>
            </a:r>
          </a:p>
        </p:txBody>
      </p:sp>
      <p:sp>
        <p:nvSpPr>
          <p:cNvPr id="11" name="level-4"/>
          <p:cNvSpPr/>
          <p:nvPr/>
        </p:nvSpPr>
        <p:spPr>
          <a:xfrm>
            <a:off x="1335024" y="2802636"/>
            <a:ext cx="3364991" cy="571499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wrap="square" lIns="45720" tIns="18288" rIns="45720" bIns="18288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Inaccurate educational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802636"/>
            <a:ext cx="2880360" cy="571499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1">
                <a:solidFill>
                  <a:srgbClr val="5C6A64"/>
                </a:solidFill>
                <a:latin typeface="Proxima Nova"/>
              </a:rPr>
              <a:t>Problem</a:t>
            </a:r>
          </a:p>
        </p:txBody>
      </p:sp>
      <p:sp>
        <p:nvSpPr>
          <p:cNvPr id="13" name="level-5"/>
          <p:cNvSpPr/>
          <p:nvPr/>
        </p:nvSpPr>
        <p:spPr>
          <a:xfrm>
            <a:off x="1627632" y="3438144"/>
            <a:ext cx="2779775" cy="571499"/>
          </a:xfrm>
          <a:prstGeom prst="rect">
            <a:avLst/>
          </a:prstGeom>
          <a:solidFill>
            <a:srgbClr val="D12A36"/>
          </a:solidFill>
          <a:ln>
            <a:noFill/>
          </a:ln>
        </p:spPr>
        <p:txBody>
          <a:bodyPr wrap="square" lIns="45720" tIns="18288" rIns="45720" bIns="18288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Fine-tuning • RAG • prompting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3438144"/>
            <a:ext cx="2880360" cy="571499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1">
                <a:solidFill>
                  <a:srgbClr val="5C6A64"/>
                </a:solidFill>
                <a:latin typeface="Proxima Nova"/>
              </a:rPr>
              <a:t>Existing solutions</a:t>
            </a:r>
          </a:p>
        </p:txBody>
      </p:sp>
      <p:sp>
        <p:nvSpPr>
          <p:cNvPr id="15" name="level-6"/>
          <p:cNvSpPr/>
          <p:nvPr/>
        </p:nvSpPr>
        <p:spPr>
          <a:xfrm>
            <a:off x="1920239" y="4073652"/>
            <a:ext cx="2194560" cy="571499"/>
          </a:xfrm>
          <a:prstGeom prst="rect">
            <a:avLst/>
          </a:prstGeom>
          <a:solidFill>
            <a:srgbClr val="B3202B"/>
          </a:solidFill>
          <a:ln>
            <a:noFill/>
          </a:ln>
        </p:spPr>
        <p:txBody>
          <a:bodyPr wrap="square" lIns="45720" tIns="18288" rIns="45720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Proxima Nova"/>
              </a:rPr>
              <a:t>What limitation remains?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073652"/>
            <a:ext cx="2880360" cy="571499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1">
                <a:solidFill>
                  <a:srgbClr val="5C6A64"/>
                </a:solidFill>
                <a:latin typeface="Proxima Nova"/>
              </a:rPr>
              <a:t>Research gap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What Is a Research Gap?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31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Weak idea of a gap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06105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“No paper matches my title”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92973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258318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Same problem, different words?</a:t>
            </a:r>
          </a:p>
        </p:txBody>
      </p:sp>
      <p:sp>
        <p:nvSpPr>
          <p:cNvPr id="13" name="panel-2"/>
          <p:cNvSpPr/>
          <p:nvPr/>
        </p:nvSpPr>
        <p:spPr>
          <a:xfrm>
            <a:off x="48006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8006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A real gap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196596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06105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Not sufficiently explored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283464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92973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258318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Not properly tested</a:t>
            </a:r>
          </a:p>
        </p:txBody>
      </p:sp>
      <p:sp>
        <p:nvSpPr>
          <p:cNvPr id="21" name="Oval 20"/>
          <p:cNvSpPr/>
          <p:nvPr/>
        </p:nvSpPr>
        <p:spPr>
          <a:xfrm>
            <a:off x="4983480" y="370332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798417"/>
            <a:ext cx="175564" cy="1755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58968" y="345186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Not yet explained or solved</a:t>
            </a:r>
          </a:p>
        </p:txBody>
      </p:sp>
      <p:sp>
        <p:nvSpPr>
          <p:cNvPr id="24" name="Oval 23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Six Ways to Find a Research Gap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32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flask" descr="flas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Methodological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240534"/>
            <a:ext cx="2353056" cy="374650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Another method never evaluated</a:t>
            </a:r>
          </a:p>
        </p:txBody>
      </p:sp>
      <p:sp>
        <p:nvSpPr>
          <p:cNvPr id="10" name="card-2"/>
          <p:cNvSpPr/>
          <p:nvPr/>
        </p:nvSpPr>
        <p:spPr>
          <a:xfrm>
            <a:off x="3267456" y="896112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5033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-database" descr="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31" y="1183599"/>
            <a:ext cx="266273" cy="266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95472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5472" y="1970658"/>
            <a:ext cx="2353056" cy="64452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A newer dataset untested</a:t>
            </a:r>
          </a:p>
        </p:txBody>
      </p:sp>
      <p:sp>
        <p:nvSpPr>
          <p:cNvPr id="15" name="card-3"/>
          <p:cNvSpPr/>
          <p:nvPr/>
        </p:nvSpPr>
        <p:spPr>
          <a:xfrm>
            <a:off x="6077712" y="896112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6059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industry" descr="industr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87" y="1183599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05728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Contextual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5728" y="1970658"/>
            <a:ext cx="2353056" cy="64452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Works in one industry only</a:t>
            </a:r>
          </a:p>
        </p:txBody>
      </p:sp>
      <p:sp>
        <p:nvSpPr>
          <p:cNvPr id="20" name="card-4"/>
          <p:cNvSpPr/>
          <p:nvPr/>
        </p:nvSpPr>
        <p:spPr>
          <a:xfrm>
            <a:off x="457200" y="2871215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080" y="303580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ruler" descr="rul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3158703"/>
            <a:ext cx="266273" cy="2662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5216" y="3621023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3945762"/>
            <a:ext cx="2353056" cy="64452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Accuracy only — no cost or fairness</a:t>
            </a:r>
          </a:p>
        </p:txBody>
      </p:sp>
      <p:sp>
        <p:nvSpPr>
          <p:cNvPr id="25" name="card-5"/>
          <p:cNvSpPr/>
          <p:nvPr/>
        </p:nvSpPr>
        <p:spPr>
          <a:xfrm>
            <a:off x="3267456" y="2871215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450336" y="303580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globe" descr="glob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231" y="315870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395472" y="3621023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Population / Geographic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95472" y="4215637"/>
            <a:ext cx="2353056" cy="37464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One region or group studied</a:t>
            </a:r>
          </a:p>
        </p:txBody>
      </p:sp>
      <p:sp>
        <p:nvSpPr>
          <p:cNvPr id="30" name="card-6"/>
          <p:cNvSpPr/>
          <p:nvPr/>
        </p:nvSpPr>
        <p:spPr>
          <a:xfrm>
            <a:off x="6077712" y="2871215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260592" y="303580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icon-rocket" descr="rocke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487" y="3158703"/>
            <a:ext cx="266273" cy="26627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05728" y="3621023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Practical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5728" y="3945762"/>
            <a:ext cx="2353056" cy="64452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Lab success, no real-world test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Finding Gaps Through Literature Comparison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33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1856231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Record each paper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7282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350008"/>
            <a:ext cx="201168" cy="201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3090672"/>
            <a:ext cx="19431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C6A64"/>
                </a:solidFill>
                <a:latin typeface="Proxima Nova"/>
              </a:rPr>
              <a:t>Problem • method • dataset • findings • limits</a:t>
            </a:r>
          </a:p>
        </p:txBody>
      </p:sp>
      <p:sp>
        <p:nvSpPr>
          <p:cNvPr id="9" name="step-2"/>
          <p:cNvSpPr/>
          <p:nvPr/>
        </p:nvSpPr>
        <p:spPr>
          <a:xfrm>
            <a:off x="2583179" y="1856231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Compare horizontally</a:t>
            </a:r>
          </a:p>
        </p:txBody>
      </p:sp>
      <p:sp>
        <p:nvSpPr>
          <p:cNvPr id="10" name="Oval 9"/>
          <p:cNvSpPr/>
          <p:nvPr/>
        </p:nvSpPr>
        <p:spPr>
          <a:xfrm>
            <a:off x="3380993" y="17282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1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350008"/>
            <a:ext cx="201168" cy="2011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37460" y="3090672"/>
            <a:ext cx="19431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C6A64"/>
                </a:solidFill>
                <a:latin typeface="Proxima Nova"/>
              </a:rPr>
              <a:t>Rows = papers, columns = dimensions</a:t>
            </a:r>
          </a:p>
        </p:txBody>
      </p:sp>
      <p:sp>
        <p:nvSpPr>
          <p:cNvPr id="13" name="step-3"/>
          <p:cNvSpPr/>
          <p:nvPr/>
        </p:nvSpPr>
        <p:spPr>
          <a:xfrm>
            <a:off x="4709159" y="1856231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Spot patterns</a:t>
            </a:r>
          </a:p>
        </p:txBody>
      </p:sp>
      <p:sp>
        <p:nvSpPr>
          <p:cNvPr id="14" name="Oval 13"/>
          <p:cNvSpPr/>
          <p:nvPr/>
        </p:nvSpPr>
        <p:spPr>
          <a:xfrm>
            <a:off x="5506974" y="17282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5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350008"/>
            <a:ext cx="201168" cy="2011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63440" y="3090672"/>
            <a:ext cx="19431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C6A64"/>
                </a:solidFill>
                <a:latin typeface="Proxima Nova"/>
              </a:rPr>
              <a:t>12 papers, one dataset?</a:t>
            </a:r>
          </a:p>
        </p:txBody>
      </p:sp>
      <p:sp>
        <p:nvSpPr>
          <p:cNvPr id="17" name="step-4"/>
          <p:cNvSpPr/>
          <p:nvPr/>
        </p:nvSpPr>
        <p:spPr>
          <a:xfrm>
            <a:off x="6835140" y="1856231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Name the gap</a:t>
            </a:r>
          </a:p>
        </p:txBody>
      </p:sp>
      <p:sp>
        <p:nvSpPr>
          <p:cNvPr id="18" name="Oval 17"/>
          <p:cNvSpPr/>
          <p:nvPr/>
        </p:nvSpPr>
        <p:spPr>
          <a:xfrm>
            <a:off x="7632953" y="172821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090672"/>
            <a:ext cx="19431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C6A64"/>
                </a:solidFill>
                <a:latin typeface="Proxima Nova"/>
              </a:rPr>
              <a:t>Nobody measures cost?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Use Limitations as Research Clues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34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“Limited dataset”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A possible direction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Verify in recent papers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A real gap?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Never copy “future work” as your gap — verify it first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From Research Gap to Research Question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35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344167"/>
            <a:ext cx="40005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344167"/>
            <a:ext cx="40005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Research gap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5457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exclamationtriangle" descr="exclamationtriang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44967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057400"/>
            <a:ext cx="32506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Recruitment systems rely on keyword matching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1469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exclamationtriangle" descr="exclamationtriang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40979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3017520"/>
            <a:ext cx="32506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Context is missed</a:t>
            </a:r>
          </a:p>
        </p:txBody>
      </p:sp>
      <p:sp>
        <p:nvSpPr>
          <p:cNvPr id="13" name="panel-2"/>
          <p:cNvSpPr/>
          <p:nvPr/>
        </p:nvSpPr>
        <p:spPr>
          <a:xfrm>
            <a:off x="4686300" y="1344167"/>
            <a:ext cx="40005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686300" y="1344167"/>
            <a:ext cx="40005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Research question</a:t>
            </a:r>
          </a:p>
        </p:txBody>
      </p:sp>
      <p:sp>
        <p:nvSpPr>
          <p:cNvPr id="15" name="Oval 14"/>
          <p:cNvSpPr/>
          <p:nvPr/>
        </p:nvSpPr>
        <p:spPr>
          <a:xfrm>
            <a:off x="4869180" y="235457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question" descr="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277" y="244967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4668" y="2057400"/>
            <a:ext cx="32506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Can semantic models beat keyword matching for candidate–job matching?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What Makes a Strong Research Question?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36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item-1"/>
          <p:cNvSpPr/>
          <p:nvPr/>
        </p:nvSpPr>
        <p:spPr>
          <a:xfrm>
            <a:off x="457200" y="1069848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5216" y="128016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069848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Clear</a:t>
            </a:r>
          </a:p>
        </p:txBody>
      </p:sp>
      <p:sp>
        <p:nvSpPr>
          <p:cNvPr id="8" name="item-2"/>
          <p:cNvSpPr/>
          <p:nvPr/>
        </p:nvSpPr>
        <p:spPr>
          <a:xfrm>
            <a:off x="457200" y="2039112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85216" y="2249424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039112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Focused</a:t>
            </a:r>
          </a:p>
        </p:txBody>
      </p:sp>
      <p:sp>
        <p:nvSpPr>
          <p:cNvPr id="11" name="item-3"/>
          <p:cNvSpPr/>
          <p:nvPr/>
        </p:nvSpPr>
        <p:spPr>
          <a:xfrm>
            <a:off x="457200" y="3008376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5216" y="3218688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008376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Researchable</a:t>
            </a:r>
          </a:p>
        </p:txBody>
      </p:sp>
      <p:sp>
        <p:nvSpPr>
          <p:cNvPr id="14" name="item-4"/>
          <p:cNvSpPr/>
          <p:nvPr/>
        </p:nvSpPr>
        <p:spPr>
          <a:xfrm>
            <a:off x="4645152" y="1069848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773168" y="128016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1069848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Feasible</a:t>
            </a:r>
          </a:p>
        </p:txBody>
      </p:sp>
      <p:sp>
        <p:nvSpPr>
          <p:cNvPr id="17" name="item-5"/>
          <p:cNvSpPr/>
          <p:nvPr/>
        </p:nvSpPr>
        <p:spPr>
          <a:xfrm>
            <a:off x="4645152" y="2039112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773168" y="2249424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039112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Potential contribution</a:t>
            </a:r>
          </a:p>
        </p:txBody>
      </p:sp>
      <p:sp>
        <p:nvSpPr>
          <p:cNvPr id="20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roxima Nova"/>
              </a:rPr>
              <a:t>Too broad: “Is AI useful in business?”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Novelty Does Not Mean Inventing Everything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37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lightbulb" descr="lightbulb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New method</a:t>
            </a:r>
          </a:p>
        </p:txBody>
      </p:sp>
      <p:sp>
        <p:nvSpPr>
          <p:cNvPr id="9" name="card-2"/>
          <p:cNvSpPr/>
          <p:nvPr/>
        </p:nvSpPr>
        <p:spPr>
          <a:xfrm>
            <a:off x="3267456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5033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puzzlepiece" descr="puzzlepie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31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95472" y="1645919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New combination</a:t>
            </a:r>
          </a:p>
        </p:txBody>
      </p:sp>
      <p:sp>
        <p:nvSpPr>
          <p:cNvPr id="13" name="card-3"/>
          <p:cNvSpPr/>
          <p:nvPr/>
        </p:nvSpPr>
        <p:spPr>
          <a:xfrm>
            <a:off x="6077712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6059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globe" descr="glo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87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5728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New domain</a:t>
            </a:r>
          </a:p>
        </p:txBody>
      </p:sp>
      <p:sp>
        <p:nvSpPr>
          <p:cNvPr id="17" name="card-4"/>
          <p:cNvSpPr/>
          <p:nvPr/>
        </p:nvSpPr>
        <p:spPr>
          <a:xfrm>
            <a:off x="457200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database" descr="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2838663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5216" y="3300984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New dataset</a:t>
            </a:r>
          </a:p>
        </p:txBody>
      </p:sp>
      <p:sp>
        <p:nvSpPr>
          <p:cNvPr id="21" name="card-5"/>
          <p:cNvSpPr/>
          <p:nvPr/>
        </p:nvSpPr>
        <p:spPr>
          <a:xfrm>
            <a:off x="3267456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450336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slidersh" descr="sliders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231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395472" y="3300984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New conditions</a:t>
            </a:r>
          </a:p>
        </p:txBody>
      </p:sp>
      <p:sp>
        <p:nvSpPr>
          <p:cNvPr id="25" name="card-6"/>
          <p:cNvSpPr/>
          <p:nvPr/>
        </p:nvSpPr>
        <p:spPr>
          <a:xfrm>
            <a:off x="6077712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260592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sitemap" descr="sitem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487" y="283866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05728" y="3300984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New framework</a:t>
            </a:r>
          </a:p>
        </p:txBody>
      </p:sp>
      <p:sp>
        <p:nvSpPr>
          <p:cNvPr id="29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on-lightbulb" descr="lightbulb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roxima Nova"/>
              </a:rPr>
              <a:t>Novelty ≠ inventing everything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2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38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1" i="0">
                <a:solidFill>
                  <a:srgbClr val="1C2A26"/>
                </a:solidFill>
                <a:latin typeface="Proxima Nova"/>
              </a:rPr>
              <a:t>Twelve papers use the same benchmark and none report computational cost. What does this most likely reveal?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 proven, settled result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An evaluation gap worth investigating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 weak research area</a:t>
            </a:r>
          </a:p>
        </p:txBody>
      </p:sp>
      <p:sp>
        <p:nvSpPr>
          <p:cNvPr id="15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 reason to avoid the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3708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FFE3E5"/>
                </a:solidFill>
                <a:latin typeface="Proxima Nova"/>
              </a:rPr>
              <a:t>Type your answer in the chat — A, B, C or 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2 — Answer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39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1" i="0">
                <a:solidFill>
                  <a:srgbClr val="1C2A26"/>
                </a:solidFill>
                <a:latin typeface="Proxima Nova"/>
              </a:rPr>
              <a:t>Twelve papers use the same benchmark and none report computational cost. What does this most likely reveal?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A proven, settled result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5333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oxima Nova"/>
              </a:rPr>
              <a:t>An evaluation gap worth investigating</a:t>
            </a:r>
          </a:p>
        </p:txBody>
      </p:sp>
      <p:pic>
        <p:nvPicPr>
          <p:cNvPr id="12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2487168"/>
            <a:ext cx="329184" cy="329184"/>
          </a:xfrm>
          <a:prstGeom prst="rect">
            <a:avLst/>
          </a:prstGeom>
        </p:spPr>
      </p:pic>
      <p:sp>
        <p:nvSpPr>
          <p:cNvPr id="13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A weak research area</a:t>
            </a:r>
          </a:p>
        </p:txBody>
      </p:sp>
      <p:sp>
        <p:nvSpPr>
          <p:cNvPr id="16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A reason to avoid the topic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431596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E3E5"/>
                </a:solidFill>
                <a:latin typeface="Proxima Nova"/>
              </a:rPr>
              <a:t>Why? </a:t>
            </a:r>
            <a:r>
              <a:rPr sz="1500" b="0" i="0">
                <a:solidFill>
                  <a:srgbClr val="FFFFFF"/>
                </a:solidFill>
                <a:latin typeface="Proxima Nova"/>
              </a:rPr>
              <a:t>Comparing studies side by side exposes what nobody measures. Verify it against recent literature.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1783080"/>
            <a:ext cx="7680960" cy="2011680"/>
          </a:xfrm>
        </p:spPr>
        <p:txBody>
          <a:bodyPr wrap="square" lIns="0" tIns="0" rIns="0" bIns="0" anchor="t"/>
          <a:lstStyle/>
          <a:p>
            <a:pPr algn="l"/>
            <a:r>
              <a:rPr sz="3100" b="1" i="0">
                <a:solidFill>
                  <a:srgbClr val="FFFFFF"/>
                </a:solidFill>
                <a:latin typeface="Proxima Nova"/>
              </a:rPr>
              <a:t>From Research Questions to Research Objectives, Hypotheses and Variables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40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inutes-chip"/>
          <p:cNvSpPr/>
          <p:nvPr/>
        </p:nvSpPr>
        <p:spPr>
          <a:xfrm>
            <a:off x="630936" y="118872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endParaRPr sz="1500" b="1" i="0" dirty="0">
              <a:solidFill>
                <a:srgbClr val="1C2A26"/>
              </a:solidFill>
              <a:latin typeface="Proxima Nov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093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272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362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8541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9631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0720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18104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900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3989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50791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6168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72583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8348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9437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0527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1616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From Research Question to Research Objective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41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824227"/>
            <a:ext cx="4000500" cy="189280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824227"/>
            <a:ext cx="40005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Research question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83463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question" descr="quest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92973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537459"/>
            <a:ext cx="32506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“What do I want to find out?”</a:t>
            </a:r>
          </a:p>
        </p:txBody>
      </p:sp>
      <p:sp>
        <p:nvSpPr>
          <p:cNvPr id="10" name="panel-2"/>
          <p:cNvSpPr/>
          <p:nvPr/>
        </p:nvSpPr>
        <p:spPr>
          <a:xfrm>
            <a:off x="4686300" y="1824227"/>
            <a:ext cx="4000500" cy="189280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anel-head-2"/>
          <p:cNvSpPr/>
          <p:nvPr/>
        </p:nvSpPr>
        <p:spPr>
          <a:xfrm>
            <a:off x="4686300" y="1824227"/>
            <a:ext cx="40005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Research objective</a:t>
            </a:r>
          </a:p>
        </p:txBody>
      </p:sp>
      <p:sp>
        <p:nvSpPr>
          <p:cNvPr id="12" name="Oval 11"/>
          <p:cNvSpPr/>
          <p:nvPr/>
        </p:nvSpPr>
        <p:spPr>
          <a:xfrm>
            <a:off x="4869180" y="283463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-bullseye" descr="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277" y="2929737"/>
            <a:ext cx="175564" cy="1755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4668" y="2537459"/>
            <a:ext cx="32506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“What will I do to find it out?”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Characteristics of a Strong Objective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42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search" descr="search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1650492" cy="27470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Identify</a:t>
            </a:r>
          </a:p>
        </p:txBody>
      </p:sp>
      <p:sp>
        <p:nvSpPr>
          <p:cNvPr id="9" name="card-2"/>
          <p:cNvSpPr/>
          <p:nvPr/>
        </p:nvSpPr>
        <p:spPr>
          <a:xfrm>
            <a:off x="2564892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74777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chartbar" descr="chartb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667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92908" y="1645919"/>
            <a:ext cx="1650492" cy="27470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Analyze</a:t>
            </a:r>
          </a:p>
        </p:txBody>
      </p:sp>
      <p:sp>
        <p:nvSpPr>
          <p:cNvPr id="13" name="card-3"/>
          <p:cNvSpPr/>
          <p:nvPr/>
        </p:nvSpPr>
        <p:spPr>
          <a:xfrm>
            <a:off x="4672584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55464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equals" descr="equal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359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00600" y="1645919"/>
            <a:ext cx="1650492" cy="27470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Compare</a:t>
            </a:r>
          </a:p>
        </p:txBody>
      </p:sp>
      <p:sp>
        <p:nvSpPr>
          <p:cNvPr id="17" name="card-4"/>
          <p:cNvSpPr/>
          <p:nvPr/>
        </p:nvSpPr>
        <p:spPr>
          <a:xfrm>
            <a:off x="6780276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6315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clipboardcheck" descr="clipboard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051" y="1183599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08292" y="1645919"/>
            <a:ext cx="1650492" cy="27470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Evaluate</a:t>
            </a:r>
          </a:p>
        </p:txBody>
      </p:sp>
      <p:sp>
        <p:nvSpPr>
          <p:cNvPr id="21" name="card-5"/>
          <p:cNvSpPr/>
          <p:nvPr/>
        </p:nvSpPr>
        <p:spPr>
          <a:xfrm>
            <a:off x="457200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wrench" descr="wren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75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5216" y="3300984"/>
            <a:ext cx="1650492" cy="27470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Develop</a:t>
            </a:r>
          </a:p>
        </p:txBody>
      </p:sp>
      <p:sp>
        <p:nvSpPr>
          <p:cNvPr id="25" name="card-6"/>
          <p:cNvSpPr/>
          <p:nvPr/>
        </p:nvSpPr>
        <p:spPr>
          <a:xfrm>
            <a:off x="2564892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747772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checkcircle" descr="checkcirc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667" y="283866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692908" y="3300984"/>
            <a:ext cx="1650492" cy="27470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Validate</a:t>
            </a:r>
          </a:p>
        </p:txBody>
      </p:sp>
      <p:sp>
        <p:nvSpPr>
          <p:cNvPr id="29" name="card-7"/>
          <p:cNvSpPr/>
          <p:nvPr/>
        </p:nvSpPr>
        <p:spPr>
          <a:xfrm>
            <a:off x="4672584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855464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icon-microscope" descr="microscop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8359" y="2838663"/>
            <a:ext cx="266273" cy="2662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800600" y="3300984"/>
            <a:ext cx="1650492" cy="5128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Investigate</a:t>
            </a:r>
          </a:p>
        </p:txBody>
      </p:sp>
      <p:sp>
        <p:nvSpPr>
          <p:cNvPr id="33" name="card-8"/>
          <p:cNvSpPr/>
          <p:nvPr/>
        </p:nvSpPr>
        <p:spPr>
          <a:xfrm>
            <a:off x="6780276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963156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con-ruler" descr="ruler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051" y="2838663"/>
            <a:ext cx="266273" cy="2662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08292" y="3300984"/>
            <a:ext cx="1650492" cy="27470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Measure</a:t>
            </a:r>
          </a:p>
        </p:txBody>
      </p:sp>
      <p:sp>
        <p:nvSpPr>
          <p:cNvPr id="37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icon-times" descr="times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oxima Nova"/>
              </a:rPr>
              <a:t>Avoid “To understand AI.” Can you measure it?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Research Question and Objectives Must Align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43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02412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02412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Misaligned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3453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12963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73736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Question → accuracy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9466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08975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269748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Objectives → user satisfaction</a:t>
            </a:r>
          </a:p>
        </p:txBody>
      </p:sp>
      <p:sp>
        <p:nvSpPr>
          <p:cNvPr id="13" name="panel-2"/>
          <p:cNvSpPr/>
          <p:nvPr/>
        </p:nvSpPr>
        <p:spPr>
          <a:xfrm>
            <a:off x="4800600" y="102412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800600" y="102412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Aligned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03453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12963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173736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Question → accuracy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299466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08975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269748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Objectives → measure accuracy</a:t>
            </a:r>
          </a:p>
        </p:txBody>
      </p:sp>
      <p:sp>
        <p:nvSpPr>
          <p:cNvPr id="21" name="Oval 20"/>
          <p:cNvSpPr/>
          <p:nvPr/>
        </p:nvSpPr>
        <p:spPr>
          <a:xfrm>
            <a:off x="4334256" y="2212848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  <p:sp>
        <p:nvSpPr>
          <p:cNvPr id="22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question" descr="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roxima Nova"/>
              </a:rPr>
              <a:t>Test: does each objective help answer the question?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Primary and Secondary Objectives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44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rimary"/>
          <p:cNvSpPr/>
          <p:nvPr/>
        </p:nvSpPr>
        <p:spPr>
          <a:xfrm>
            <a:off x="1280160" y="941832"/>
            <a:ext cx="6583680" cy="100584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con-bullseye" descr="bullsey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216152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03120" y="941832"/>
            <a:ext cx="5577840" cy="10058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roxima Nova"/>
              </a:rPr>
              <a:t>Develop and evaluate an explainable AI model for financial risk prediction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58284" y="1947672"/>
            <a:ext cx="27432" cy="274320"/>
          </a:xfrm>
          <a:prstGeom prst="rect">
            <a:avLst/>
          </a:prstGeom>
          <a:solidFill>
            <a:srgbClr val="D9D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econdary-1"/>
          <p:cNvSpPr/>
          <p:nvPr/>
        </p:nvSpPr>
        <p:spPr>
          <a:xfrm>
            <a:off x="457200" y="2496312"/>
            <a:ext cx="1920240" cy="2057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4360" y="2633472"/>
            <a:ext cx="384048" cy="384048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36391"/>
            <a:ext cx="1737360" cy="1325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00" b="1" i="0">
                <a:solidFill>
                  <a:srgbClr val="1C2A26"/>
                </a:solidFill>
                <a:latin typeface="Proxima Nova"/>
              </a:rPr>
              <a:t>Compare with baseline models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8284" y="1947672"/>
            <a:ext cx="27432" cy="274320"/>
          </a:xfrm>
          <a:prstGeom prst="rect">
            <a:avLst/>
          </a:prstGeom>
          <a:solidFill>
            <a:srgbClr val="D9D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econdary-2"/>
          <p:cNvSpPr/>
          <p:nvPr/>
        </p:nvSpPr>
        <p:spPr>
          <a:xfrm>
            <a:off x="2560320" y="2496312"/>
            <a:ext cx="1920240" cy="2057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697480" y="2633472"/>
            <a:ext cx="384048" cy="384048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136391"/>
            <a:ext cx="1737360" cy="1325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00" b="1" i="0">
                <a:solidFill>
                  <a:srgbClr val="1C2A26"/>
                </a:solidFill>
                <a:latin typeface="Proxima Nova"/>
              </a:rPr>
              <a:t>Evaluate with multiple 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8284" y="1947672"/>
            <a:ext cx="27432" cy="274320"/>
          </a:xfrm>
          <a:prstGeom prst="rect">
            <a:avLst/>
          </a:prstGeom>
          <a:solidFill>
            <a:srgbClr val="D9D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secondary-3"/>
          <p:cNvSpPr/>
          <p:nvPr/>
        </p:nvSpPr>
        <p:spPr>
          <a:xfrm>
            <a:off x="4663440" y="2496312"/>
            <a:ext cx="1920240" cy="2057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800600" y="2633472"/>
            <a:ext cx="384048" cy="384048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136391"/>
            <a:ext cx="1737360" cy="1325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00" b="1" i="0">
                <a:solidFill>
                  <a:srgbClr val="1C2A26"/>
                </a:solidFill>
                <a:latin typeface="Proxima Nova"/>
              </a:rPr>
              <a:t>Analyze interpretability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8284" y="1947672"/>
            <a:ext cx="27432" cy="274320"/>
          </a:xfrm>
          <a:prstGeom prst="rect">
            <a:avLst/>
          </a:prstGeom>
          <a:solidFill>
            <a:srgbClr val="D9D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econdary-4"/>
          <p:cNvSpPr/>
          <p:nvPr/>
        </p:nvSpPr>
        <p:spPr>
          <a:xfrm>
            <a:off x="6766560" y="2496312"/>
            <a:ext cx="1920240" cy="2057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903720" y="2633472"/>
            <a:ext cx="384048" cy="384048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136391"/>
            <a:ext cx="1737360" cy="1325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00" b="1" i="0">
                <a:solidFill>
                  <a:srgbClr val="1C2A26"/>
                </a:solidFill>
                <a:latin typeface="Proxima Nova"/>
              </a:rPr>
              <a:t>Test robustness across market conditions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1">
                <a:solidFill>
                  <a:srgbClr val="5C6A64"/>
                </a:solidFill>
                <a:latin typeface="Proxima Nova"/>
              </a:rPr>
              <a:t>Secondary objectives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What Is a Research Hypothesis?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45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tag"/>
          <p:cNvSpPr/>
          <p:nvPr/>
        </p:nvSpPr>
        <p:spPr>
          <a:xfrm>
            <a:off x="457200" y="987552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Proxima Nova"/>
              </a:rPr>
              <a:t>HYPOTHESIS</a:t>
            </a:r>
          </a:p>
        </p:txBody>
      </p:sp>
      <p:sp>
        <p:nvSpPr>
          <p:cNvPr id="6" name="example-box"/>
          <p:cNvSpPr/>
          <p:nvPr/>
        </p:nvSpPr>
        <p:spPr>
          <a:xfrm>
            <a:off x="457200" y="1463040"/>
            <a:ext cx="8229600" cy="201168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7680960" cy="1874519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600" b="1" i="0">
                <a:solidFill>
                  <a:srgbClr val="1C2A26"/>
                </a:solidFill>
                <a:latin typeface="Proxima Nova"/>
              </a:rPr>
              <a:t>“A semantic matching model will achieve higher matching accuracy than a keyword-based approach.”</a:t>
            </a:r>
          </a:p>
        </p:txBody>
      </p:sp>
      <p:sp>
        <p:nvSpPr>
          <p:cNvPr id="8" name="takeaway"/>
          <p:cNvSpPr/>
          <p:nvPr/>
        </p:nvSpPr>
        <p:spPr>
          <a:xfrm>
            <a:off x="457200" y="3639312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Proxima Nova"/>
              </a:rPr>
              <a:t>Not an opinion — it must be testable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Null and Alternative Hypotheses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46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824227"/>
            <a:ext cx="3886200" cy="189280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82422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H₀  Null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83463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equals" descr="equal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92973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537459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No significant difference between the two systems</a:t>
            </a:r>
          </a:p>
        </p:txBody>
      </p:sp>
      <p:sp>
        <p:nvSpPr>
          <p:cNvPr id="10" name="panel-2"/>
          <p:cNvSpPr/>
          <p:nvPr/>
        </p:nvSpPr>
        <p:spPr>
          <a:xfrm>
            <a:off x="4800600" y="1824227"/>
            <a:ext cx="3886200" cy="189280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anel-head-2"/>
          <p:cNvSpPr/>
          <p:nvPr/>
        </p:nvSpPr>
        <p:spPr>
          <a:xfrm>
            <a:off x="4800600" y="182422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H₁  Alternative</a:t>
            </a:r>
          </a:p>
        </p:txBody>
      </p:sp>
      <p:sp>
        <p:nvSpPr>
          <p:cNvPr id="12" name="Oval 11"/>
          <p:cNvSpPr/>
          <p:nvPr/>
        </p:nvSpPr>
        <p:spPr>
          <a:xfrm>
            <a:off x="4983480" y="283463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-notequal" descr="notequ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929737"/>
            <a:ext cx="175564" cy="1755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58968" y="2537459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A significant difference exists</a:t>
            </a:r>
          </a:p>
        </p:txBody>
      </p:sp>
      <p:sp>
        <p:nvSpPr>
          <p:cNvPr id="15" name="Oval 14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Identify Your Research Variables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47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344167"/>
            <a:ext cx="40005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344167"/>
            <a:ext cx="40005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Proxima Nova"/>
              </a:rPr>
              <a:t>Independent variable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5457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slidersh" descr="slidersh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44967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057400"/>
            <a:ext cx="32506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What we change or compare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1469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slidersh" descr="slidersh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40979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3017520"/>
            <a:ext cx="32506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e.g. model type</a:t>
            </a:r>
          </a:p>
        </p:txBody>
      </p:sp>
      <p:sp>
        <p:nvSpPr>
          <p:cNvPr id="13" name="panel-2"/>
          <p:cNvSpPr/>
          <p:nvPr/>
        </p:nvSpPr>
        <p:spPr>
          <a:xfrm>
            <a:off x="4686300" y="1344167"/>
            <a:ext cx="40005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686300" y="1344167"/>
            <a:ext cx="40005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Proxima Nova"/>
              </a:rPr>
              <a:t>Dependent variable</a:t>
            </a:r>
          </a:p>
        </p:txBody>
      </p:sp>
      <p:sp>
        <p:nvSpPr>
          <p:cNvPr id="15" name="Oval 14"/>
          <p:cNvSpPr/>
          <p:nvPr/>
        </p:nvSpPr>
        <p:spPr>
          <a:xfrm>
            <a:off x="4869180" y="235457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chartline" descr="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277" y="244967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4668" y="2057400"/>
            <a:ext cx="32506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What we observe or measure</a:t>
            </a:r>
          </a:p>
        </p:txBody>
      </p:sp>
      <p:sp>
        <p:nvSpPr>
          <p:cNvPr id="18" name="Oval 17"/>
          <p:cNvSpPr/>
          <p:nvPr/>
        </p:nvSpPr>
        <p:spPr>
          <a:xfrm>
            <a:off x="4869180" y="331469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chartline" descr="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277" y="340979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44668" y="3017520"/>
            <a:ext cx="32506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e.g. accuracy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Example — Variables in an AI Study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48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slidersh" descr="slidersh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1639884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171700"/>
            <a:ext cx="1650492" cy="5128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Independent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702814"/>
            <a:ext cx="1650492" cy="81305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Model type: ML • DL • LLM-assisted</a:t>
            </a:r>
          </a:p>
        </p:txBody>
      </p:sp>
      <p:sp>
        <p:nvSpPr>
          <p:cNvPr id="10" name="card-2"/>
          <p:cNvSpPr/>
          <p:nvPr/>
        </p:nvSpPr>
        <p:spPr>
          <a:xfrm>
            <a:off x="2564892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747772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-chartline" descr="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612" y="1639884"/>
            <a:ext cx="313822" cy="3138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92908" y="2171700"/>
            <a:ext cx="1650492" cy="27470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Dependent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2908" y="2464689"/>
            <a:ext cx="1650492" cy="105117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Accuracy • MAE • directional accuracy</a:t>
            </a:r>
          </a:p>
        </p:txBody>
      </p:sp>
      <p:sp>
        <p:nvSpPr>
          <p:cNvPr id="15" name="card-3"/>
          <p:cNvSpPr/>
          <p:nvPr/>
        </p:nvSpPr>
        <p:spPr>
          <a:xfrm>
            <a:off x="4672584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55464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anchor" descr="ancho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04" y="1639884"/>
            <a:ext cx="313822" cy="31382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00600" y="2171700"/>
            <a:ext cx="1650492" cy="27470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464689"/>
            <a:ext cx="1650492" cy="105117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Dataset • features • train-test split</a:t>
            </a:r>
          </a:p>
        </p:txBody>
      </p:sp>
      <p:sp>
        <p:nvSpPr>
          <p:cNvPr id="20" name="card-4"/>
          <p:cNvSpPr/>
          <p:nvPr/>
        </p:nvSpPr>
        <p:spPr>
          <a:xfrm>
            <a:off x="6780276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963156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clock" descr="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996" y="1639884"/>
            <a:ext cx="313822" cy="31382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08292" y="2171700"/>
            <a:ext cx="1650492" cy="27470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8292" y="2464689"/>
            <a:ext cx="1650492" cy="105117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Evaluation period and procedure</a:t>
            </a:r>
          </a:p>
        </p:txBody>
      </p:sp>
      <p:sp>
        <p:nvSpPr>
          <p:cNvPr id="25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con-exclamationtriangle" descr="exclamationtriang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roxima Nova"/>
              </a:rPr>
              <a:t>Change everything at once and you learn nothing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Operationalizing Abstract Concepts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49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256032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“User satisfaction”</a:t>
            </a:r>
          </a:p>
        </p:txBody>
      </p:sp>
      <p:sp>
        <p:nvSpPr>
          <p:cNvPr id="6" name="Oval 5"/>
          <p:cNvSpPr/>
          <p:nvPr/>
        </p:nvSpPr>
        <p:spPr>
          <a:xfrm>
            <a:off x="160934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3291840" y="2039112"/>
            <a:ext cx="256032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Convert to indicators</a:t>
            </a:r>
          </a:p>
        </p:txBody>
      </p:sp>
      <p:sp>
        <p:nvSpPr>
          <p:cNvPr id="9" name="Oval 8"/>
          <p:cNvSpPr/>
          <p:nvPr/>
        </p:nvSpPr>
        <p:spPr>
          <a:xfrm>
            <a:off x="444398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6126480" y="2039112"/>
            <a:ext cx="256032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Proxima Nova"/>
              </a:rPr>
              <a:t>Likert scale • task completion • repeat use</a:t>
            </a:r>
          </a:p>
        </p:txBody>
      </p:sp>
      <p:sp>
        <p:nvSpPr>
          <p:cNvPr id="12" name="Oval 11"/>
          <p:cNvSpPr/>
          <p:nvPr/>
        </p:nvSpPr>
        <p:spPr>
          <a:xfrm>
            <a:off x="7278624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If it is not measurable, it is not yet researchable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The Complete Research Design Chain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50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139903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Problem</a:t>
            </a:r>
          </a:p>
        </p:txBody>
      </p:sp>
      <p:sp>
        <p:nvSpPr>
          <p:cNvPr id="6" name="Oval 5"/>
          <p:cNvSpPr/>
          <p:nvPr/>
        </p:nvSpPr>
        <p:spPr>
          <a:xfrm>
            <a:off x="1042416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80136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157984" y="139903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Gap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180136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3858768" y="139903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Question</a:t>
            </a:r>
          </a:p>
        </p:txBody>
      </p:sp>
      <p:sp>
        <p:nvSpPr>
          <p:cNvPr id="12" name="Oval 11"/>
          <p:cNvSpPr/>
          <p:nvPr/>
        </p:nvSpPr>
        <p:spPr>
          <a:xfrm>
            <a:off x="4443984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180136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5559552" y="139903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Objective</a:t>
            </a:r>
          </a:p>
        </p:txBody>
      </p:sp>
      <p:sp>
        <p:nvSpPr>
          <p:cNvPr id="15" name="Oval 14"/>
          <p:cNvSpPr/>
          <p:nvPr/>
        </p:nvSpPr>
        <p:spPr>
          <a:xfrm>
            <a:off x="6144768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pic>
        <p:nvPicPr>
          <p:cNvPr id="16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801368"/>
            <a:ext cx="201168" cy="201168"/>
          </a:xfrm>
          <a:prstGeom prst="rect">
            <a:avLst/>
          </a:prstGeom>
        </p:spPr>
      </p:pic>
      <p:sp>
        <p:nvSpPr>
          <p:cNvPr id="17" name="step-5"/>
          <p:cNvSpPr/>
          <p:nvPr/>
        </p:nvSpPr>
        <p:spPr>
          <a:xfrm>
            <a:off x="7260336" y="139903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Hypothesis</a:t>
            </a:r>
          </a:p>
        </p:txBody>
      </p:sp>
      <p:sp>
        <p:nvSpPr>
          <p:cNvPr id="18" name="Oval 17"/>
          <p:cNvSpPr/>
          <p:nvPr/>
        </p:nvSpPr>
        <p:spPr>
          <a:xfrm>
            <a:off x="7845552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step-6"/>
          <p:cNvSpPr/>
          <p:nvPr/>
        </p:nvSpPr>
        <p:spPr>
          <a:xfrm>
            <a:off x="1307592" y="2862072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Variables</a:t>
            </a:r>
          </a:p>
        </p:txBody>
      </p:sp>
      <p:sp>
        <p:nvSpPr>
          <p:cNvPr id="20" name="Oval 19"/>
          <p:cNvSpPr/>
          <p:nvPr/>
        </p:nvSpPr>
        <p:spPr>
          <a:xfrm>
            <a:off x="1892807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6</a:t>
            </a:r>
          </a:p>
        </p:txBody>
      </p:sp>
      <p:pic>
        <p:nvPicPr>
          <p:cNvPr id="21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32" y="3264408"/>
            <a:ext cx="201168" cy="201168"/>
          </a:xfrm>
          <a:prstGeom prst="rect">
            <a:avLst/>
          </a:prstGeom>
        </p:spPr>
      </p:pic>
      <p:sp>
        <p:nvSpPr>
          <p:cNvPr id="22" name="step-7"/>
          <p:cNvSpPr/>
          <p:nvPr/>
        </p:nvSpPr>
        <p:spPr>
          <a:xfrm>
            <a:off x="3008376" y="2862072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Measurement</a:t>
            </a:r>
          </a:p>
        </p:txBody>
      </p:sp>
      <p:sp>
        <p:nvSpPr>
          <p:cNvPr id="23" name="Oval 22"/>
          <p:cNvSpPr/>
          <p:nvPr/>
        </p:nvSpPr>
        <p:spPr>
          <a:xfrm>
            <a:off x="3593592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7</a:t>
            </a:r>
          </a:p>
        </p:txBody>
      </p:sp>
      <p:pic>
        <p:nvPicPr>
          <p:cNvPr id="24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3264408"/>
            <a:ext cx="201168" cy="201168"/>
          </a:xfrm>
          <a:prstGeom prst="rect">
            <a:avLst/>
          </a:prstGeom>
        </p:spPr>
      </p:pic>
      <p:sp>
        <p:nvSpPr>
          <p:cNvPr id="25" name="step-8"/>
          <p:cNvSpPr/>
          <p:nvPr/>
        </p:nvSpPr>
        <p:spPr>
          <a:xfrm>
            <a:off x="4709160" y="2862072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Methodology</a:t>
            </a:r>
          </a:p>
        </p:txBody>
      </p:sp>
      <p:sp>
        <p:nvSpPr>
          <p:cNvPr id="26" name="Oval 25"/>
          <p:cNvSpPr/>
          <p:nvPr/>
        </p:nvSpPr>
        <p:spPr>
          <a:xfrm>
            <a:off x="5294376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8</a:t>
            </a:r>
          </a:p>
        </p:txBody>
      </p:sp>
      <p:pic>
        <p:nvPicPr>
          <p:cNvPr id="2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264408"/>
            <a:ext cx="201168" cy="201168"/>
          </a:xfrm>
          <a:prstGeom prst="rect">
            <a:avLst/>
          </a:prstGeom>
        </p:spPr>
      </p:pic>
      <p:sp>
        <p:nvSpPr>
          <p:cNvPr id="28" name="step-9"/>
          <p:cNvSpPr/>
          <p:nvPr/>
        </p:nvSpPr>
        <p:spPr>
          <a:xfrm>
            <a:off x="6409944" y="2862072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Proxima Nova"/>
              </a:rPr>
              <a:t>Evidence</a:t>
            </a:r>
          </a:p>
        </p:txBody>
      </p:sp>
      <p:sp>
        <p:nvSpPr>
          <p:cNvPr id="29" name="Oval 28"/>
          <p:cNvSpPr/>
          <p:nvPr/>
        </p:nvSpPr>
        <p:spPr>
          <a:xfrm>
            <a:off x="6995160" y="2734056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If one link breaks, the whole chain is hard to defend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3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51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Which research objective is best written?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To understand AI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To learn about recruitment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To evaluate the impact of an AI recommender on candidate–job matching accuracy</a:t>
            </a:r>
          </a:p>
        </p:txBody>
      </p:sp>
      <p:sp>
        <p:nvSpPr>
          <p:cNvPr id="15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To explore technology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3708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FFE3E5"/>
                </a:solidFill>
                <a:latin typeface="Proxima Nova"/>
              </a:rPr>
              <a:t>Type your answer in the chat — A, B, C or 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3 — Answer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52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Which research objective is best written?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To understand AI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To learn about recruitment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5333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oxima Nova"/>
              </a:rPr>
              <a:t>To evaluate the impact of an AI recommender on candidate–job matching accuracy</a:t>
            </a:r>
          </a:p>
        </p:txBody>
      </p:sp>
      <p:pic>
        <p:nvPicPr>
          <p:cNvPr id="15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3054096"/>
            <a:ext cx="329184" cy="329184"/>
          </a:xfrm>
          <a:prstGeom prst="rect">
            <a:avLst/>
          </a:prstGeom>
        </p:spPr>
      </p:pic>
      <p:sp>
        <p:nvSpPr>
          <p:cNvPr id="16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To explore technology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431596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E3E5"/>
                </a:solidFill>
                <a:latin typeface="Proxima Nova"/>
              </a:rPr>
              <a:t>Why? </a:t>
            </a:r>
            <a:r>
              <a:rPr sz="1500" b="0" i="0">
                <a:solidFill>
                  <a:srgbClr val="FFFFFF"/>
                </a:solidFill>
                <a:latin typeface="Proxima Nova"/>
              </a:rPr>
              <a:t>It starts with an action verb and can actually be measured.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1783080"/>
            <a:ext cx="7680960" cy="201168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Proxima Nova"/>
              </a:rPr>
              <a:t>Choosing the Right Research Methodology and Research Design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53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inutes-chip"/>
          <p:cNvSpPr/>
          <p:nvPr/>
        </p:nvSpPr>
        <p:spPr>
          <a:xfrm>
            <a:off x="630936" y="118872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endParaRPr sz="1500" b="1" i="0" dirty="0">
              <a:solidFill>
                <a:srgbClr val="1C2A26"/>
              </a:solidFill>
              <a:latin typeface="Proxima Nov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093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272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362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8541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9631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0720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18104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900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3989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50791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6168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72583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8348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9437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0527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1616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Methodology Is a Research Decision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54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914400"/>
            <a:ext cx="3886200" cy="3712463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914400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Tools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37943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tools" descr="tool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1933041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627632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Python • TensorFlow • GPT • SQL</a:t>
            </a:r>
          </a:p>
        </p:txBody>
      </p:sp>
      <p:sp>
        <p:nvSpPr>
          <p:cNvPr id="10" name="panel-2"/>
          <p:cNvSpPr/>
          <p:nvPr/>
        </p:nvSpPr>
        <p:spPr>
          <a:xfrm>
            <a:off x="4800600" y="914400"/>
            <a:ext cx="3886200" cy="3712463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anel-head-2"/>
          <p:cNvSpPr/>
          <p:nvPr/>
        </p:nvSpPr>
        <p:spPr>
          <a:xfrm>
            <a:off x="4800600" y="914400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Methodology</a:t>
            </a:r>
          </a:p>
        </p:txBody>
      </p:sp>
      <p:sp>
        <p:nvSpPr>
          <p:cNvPr id="12" name="Oval 11"/>
          <p:cNvSpPr/>
          <p:nvPr/>
        </p:nvSpPr>
        <p:spPr>
          <a:xfrm>
            <a:off x="4983480" y="1837943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-route" descr="rou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1933041"/>
            <a:ext cx="175564" cy="1755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58968" y="1627632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What evidence is needed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62432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route" descr="rou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719425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2414016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How to collect it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341071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route" descr="rou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505809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3200400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How to analyze it</a:t>
            </a:r>
          </a:p>
        </p:txBody>
      </p:sp>
      <p:sp>
        <p:nvSpPr>
          <p:cNvPr id="21" name="Oval 20"/>
          <p:cNvSpPr/>
          <p:nvPr/>
        </p:nvSpPr>
        <p:spPr>
          <a:xfrm>
            <a:off x="4983480" y="419709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route" descr="rou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4292193"/>
            <a:ext cx="175564" cy="1755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58968" y="3986784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Why these choices fit</a:t>
            </a:r>
          </a:p>
        </p:txBody>
      </p:sp>
      <p:sp>
        <p:nvSpPr>
          <p:cNvPr id="24" name="Oval 23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The Three Broad Research Approaches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55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1330451"/>
            <a:ext cx="2609088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chartbar" descr="chartba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1639884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171700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Quantitative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96439"/>
            <a:ext cx="2353056" cy="101942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Measurable, numerical data</a:t>
            </a:r>
          </a:p>
        </p:txBody>
      </p:sp>
      <p:sp>
        <p:nvSpPr>
          <p:cNvPr id="10" name="card-2"/>
          <p:cNvSpPr/>
          <p:nvPr/>
        </p:nvSpPr>
        <p:spPr>
          <a:xfrm>
            <a:off x="3267456" y="1330451"/>
            <a:ext cx="2609088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50336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-comments" descr="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176" y="1639884"/>
            <a:ext cx="313822" cy="3138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95472" y="2171700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Qualitative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5472" y="2496439"/>
            <a:ext cx="2353056" cy="101942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Meanings, experiences, processes</a:t>
            </a:r>
          </a:p>
        </p:txBody>
      </p:sp>
      <p:sp>
        <p:nvSpPr>
          <p:cNvPr id="15" name="card-3"/>
          <p:cNvSpPr/>
          <p:nvPr/>
        </p:nvSpPr>
        <p:spPr>
          <a:xfrm>
            <a:off x="6077712" y="1330451"/>
            <a:ext cx="2609088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60592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puzzlepiece" descr="puzzlepiec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432" y="1639884"/>
            <a:ext cx="313822" cy="31382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05728" y="2171700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Mixed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5728" y="2496439"/>
            <a:ext cx="2353056" cy="101942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Both, integrated on purpose</a:t>
            </a:r>
          </a:p>
        </p:txBody>
      </p:sp>
      <p:sp>
        <p:nvSpPr>
          <p:cNvPr id="20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icon-question" descr="questi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roxima Nova"/>
              </a:rPr>
              <a:t>No approach is “better” — the question decides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When Should We Use Quantitative Research?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56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trophy" descr="trophy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1639884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171700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Which is better?</a:t>
            </a:r>
          </a:p>
        </p:txBody>
      </p:sp>
      <p:sp>
        <p:nvSpPr>
          <p:cNvPr id="9" name="card-2"/>
          <p:cNvSpPr/>
          <p:nvPr/>
        </p:nvSpPr>
        <p:spPr>
          <a:xfrm>
            <a:off x="2564892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747772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percent" descr="perce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612" y="1639884"/>
            <a:ext cx="313822" cy="31382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92908" y="2171700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How much improvement?</a:t>
            </a:r>
          </a:p>
        </p:txBody>
      </p:sp>
      <p:sp>
        <p:nvSpPr>
          <p:cNvPr id="13" name="card-3"/>
          <p:cNvSpPr/>
          <p:nvPr/>
        </p:nvSpPr>
        <p:spPr>
          <a:xfrm>
            <a:off x="4672584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55464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calculator" descr="calculato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04" y="1639884"/>
            <a:ext cx="313822" cy="31382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00600" y="2171700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Statistically significant?</a:t>
            </a:r>
          </a:p>
        </p:txBody>
      </p:sp>
      <p:sp>
        <p:nvSpPr>
          <p:cNvPr id="17" name="card-4"/>
          <p:cNvSpPr/>
          <p:nvPr/>
        </p:nvSpPr>
        <p:spPr>
          <a:xfrm>
            <a:off x="6780276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63156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link" descr="lin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996" y="1639884"/>
            <a:ext cx="313822" cy="31382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08292" y="2171700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What relationship?</a:t>
            </a:r>
          </a:p>
        </p:txBody>
      </p:sp>
      <p:sp>
        <p:nvSpPr>
          <p:cNvPr id="21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chartbar" descr="chartb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roxima Nova"/>
              </a:rPr>
              <a:t>Accuracy • F1 • MAE • RMSE • latency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When Should We Use Qualitative Research?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57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165049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81508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question" descr="quest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1959924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491739"/>
            <a:ext cx="1650492" cy="290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Why?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800603"/>
            <a:ext cx="1650492" cy="103530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200" b="0" i="0">
                <a:solidFill>
                  <a:srgbClr val="5C6A64"/>
                </a:solidFill>
                <a:latin typeface="Proxima Nova"/>
              </a:rPr>
              <a:t>Why do users reject AI recommendations?</a:t>
            </a:r>
          </a:p>
        </p:txBody>
      </p:sp>
      <p:sp>
        <p:nvSpPr>
          <p:cNvPr id="10" name="card-2"/>
          <p:cNvSpPr/>
          <p:nvPr/>
        </p:nvSpPr>
        <p:spPr>
          <a:xfrm>
            <a:off x="2564892" y="165049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747772" y="181508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-route" descr="rou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612" y="1959924"/>
            <a:ext cx="313822" cy="3138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92908" y="2491739"/>
            <a:ext cx="1650492" cy="290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How?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2908" y="2800603"/>
            <a:ext cx="1650492" cy="103530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200" b="0" i="0">
                <a:solidFill>
                  <a:srgbClr val="5C6A64"/>
                </a:solidFill>
                <a:latin typeface="Proxima Nova"/>
              </a:rPr>
              <a:t>How do researchers use GenAI in writing?</a:t>
            </a:r>
          </a:p>
        </p:txBody>
      </p:sp>
      <p:sp>
        <p:nvSpPr>
          <p:cNvPr id="15" name="card-3"/>
          <p:cNvSpPr/>
          <p:nvPr/>
        </p:nvSpPr>
        <p:spPr>
          <a:xfrm>
            <a:off x="4672584" y="165049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55464" y="181508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users" descr="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04" y="1959924"/>
            <a:ext cx="313822" cy="31382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00600" y="2491739"/>
            <a:ext cx="1650492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054603"/>
            <a:ext cx="1650492" cy="78130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200" b="0" i="0">
                <a:solidFill>
                  <a:srgbClr val="5C6A64"/>
                </a:solidFill>
                <a:latin typeface="Proxima Nova"/>
              </a:rPr>
              <a:t>What does it feel like to use it?</a:t>
            </a:r>
          </a:p>
        </p:txBody>
      </p:sp>
      <p:sp>
        <p:nvSpPr>
          <p:cNvPr id="20" name="card-4"/>
          <p:cNvSpPr/>
          <p:nvPr/>
        </p:nvSpPr>
        <p:spPr>
          <a:xfrm>
            <a:off x="6780276" y="165049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963156" y="181508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comments" descr="comment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996" y="1959924"/>
            <a:ext cx="313822" cy="31382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08292" y="2491739"/>
            <a:ext cx="1650492" cy="290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Methods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8292" y="2800603"/>
            <a:ext cx="1650492" cy="103530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200" b="0" i="0">
                <a:solidFill>
                  <a:srgbClr val="5C6A64"/>
                </a:solidFill>
                <a:latin typeface="Proxima Nova"/>
              </a:rPr>
              <a:t>Interviews • focus groups • observation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Quantitative vs. Qualitative — A Simple Example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58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Quantitative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5457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chartbar" descr="chartba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44967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Satisfaction fell 4.2 → 3.4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1469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chartbar" descr="chartba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40979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Tells us WHAT changed</a:t>
            </a:r>
          </a:p>
        </p:txBody>
      </p:sp>
      <p:sp>
        <p:nvSpPr>
          <p:cNvPr id="13" name="panel-2"/>
          <p:cNvSpPr/>
          <p:nvPr/>
        </p:nvSpPr>
        <p:spPr>
          <a:xfrm>
            <a:off x="48006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8006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Qualitative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35457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comments" descr="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44967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“I don’t understand its advice”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331469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comments" descr="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40979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Tells us WHY it changed</a:t>
            </a:r>
          </a:p>
        </p:txBody>
      </p:sp>
      <p:sp>
        <p:nvSpPr>
          <p:cNvPr id="21" name="Oval 20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What Is Mixed-Methods Research?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59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Measure satisfaction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Interview selected employees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Explain the scores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Integrated insight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The key word is integrate — not just collect both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Research Design — The Blueprint of the Study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60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165049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81508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flask" descr="flas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1959924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491739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Experimental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752979"/>
            <a:ext cx="1650492" cy="108292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200" b="0" i="0">
                <a:solidFill>
                  <a:srgbClr val="5C6A64"/>
                </a:solidFill>
                <a:latin typeface="Proxima Nova"/>
              </a:rPr>
              <a:t>Manipulate a condition, compare outcomes</a:t>
            </a:r>
          </a:p>
        </p:txBody>
      </p:sp>
      <p:sp>
        <p:nvSpPr>
          <p:cNvPr id="10" name="card-2"/>
          <p:cNvSpPr/>
          <p:nvPr/>
        </p:nvSpPr>
        <p:spPr>
          <a:xfrm>
            <a:off x="2564892" y="165049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747772" y="181508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-equals" descr="equal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612" y="1959924"/>
            <a:ext cx="313822" cy="3138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92908" y="249173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Quasi-experimental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2908" y="2959353"/>
            <a:ext cx="1650492" cy="87655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200" b="0" i="0">
                <a:solidFill>
                  <a:srgbClr val="5C6A64"/>
                </a:solidFill>
                <a:latin typeface="Proxima Nova"/>
              </a:rPr>
              <a:t>Compare without random assignment</a:t>
            </a:r>
          </a:p>
        </p:txBody>
      </p:sp>
      <p:sp>
        <p:nvSpPr>
          <p:cNvPr id="15" name="card-3"/>
          <p:cNvSpPr/>
          <p:nvPr/>
        </p:nvSpPr>
        <p:spPr>
          <a:xfrm>
            <a:off x="4672584" y="165049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55464" y="181508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eye" descr="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04" y="1959924"/>
            <a:ext cx="313822" cy="31382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00600" y="249173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Non-experimental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959353"/>
            <a:ext cx="1650492" cy="87655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200" b="0" i="0">
                <a:solidFill>
                  <a:srgbClr val="5C6A64"/>
                </a:solidFill>
                <a:latin typeface="Proxima Nova"/>
              </a:rPr>
              <a:t>Observe relationships only</a:t>
            </a:r>
          </a:p>
        </p:txBody>
      </p:sp>
      <p:sp>
        <p:nvSpPr>
          <p:cNvPr id="20" name="card-4"/>
          <p:cNvSpPr/>
          <p:nvPr/>
        </p:nvSpPr>
        <p:spPr>
          <a:xfrm>
            <a:off x="6780276" y="165049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963156" y="181508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book" descr="boo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996" y="1959924"/>
            <a:ext cx="313822" cy="31382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08292" y="249173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Qualitative designs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8292" y="2959353"/>
            <a:ext cx="1650492" cy="87655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200" b="0" i="0">
                <a:solidFill>
                  <a:srgbClr val="5C6A64"/>
                </a:solidFill>
                <a:latin typeface="Proxima Nova"/>
              </a:rPr>
              <a:t>Case study • ethnography • grounded theory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Example — Designing an AI Experiment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61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item-1"/>
          <p:cNvSpPr/>
          <p:nvPr/>
        </p:nvSpPr>
        <p:spPr>
          <a:xfrm>
            <a:off x="457200" y="905255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5216" y="1115567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905255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Suitable dataset</a:t>
            </a:r>
          </a:p>
        </p:txBody>
      </p:sp>
      <p:sp>
        <p:nvSpPr>
          <p:cNvPr id="8" name="item-2"/>
          <p:cNvSpPr/>
          <p:nvPr/>
        </p:nvSpPr>
        <p:spPr>
          <a:xfrm>
            <a:off x="457200" y="1874519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85216" y="2084831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874519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Defined experimental setup</a:t>
            </a:r>
          </a:p>
        </p:txBody>
      </p:sp>
      <p:sp>
        <p:nvSpPr>
          <p:cNvPr id="11" name="item-3"/>
          <p:cNvSpPr/>
          <p:nvPr/>
        </p:nvSpPr>
        <p:spPr>
          <a:xfrm>
            <a:off x="457200" y="2843784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5216" y="3054096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843784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Training and testing procedure</a:t>
            </a:r>
          </a:p>
        </p:txBody>
      </p:sp>
      <p:sp>
        <p:nvSpPr>
          <p:cNvPr id="14" name="item-4"/>
          <p:cNvSpPr/>
          <p:nvPr/>
        </p:nvSpPr>
        <p:spPr>
          <a:xfrm>
            <a:off x="457200" y="3813048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85216" y="402336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813048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Baseline models</a:t>
            </a:r>
          </a:p>
        </p:txBody>
      </p:sp>
      <p:sp>
        <p:nvSpPr>
          <p:cNvPr id="17" name="item-5"/>
          <p:cNvSpPr/>
          <p:nvPr/>
        </p:nvSpPr>
        <p:spPr>
          <a:xfrm>
            <a:off x="4645152" y="905255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773168" y="1115567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905255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Right evaluation metrics</a:t>
            </a:r>
          </a:p>
        </p:txBody>
      </p:sp>
      <p:sp>
        <p:nvSpPr>
          <p:cNvPr id="20" name="item-6"/>
          <p:cNvSpPr/>
          <p:nvPr/>
        </p:nvSpPr>
        <p:spPr>
          <a:xfrm>
            <a:off x="4645152" y="1874519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73168" y="2084831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1874519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Controlled conditions</a:t>
            </a:r>
          </a:p>
        </p:txBody>
      </p:sp>
      <p:sp>
        <p:nvSpPr>
          <p:cNvPr id="23" name="item-7"/>
          <p:cNvSpPr/>
          <p:nvPr/>
        </p:nvSpPr>
        <p:spPr>
          <a:xfrm>
            <a:off x="4645152" y="2843784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773168" y="3054096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2843784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Repeated runs or validation</a:t>
            </a:r>
          </a:p>
        </p:txBody>
      </p:sp>
      <p:sp>
        <p:nvSpPr>
          <p:cNvPr id="26" name="item-8"/>
          <p:cNvSpPr/>
          <p:nvPr/>
        </p:nvSpPr>
        <p:spPr>
          <a:xfrm>
            <a:off x="4645152" y="3813048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773168" y="402336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6944" y="3813048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Fair comparison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Methodology Must Be Justified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62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chartbar" descr="chartba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1639884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171700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Quantitative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32939"/>
            <a:ext cx="1650492" cy="108292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Why numbers fit</a:t>
            </a:r>
          </a:p>
        </p:txBody>
      </p:sp>
      <p:sp>
        <p:nvSpPr>
          <p:cNvPr id="10" name="card-2"/>
          <p:cNvSpPr/>
          <p:nvPr/>
        </p:nvSpPr>
        <p:spPr>
          <a:xfrm>
            <a:off x="2564892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747772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-comments" descr="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612" y="1639884"/>
            <a:ext cx="313822" cy="3138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92908" y="2171700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Interviews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2908" y="2432939"/>
            <a:ext cx="1650492" cy="108292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Why experiences matter</a:t>
            </a:r>
          </a:p>
        </p:txBody>
      </p:sp>
      <p:sp>
        <p:nvSpPr>
          <p:cNvPr id="15" name="card-3"/>
          <p:cNvSpPr/>
          <p:nvPr/>
        </p:nvSpPr>
        <p:spPr>
          <a:xfrm>
            <a:off x="4672584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55464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puzzlepiece" descr="puzzlepiec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04" y="1639884"/>
            <a:ext cx="313822" cy="31382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00600" y="2171700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Mixed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639314"/>
            <a:ext cx="1650492" cy="87655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Why one source is not enough</a:t>
            </a:r>
          </a:p>
        </p:txBody>
      </p:sp>
      <p:sp>
        <p:nvSpPr>
          <p:cNvPr id="20" name="card-4"/>
          <p:cNvSpPr/>
          <p:nvPr/>
        </p:nvSpPr>
        <p:spPr>
          <a:xfrm>
            <a:off x="6780276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963156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sitemap" descr="site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996" y="1639884"/>
            <a:ext cx="313822" cy="31382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08292" y="2171700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8292" y="2432939"/>
            <a:ext cx="1650492" cy="108292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How it answers the question</a:t>
            </a:r>
          </a:p>
        </p:txBody>
      </p:sp>
      <p:sp>
        <p:nvSpPr>
          <p:cNvPr id="25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con-gavel" descr="gave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roxima Nova"/>
              </a:rPr>
              <a:t>Justify every choice — examiners will ask “why?”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4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63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Why must a researcher justify the chosen methodology?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Because the tools are popular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Because the method must follow from the research question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Because quantitative is always better</a:t>
            </a:r>
          </a:p>
        </p:txBody>
      </p:sp>
      <p:sp>
        <p:nvSpPr>
          <p:cNvPr id="15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Because reviewers like long sections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3708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FFE3E5"/>
                </a:solidFill>
                <a:latin typeface="Proxima Nova"/>
              </a:rPr>
              <a:t>Type your answer in the chat — A, B, C or 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4 — Answer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64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Why must a researcher justify the chosen methodology?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Because the tools are popular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5333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oxima Nova"/>
              </a:rPr>
              <a:t>Because the method must follow from the research question</a:t>
            </a:r>
          </a:p>
        </p:txBody>
      </p:sp>
      <p:pic>
        <p:nvPicPr>
          <p:cNvPr id="12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2487168"/>
            <a:ext cx="329184" cy="329184"/>
          </a:xfrm>
          <a:prstGeom prst="rect">
            <a:avLst/>
          </a:prstGeom>
        </p:spPr>
      </p:pic>
      <p:sp>
        <p:nvSpPr>
          <p:cNvPr id="13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Because quantitative is always better</a:t>
            </a:r>
          </a:p>
        </p:txBody>
      </p:sp>
      <p:sp>
        <p:nvSpPr>
          <p:cNvPr id="16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Because reviewers like long sections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431596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E3E5"/>
                </a:solidFill>
                <a:latin typeface="Proxima Nova"/>
              </a:rPr>
              <a:t>Why? </a:t>
            </a:r>
            <a:r>
              <a:rPr sz="1500" b="0" i="0">
                <a:solidFill>
                  <a:srgbClr val="FFFFFF"/>
                </a:solidFill>
                <a:latin typeface="Proxima Nova"/>
              </a:rPr>
              <a:t>Methodology is a decision about evidence, not a list of tools.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1783080"/>
            <a:ext cx="7680960" cy="201168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Proxima Nova"/>
              </a:rPr>
              <a:t>Sampling, Data Collection, Data Quality and Research Ethics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65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inutes-chip"/>
          <p:cNvSpPr/>
          <p:nvPr/>
        </p:nvSpPr>
        <p:spPr>
          <a:xfrm>
            <a:off x="630936" y="118872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endParaRPr sz="1500" b="1" i="0" dirty="0">
              <a:solidFill>
                <a:srgbClr val="1C2A26"/>
              </a:solidFill>
              <a:latin typeface="Proxima Nov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093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272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362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8541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9631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0720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18104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900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3989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50791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6168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72583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8348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9437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0527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1616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From Research Design to Data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66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users" descr="user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People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70658"/>
            <a:ext cx="2353056" cy="32448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Surveys • interviews</a:t>
            </a:r>
          </a:p>
        </p:txBody>
      </p:sp>
      <p:sp>
        <p:nvSpPr>
          <p:cNvPr id="10" name="card-2"/>
          <p:cNvSpPr/>
          <p:nvPr/>
        </p:nvSpPr>
        <p:spPr>
          <a:xfrm>
            <a:off x="3267456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5033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-flask" descr="flas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31" y="1183599"/>
            <a:ext cx="266273" cy="266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95472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Experiments</a:t>
            </a:r>
          </a:p>
        </p:txBody>
      </p:sp>
      <p:sp>
        <p:nvSpPr>
          <p:cNvPr id="14" name="card-3"/>
          <p:cNvSpPr/>
          <p:nvPr/>
        </p:nvSpPr>
        <p:spPr>
          <a:xfrm>
            <a:off x="6077712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6059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filealt" descr="filea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87" y="1183599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05728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Documents</a:t>
            </a:r>
          </a:p>
        </p:txBody>
      </p:sp>
      <p:sp>
        <p:nvSpPr>
          <p:cNvPr id="18" name="card-4"/>
          <p:cNvSpPr/>
          <p:nvPr/>
        </p:nvSpPr>
        <p:spPr>
          <a:xfrm>
            <a:off x="457200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icon-database" descr="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2838663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5216" y="3300984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Databases</a:t>
            </a:r>
          </a:p>
        </p:txBody>
      </p:sp>
      <p:sp>
        <p:nvSpPr>
          <p:cNvPr id="22" name="card-5"/>
          <p:cNvSpPr/>
          <p:nvPr/>
        </p:nvSpPr>
        <p:spPr>
          <a:xfrm>
            <a:off x="3267456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450336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icon-globe" descr="glob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231" y="2838663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395472" y="3300984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Public datasets</a:t>
            </a:r>
          </a:p>
        </p:txBody>
      </p:sp>
      <p:sp>
        <p:nvSpPr>
          <p:cNvPr id="26" name="card-6"/>
          <p:cNvSpPr/>
          <p:nvPr/>
        </p:nvSpPr>
        <p:spPr>
          <a:xfrm>
            <a:off x="6077712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260592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icon-code" descr="cod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487" y="2838663"/>
            <a:ext cx="266273" cy="2662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205728" y="3300984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Logs and APIs</a:t>
            </a:r>
          </a:p>
        </p:txBody>
      </p:sp>
      <p:sp>
        <p:nvSpPr>
          <p:cNvPr id="30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icon-question" descr="question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roxima Nova"/>
              </a:rPr>
              <a:t>Is it the RIGHT data for my research question?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Population vs. Sample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67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024127"/>
            <a:ext cx="40005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024127"/>
            <a:ext cx="40005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Population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3453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globe" descr="glob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12963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737360"/>
            <a:ext cx="32506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Everyone in scope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9466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globe" descr="glob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08975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2697480"/>
            <a:ext cx="32506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All university students</a:t>
            </a:r>
          </a:p>
        </p:txBody>
      </p:sp>
      <p:sp>
        <p:nvSpPr>
          <p:cNvPr id="13" name="panel-2"/>
          <p:cNvSpPr/>
          <p:nvPr/>
        </p:nvSpPr>
        <p:spPr>
          <a:xfrm>
            <a:off x="4686300" y="1024127"/>
            <a:ext cx="40005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686300" y="1024127"/>
            <a:ext cx="40005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Sample</a:t>
            </a:r>
          </a:p>
        </p:txBody>
      </p:sp>
      <p:sp>
        <p:nvSpPr>
          <p:cNvPr id="15" name="Oval 14"/>
          <p:cNvSpPr/>
          <p:nvPr/>
        </p:nvSpPr>
        <p:spPr>
          <a:xfrm>
            <a:off x="4869180" y="203453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userfriends" descr="userfriend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277" y="212963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4668" y="1737360"/>
            <a:ext cx="32506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The part we actually study</a:t>
            </a:r>
          </a:p>
        </p:txBody>
      </p:sp>
      <p:sp>
        <p:nvSpPr>
          <p:cNvPr id="18" name="Oval 17"/>
          <p:cNvSpPr/>
          <p:nvPr/>
        </p:nvSpPr>
        <p:spPr>
          <a:xfrm>
            <a:off x="4869180" y="299466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userfriends" descr="userfriend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277" y="308975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44668" y="2697480"/>
            <a:ext cx="32506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e.g. 300 students</a:t>
            </a:r>
          </a:p>
        </p:txBody>
      </p:sp>
      <p:sp>
        <p:nvSpPr>
          <p:cNvPr id="21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gavel" descr="gave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roxima Nova"/>
              </a:rPr>
              <a:t>The selection strategy must be justified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Probability vs. Non-Probability Sampling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68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Probability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dice" descr="dic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06105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Random • systematic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dice" descr="dic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92973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258318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Stratified • cluster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con-dice" descr="dic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798417"/>
            <a:ext cx="175564" cy="1755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" y="345186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Stronger generalization</a:t>
            </a:r>
          </a:p>
        </p:txBody>
      </p:sp>
      <p:sp>
        <p:nvSpPr>
          <p:cNvPr id="16" name="panel-2"/>
          <p:cNvSpPr/>
          <p:nvPr/>
        </p:nvSpPr>
        <p:spPr>
          <a:xfrm>
            <a:off x="48006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anel-head-2"/>
          <p:cNvSpPr/>
          <p:nvPr/>
        </p:nvSpPr>
        <p:spPr>
          <a:xfrm>
            <a:off x="48006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Non-probability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196596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usercheck" descr="user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06105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Convenience • purposive</a:t>
            </a:r>
          </a:p>
        </p:txBody>
      </p:sp>
      <p:sp>
        <p:nvSpPr>
          <p:cNvPr id="21" name="Oval 20"/>
          <p:cNvSpPr/>
          <p:nvPr/>
        </p:nvSpPr>
        <p:spPr>
          <a:xfrm>
            <a:off x="4983480" y="283464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usercheck" descr="user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929737"/>
            <a:ext cx="175564" cy="1755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58968" y="258318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Quota sampling</a:t>
            </a:r>
          </a:p>
        </p:txBody>
      </p:sp>
      <p:sp>
        <p:nvSpPr>
          <p:cNvPr id="24" name="Oval 23"/>
          <p:cNvSpPr/>
          <p:nvPr/>
        </p:nvSpPr>
        <p:spPr>
          <a:xfrm>
            <a:off x="4983480" y="370332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icon-usercheck" descr="user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798417"/>
            <a:ext cx="175564" cy="1755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58968" y="345186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Weaker generalization</a:t>
            </a:r>
          </a:p>
        </p:txBody>
      </p:sp>
      <p:sp>
        <p:nvSpPr>
          <p:cNvPr id="27" name="Oval 26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Sample Size Is Not Just “More Is Better”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69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sitemap" descr="sitema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Research design</a:t>
            </a:r>
          </a:p>
        </p:txBody>
      </p:sp>
      <p:sp>
        <p:nvSpPr>
          <p:cNvPr id="9" name="card-2"/>
          <p:cNvSpPr/>
          <p:nvPr/>
        </p:nvSpPr>
        <p:spPr>
          <a:xfrm>
            <a:off x="3267456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5033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ruler" descr="rul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31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95472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Effect size</a:t>
            </a:r>
          </a:p>
        </p:txBody>
      </p:sp>
      <p:sp>
        <p:nvSpPr>
          <p:cNvPr id="13" name="card-3"/>
          <p:cNvSpPr/>
          <p:nvPr/>
        </p:nvSpPr>
        <p:spPr>
          <a:xfrm>
            <a:off x="6077712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6059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bolt" descr="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87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5728" y="1645919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Statistical power</a:t>
            </a:r>
          </a:p>
        </p:txBody>
      </p:sp>
      <p:sp>
        <p:nvSpPr>
          <p:cNvPr id="17" name="card-4"/>
          <p:cNvSpPr/>
          <p:nvPr/>
        </p:nvSpPr>
        <p:spPr>
          <a:xfrm>
            <a:off x="457200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layergroup" descr="layergrou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2838663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5216" y="3300984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Groups and variables</a:t>
            </a:r>
          </a:p>
        </p:txBody>
      </p:sp>
      <p:sp>
        <p:nvSpPr>
          <p:cNvPr id="21" name="card-5"/>
          <p:cNvSpPr/>
          <p:nvPr/>
        </p:nvSpPr>
        <p:spPr>
          <a:xfrm>
            <a:off x="3267456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450336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envelope" descr="envelop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231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395472" y="3300984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Response rate</a:t>
            </a:r>
          </a:p>
        </p:txBody>
      </p:sp>
      <p:sp>
        <p:nvSpPr>
          <p:cNvPr id="25" name="card-6"/>
          <p:cNvSpPr/>
          <p:nvPr/>
        </p:nvSpPr>
        <p:spPr>
          <a:xfrm>
            <a:off x="6077712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260592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coins" descr="coin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487" y="283866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05728" y="3300984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Resources</a:t>
            </a:r>
          </a:p>
        </p:txBody>
      </p:sp>
      <p:sp>
        <p:nvSpPr>
          <p:cNvPr id="29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on-balancescale" descr="balancesca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oxima Nova"/>
              </a:rPr>
              <a:t>10,000 poorly chosen responses can lose to a smaller, well-designed sample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Primary vs. Secondary Data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70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Primary data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pen" descr="pe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06105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Collected by you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pen" descr="pe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92973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258318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Survey • interviews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con-pen" descr="pe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798417"/>
            <a:ext cx="175564" cy="1755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" y="345186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Experiment • observation</a:t>
            </a:r>
          </a:p>
        </p:txBody>
      </p:sp>
      <p:sp>
        <p:nvSpPr>
          <p:cNvPr id="16" name="panel-2"/>
          <p:cNvSpPr/>
          <p:nvPr/>
        </p:nvSpPr>
        <p:spPr>
          <a:xfrm>
            <a:off x="48006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anel-head-2"/>
          <p:cNvSpPr/>
          <p:nvPr/>
        </p:nvSpPr>
        <p:spPr>
          <a:xfrm>
            <a:off x="48006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Secondary data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196596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archive" descr="archiv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06105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Already exists, reused</a:t>
            </a:r>
          </a:p>
        </p:txBody>
      </p:sp>
      <p:sp>
        <p:nvSpPr>
          <p:cNvPr id="21" name="Oval 20"/>
          <p:cNvSpPr/>
          <p:nvPr/>
        </p:nvSpPr>
        <p:spPr>
          <a:xfrm>
            <a:off x="4983480" y="283464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archive" descr="archiv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929737"/>
            <a:ext cx="175564" cy="1755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58968" y="258318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Public and government data</a:t>
            </a:r>
          </a:p>
        </p:txBody>
      </p:sp>
      <p:sp>
        <p:nvSpPr>
          <p:cNvPr id="24" name="Oval 23"/>
          <p:cNvSpPr/>
          <p:nvPr/>
        </p:nvSpPr>
        <p:spPr>
          <a:xfrm>
            <a:off x="4983480" y="370332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icon-archive" descr="archiv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798417"/>
            <a:ext cx="175564" cy="1755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58968" y="345186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Benchmark datasets</a:t>
            </a:r>
          </a:p>
        </p:txBody>
      </p:sp>
      <p:sp>
        <p:nvSpPr>
          <p:cNvPr id="27" name="Oval 26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Choosing the Right Data Collection Method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71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clipboardcheck" descr="clipboard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70658"/>
            <a:ext cx="2353056" cy="64452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Standardized answers, large group</a:t>
            </a:r>
          </a:p>
        </p:txBody>
      </p:sp>
      <p:sp>
        <p:nvSpPr>
          <p:cNvPr id="10" name="card-2"/>
          <p:cNvSpPr/>
          <p:nvPr/>
        </p:nvSpPr>
        <p:spPr>
          <a:xfrm>
            <a:off x="3267456" y="896112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5033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-comments" descr="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31" y="1183599"/>
            <a:ext cx="266273" cy="266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95472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Interview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5472" y="1970658"/>
            <a:ext cx="2353056" cy="64452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Detailed individual views</a:t>
            </a:r>
          </a:p>
        </p:txBody>
      </p:sp>
      <p:sp>
        <p:nvSpPr>
          <p:cNvPr id="15" name="card-3"/>
          <p:cNvSpPr/>
          <p:nvPr/>
        </p:nvSpPr>
        <p:spPr>
          <a:xfrm>
            <a:off x="6077712" y="896112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6059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eye" descr="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87" y="1183599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05728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Observation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5728" y="1970658"/>
            <a:ext cx="2353056" cy="64452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Real behaviour</a:t>
            </a:r>
          </a:p>
        </p:txBody>
      </p:sp>
      <p:sp>
        <p:nvSpPr>
          <p:cNvPr id="20" name="card-4"/>
          <p:cNvSpPr/>
          <p:nvPr/>
        </p:nvSpPr>
        <p:spPr>
          <a:xfrm>
            <a:off x="457200" y="2871215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080" y="303580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flask" descr="flas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3158703"/>
            <a:ext cx="266273" cy="2662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5216" y="3621023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Experiment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3945762"/>
            <a:ext cx="2353056" cy="64452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Cause and effect</a:t>
            </a:r>
          </a:p>
        </p:txBody>
      </p:sp>
      <p:sp>
        <p:nvSpPr>
          <p:cNvPr id="25" name="card-5"/>
          <p:cNvSpPr/>
          <p:nvPr/>
        </p:nvSpPr>
        <p:spPr>
          <a:xfrm>
            <a:off x="3267456" y="2871215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450336" y="303580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folderopen" descr="folderope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231" y="315870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395472" y="3621023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Case study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95472" y="3945762"/>
            <a:ext cx="2353056" cy="64452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One context in depth</a:t>
            </a:r>
          </a:p>
        </p:txBody>
      </p:sp>
      <p:sp>
        <p:nvSpPr>
          <p:cNvPr id="30" name="card-6"/>
          <p:cNvSpPr/>
          <p:nvPr/>
        </p:nvSpPr>
        <p:spPr>
          <a:xfrm>
            <a:off x="6077712" y="2871215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260592" y="303580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icon-code" descr="cod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487" y="3158703"/>
            <a:ext cx="266273" cy="26627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05728" y="3621023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Logs and 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5728" y="4215637"/>
            <a:ext cx="2353056" cy="37464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AI system behaviour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Build a Good Research Instrument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72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item-1"/>
          <p:cNvSpPr/>
          <p:nvPr/>
        </p:nvSpPr>
        <p:spPr>
          <a:xfrm>
            <a:off x="457200" y="896112"/>
            <a:ext cx="8229600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5216" y="1011326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896112"/>
            <a:ext cx="7516368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Are the questions clear?</a:t>
            </a:r>
          </a:p>
        </p:txBody>
      </p:sp>
      <p:sp>
        <p:nvSpPr>
          <p:cNvPr id="8" name="item-2"/>
          <p:cNvSpPr/>
          <p:nvPr/>
        </p:nvSpPr>
        <p:spPr>
          <a:xfrm>
            <a:off x="457200" y="1675180"/>
            <a:ext cx="8229600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85216" y="1790395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675180"/>
            <a:ext cx="7516368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Do they measure the right construct?</a:t>
            </a:r>
          </a:p>
        </p:txBody>
      </p:sp>
      <p:sp>
        <p:nvSpPr>
          <p:cNvPr id="11" name="item-3"/>
          <p:cNvSpPr/>
          <p:nvPr/>
        </p:nvSpPr>
        <p:spPr>
          <a:xfrm>
            <a:off x="457200" y="2454249"/>
            <a:ext cx="8229600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5216" y="2569464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454249"/>
            <a:ext cx="7516368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Are any ambiguous?</a:t>
            </a:r>
          </a:p>
        </p:txBody>
      </p:sp>
      <p:sp>
        <p:nvSpPr>
          <p:cNvPr id="14" name="item-4"/>
          <p:cNvSpPr/>
          <p:nvPr/>
        </p:nvSpPr>
        <p:spPr>
          <a:xfrm>
            <a:off x="457200" y="3233318"/>
            <a:ext cx="8229600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85216" y="3348532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233318"/>
            <a:ext cx="7516368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Do any lead the participant?</a:t>
            </a:r>
          </a:p>
        </p:txBody>
      </p:sp>
      <p:sp>
        <p:nvSpPr>
          <p:cNvPr id="17" name="item-5"/>
          <p:cNvSpPr/>
          <p:nvPr/>
        </p:nvSpPr>
        <p:spPr>
          <a:xfrm>
            <a:off x="457200" y="4012387"/>
            <a:ext cx="8229600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85216" y="4127601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012387"/>
            <a:ext cx="7516368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Are response options suitable?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Reliability vs. Validity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73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Reliability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5457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sync" descr="sync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44967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Consistency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1469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sync" descr="sync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40979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Same reading every time</a:t>
            </a:r>
          </a:p>
        </p:txBody>
      </p:sp>
      <p:sp>
        <p:nvSpPr>
          <p:cNvPr id="13" name="panel-2"/>
          <p:cNvSpPr/>
          <p:nvPr/>
        </p:nvSpPr>
        <p:spPr>
          <a:xfrm>
            <a:off x="48006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8006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Validity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35457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bullseye" descr="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44967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Measuring the right thing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331469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bullseye" descr="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40979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A scale that reads +5 kg is reliable, not valid</a:t>
            </a:r>
          </a:p>
        </p:txBody>
      </p:sp>
      <p:sp>
        <p:nvSpPr>
          <p:cNvPr id="21" name="Oval 20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Data Quality — The Hidden Research Problem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74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copy" descr="copy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Duplicates</a:t>
            </a:r>
          </a:p>
        </p:txBody>
      </p:sp>
      <p:sp>
        <p:nvSpPr>
          <p:cNvPr id="9" name="card-2"/>
          <p:cNvSpPr/>
          <p:nvPr/>
        </p:nvSpPr>
        <p:spPr>
          <a:xfrm>
            <a:off x="3267456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5033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tags" descr="ta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31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95472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Wrong labels</a:t>
            </a:r>
          </a:p>
        </p:txBody>
      </p:sp>
      <p:sp>
        <p:nvSpPr>
          <p:cNvPr id="13" name="card-3"/>
          <p:cNvSpPr/>
          <p:nvPr/>
        </p:nvSpPr>
        <p:spPr>
          <a:xfrm>
            <a:off x="6077712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6059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question" descr="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87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5728" y="1645919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Missing values</a:t>
            </a:r>
          </a:p>
        </p:txBody>
      </p:sp>
      <p:sp>
        <p:nvSpPr>
          <p:cNvPr id="17" name="card-4"/>
          <p:cNvSpPr/>
          <p:nvPr/>
        </p:nvSpPr>
        <p:spPr>
          <a:xfrm>
            <a:off x="1862328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045208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clock" descr="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8103" y="2838663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990344" y="3300984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Outdated records</a:t>
            </a:r>
          </a:p>
        </p:txBody>
      </p:sp>
      <p:sp>
        <p:nvSpPr>
          <p:cNvPr id="21" name="card-5"/>
          <p:cNvSpPr/>
          <p:nvPr/>
        </p:nvSpPr>
        <p:spPr>
          <a:xfrm>
            <a:off x="4672584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855464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balancescale" descr="balancesca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359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00600" y="3300984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Systematic bias</a:t>
            </a:r>
          </a:p>
        </p:txBody>
      </p:sp>
      <p:sp>
        <p:nvSpPr>
          <p:cNvPr id="25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con-exclamationtriangle" descr="exclamationtriang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roxima Nova"/>
              </a:rPr>
              <a:t>Brilliant model + bad data = misleading results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Research Ethics — Can We Collect This Data?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75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handshake" descr="handshak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2353056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Informed consent</a:t>
            </a:r>
          </a:p>
        </p:txBody>
      </p:sp>
      <p:sp>
        <p:nvSpPr>
          <p:cNvPr id="9" name="card-2"/>
          <p:cNvSpPr/>
          <p:nvPr/>
        </p:nvSpPr>
        <p:spPr>
          <a:xfrm>
            <a:off x="3267456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5033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lock" descr="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31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95472" y="1645919"/>
            <a:ext cx="2353056" cy="290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Privacy</a:t>
            </a:r>
          </a:p>
        </p:txBody>
      </p:sp>
      <p:sp>
        <p:nvSpPr>
          <p:cNvPr id="13" name="card-3"/>
          <p:cNvSpPr/>
          <p:nvPr/>
        </p:nvSpPr>
        <p:spPr>
          <a:xfrm>
            <a:off x="6077712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6059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usersecret" descr="usersecr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87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5728" y="1645919"/>
            <a:ext cx="2353056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Confidentiality</a:t>
            </a:r>
          </a:p>
        </p:txBody>
      </p:sp>
      <p:sp>
        <p:nvSpPr>
          <p:cNvPr id="17" name="card-4"/>
          <p:cNvSpPr/>
          <p:nvPr/>
        </p:nvSpPr>
        <p:spPr>
          <a:xfrm>
            <a:off x="457200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shieldalt" descr="shielda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2838663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5216" y="3300984"/>
            <a:ext cx="2353056" cy="290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Data security</a:t>
            </a:r>
          </a:p>
        </p:txBody>
      </p:sp>
      <p:sp>
        <p:nvSpPr>
          <p:cNvPr id="21" name="card-5"/>
          <p:cNvSpPr/>
          <p:nvPr/>
        </p:nvSpPr>
        <p:spPr>
          <a:xfrm>
            <a:off x="3267456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450336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archive" descr="archiv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231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395472" y="3300984"/>
            <a:ext cx="2353056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Responsible storage</a:t>
            </a:r>
          </a:p>
        </p:txBody>
      </p:sp>
      <p:sp>
        <p:nvSpPr>
          <p:cNvPr id="25" name="card-6"/>
          <p:cNvSpPr/>
          <p:nvPr/>
        </p:nvSpPr>
        <p:spPr>
          <a:xfrm>
            <a:off x="6077712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260592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exclamationtriangle" descr="exclamationtriang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487" y="283866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05728" y="3300984"/>
            <a:ext cx="2353056" cy="290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Potential harm</a:t>
            </a:r>
          </a:p>
        </p:txBody>
      </p:sp>
      <p:sp>
        <p:nvSpPr>
          <p:cNvPr id="29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on-gavel" descr="gavel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roxima Nova"/>
              </a:rPr>
              <a:t>Publicly accessible ≠ automatically ethical to use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5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76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Which statement about sample size is correct?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More responses always means better research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 smaller, well-designed sample can beat a large, poorly selected one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Sample size never matters in qualitative research</a:t>
            </a:r>
          </a:p>
        </p:txBody>
      </p:sp>
      <p:sp>
        <p:nvSpPr>
          <p:cNvPr id="15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It depends only on budget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3708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FFE3E5"/>
                </a:solidFill>
                <a:latin typeface="Proxima Nova"/>
              </a:rPr>
              <a:t>Type your answer in the chat — A, B, C or D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5 — Answer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77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Which statement about sample size is correct?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More responses always means better research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5333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oxima Nova"/>
              </a:rPr>
              <a:t>A smaller, well-designed sample can beat a large, poorly selected one</a:t>
            </a:r>
          </a:p>
        </p:txBody>
      </p:sp>
      <p:pic>
        <p:nvPicPr>
          <p:cNvPr id="12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2487168"/>
            <a:ext cx="329184" cy="329184"/>
          </a:xfrm>
          <a:prstGeom prst="rect">
            <a:avLst/>
          </a:prstGeom>
        </p:spPr>
      </p:pic>
      <p:sp>
        <p:nvSpPr>
          <p:cNvPr id="13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Sample size never matters in qualitative research</a:t>
            </a:r>
          </a:p>
        </p:txBody>
      </p:sp>
      <p:sp>
        <p:nvSpPr>
          <p:cNvPr id="16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It depends only on 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431596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E3E5"/>
                </a:solidFill>
                <a:latin typeface="Proxima Nova"/>
              </a:rPr>
              <a:t>Why? </a:t>
            </a:r>
            <a:r>
              <a:rPr sz="1500" b="0" i="0">
                <a:solidFill>
                  <a:srgbClr val="FFFFFF"/>
                </a:solidFill>
                <a:latin typeface="Proxima Nova"/>
              </a:rPr>
              <a:t>Adequacy depends on design, population, power and analysis — not size alone.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1783080"/>
            <a:ext cx="7680960" cy="2011680"/>
          </a:xfrm>
        </p:spPr>
        <p:txBody>
          <a:bodyPr wrap="square" lIns="0" tIns="0" rIns="0" bIns="0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Proxima Nova"/>
              </a:rPr>
              <a:t>From Raw Data to Evidence: Analysis, Evaluation and Interpretation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78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inutes-chip"/>
          <p:cNvSpPr/>
          <p:nvPr/>
        </p:nvSpPr>
        <p:spPr>
          <a:xfrm>
            <a:off x="630936" y="118872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endParaRPr sz="1500" b="1" i="0" dirty="0">
              <a:solidFill>
                <a:srgbClr val="1C2A26"/>
              </a:solidFill>
              <a:latin typeface="Proxima Nov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093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272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362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8541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9631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0720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18104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900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3989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50791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6168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72583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8348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9437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0527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1616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Data Does Not Speak for Itself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79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Raw data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Process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Analyze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Interpret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Model C scored 88%… best? On which data, under what conditions?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The Data Analysis Pipeline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80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1399031"/>
            <a:ext cx="256032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Data preparation</a:t>
            </a:r>
          </a:p>
        </p:txBody>
      </p:sp>
      <p:sp>
        <p:nvSpPr>
          <p:cNvPr id="6" name="Oval 5"/>
          <p:cNvSpPr/>
          <p:nvPr/>
        </p:nvSpPr>
        <p:spPr>
          <a:xfrm>
            <a:off x="1609344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180136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3291840" y="1399031"/>
            <a:ext cx="256032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Data exploration</a:t>
            </a:r>
          </a:p>
        </p:txBody>
      </p:sp>
      <p:sp>
        <p:nvSpPr>
          <p:cNvPr id="9" name="Oval 8"/>
          <p:cNvSpPr/>
          <p:nvPr/>
        </p:nvSpPr>
        <p:spPr>
          <a:xfrm>
            <a:off x="4443984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180136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6126480" y="1399031"/>
            <a:ext cx="256032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Descriptive analysis</a:t>
            </a:r>
          </a:p>
        </p:txBody>
      </p:sp>
      <p:sp>
        <p:nvSpPr>
          <p:cNvPr id="12" name="Oval 11"/>
          <p:cNvSpPr/>
          <p:nvPr/>
        </p:nvSpPr>
        <p:spPr>
          <a:xfrm>
            <a:off x="7278624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3" name="step-4"/>
          <p:cNvSpPr/>
          <p:nvPr/>
        </p:nvSpPr>
        <p:spPr>
          <a:xfrm>
            <a:off x="457200" y="2862072"/>
            <a:ext cx="256032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Statistical / model analysis</a:t>
            </a:r>
          </a:p>
        </p:txBody>
      </p:sp>
      <p:sp>
        <p:nvSpPr>
          <p:cNvPr id="14" name="Oval 13"/>
          <p:cNvSpPr/>
          <p:nvPr/>
        </p:nvSpPr>
        <p:spPr>
          <a:xfrm>
            <a:off x="1609344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pic>
        <p:nvPicPr>
          <p:cNvPr id="15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3264408"/>
            <a:ext cx="201168" cy="201168"/>
          </a:xfrm>
          <a:prstGeom prst="rect">
            <a:avLst/>
          </a:prstGeom>
        </p:spPr>
      </p:pic>
      <p:sp>
        <p:nvSpPr>
          <p:cNvPr id="16" name="step-5"/>
          <p:cNvSpPr/>
          <p:nvPr/>
        </p:nvSpPr>
        <p:spPr>
          <a:xfrm>
            <a:off x="3291840" y="2862072"/>
            <a:ext cx="256032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Evaluation</a:t>
            </a:r>
          </a:p>
        </p:txBody>
      </p:sp>
      <p:sp>
        <p:nvSpPr>
          <p:cNvPr id="17" name="Oval 16"/>
          <p:cNvSpPr/>
          <p:nvPr/>
        </p:nvSpPr>
        <p:spPr>
          <a:xfrm>
            <a:off x="4443984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pic>
        <p:nvPicPr>
          <p:cNvPr id="18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3264408"/>
            <a:ext cx="201168" cy="201168"/>
          </a:xfrm>
          <a:prstGeom prst="rect">
            <a:avLst/>
          </a:prstGeom>
        </p:spPr>
      </p:pic>
      <p:sp>
        <p:nvSpPr>
          <p:cNvPr id="19" name="step-6"/>
          <p:cNvSpPr/>
          <p:nvPr/>
        </p:nvSpPr>
        <p:spPr>
          <a:xfrm>
            <a:off x="6126480" y="2862072"/>
            <a:ext cx="2560320" cy="100584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Interpretation</a:t>
            </a:r>
          </a:p>
        </p:txBody>
      </p:sp>
      <p:sp>
        <p:nvSpPr>
          <p:cNvPr id="20" name="Oval 19"/>
          <p:cNvSpPr/>
          <p:nvPr/>
        </p:nvSpPr>
        <p:spPr>
          <a:xfrm>
            <a:off x="7278624" y="2734056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Understand the data before you apply sophisticated algorithms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Descriptive Analysis — What Does the Data Look Like?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81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calculator" descr="calculato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1639884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171700"/>
            <a:ext cx="1650492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Mean • median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766314"/>
            <a:ext cx="1650492" cy="74955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Centre of the data</a:t>
            </a:r>
          </a:p>
        </p:txBody>
      </p:sp>
      <p:sp>
        <p:nvSpPr>
          <p:cNvPr id="10" name="card-2"/>
          <p:cNvSpPr/>
          <p:nvPr/>
        </p:nvSpPr>
        <p:spPr>
          <a:xfrm>
            <a:off x="2564892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747772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-ruler" descr="rul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612" y="1639884"/>
            <a:ext cx="313822" cy="3138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92908" y="2171700"/>
            <a:ext cx="1650492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Min • max •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2908" y="2766314"/>
            <a:ext cx="1650492" cy="74955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Spread of the data</a:t>
            </a:r>
          </a:p>
        </p:txBody>
      </p:sp>
      <p:sp>
        <p:nvSpPr>
          <p:cNvPr id="15" name="card-3"/>
          <p:cNvSpPr/>
          <p:nvPr/>
        </p:nvSpPr>
        <p:spPr>
          <a:xfrm>
            <a:off x="4672584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55464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chartbar" descr="chartb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04" y="1639884"/>
            <a:ext cx="313822" cy="31382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00600" y="2171700"/>
            <a:ext cx="1650492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Std deviation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766314"/>
            <a:ext cx="1650492" cy="74955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Variation</a:t>
            </a:r>
          </a:p>
        </p:txBody>
      </p:sp>
      <p:sp>
        <p:nvSpPr>
          <p:cNvPr id="20" name="card-4"/>
          <p:cNvSpPr/>
          <p:nvPr/>
        </p:nvSpPr>
        <p:spPr>
          <a:xfrm>
            <a:off x="6780276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963156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percent" descr="percen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996" y="1639884"/>
            <a:ext cx="313822" cy="31382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08292" y="2171700"/>
            <a:ext cx="1650492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Counts and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8292" y="2766314"/>
            <a:ext cx="1650492" cy="74955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For categories</a:t>
            </a:r>
          </a:p>
        </p:txBody>
      </p:sp>
      <p:sp>
        <p:nvSpPr>
          <p:cNvPr id="25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con-users" descr="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“320 of 500 professionals use GenAI” → 64%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Visualize Before You Interpret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82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chartbar" descr="chartba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1639884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171700"/>
            <a:ext cx="1650492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Histogram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96439"/>
            <a:ext cx="1650492" cy="101942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Shape of the data</a:t>
            </a:r>
          </a:p>
        </p:txBody>
      </p:sp>
      <p:sp>
        <p:nvSpPr>
          <p:cNvPr id="10" name="card-2"/>
          <p:cNvSpPr/>
          <p:nvPr/>
        </p:nvSpPr>
        <p:spPr>
          <a:xfrm>
            <a:off x="2564892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747772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-th" descr="t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612" y="1639884"/>
            <a:ext cx="313822" cy="3138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92908" y="2171700"/>
            <a:ext cx="1650492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Box plot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2908" y="2496439"/>
            <a:ext cx="1650492" cy="101942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Spread and outliers</a:t>
            </a:r>
          </a:p>
        </p:txBody>
      </p:sp>
      <p:sp>
        <p:nvSpPr>
          <p:cNvPr id="15" name="card-3"/>
          <p:cNvSpPr/>
          <p:nvPr/>
        </p:nvSpPr>
        <p:spPr>
          <a:xfrm>
            <a:off x="4672584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55464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random" descr="rando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04" y="1639884"/>
            <a:ext cx="313822" cy="31382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00600" y="2171700"/>
            <a:ext cx="1650492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Scatter plot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766314"/>
            <a:ext cx="1650492" cy="74955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Relationships</a:t>
            </a:r>
          </a:p>
        </p:txBody>
      </p:sp>
      <p:sp>
        <p:nvSpPr>
          <p:cNvPr id="20" name="card-4"/>
          <p:cNvSpPr/>
          <p:nvPr/>
        </p:nvSpPr>
        <p:spPr>
          <a:xfrm>
            <a:off x="6780276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963156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chartline" descr="char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996" y="1639884"/>
            <a:ext cx="313822" cy="31382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08292" y="2171700"/>
            <a:ext cx="1650492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Line chart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8292" y="2766314"/>
            <a:ext cx="1650492" cy="74955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Trends over time</a:t>
            </a:r>
          </a:p>
        </p:txBody>
      </p:sp>
      <p:sp>
        <p:nvSpPr>
          <p:cNvPr id="25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con-eye" descr="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oxima Nova"/>
              </a:rPr>
              <a:t>A chart can reveal what a table of thousands rows hides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Descriptive vs. Inferential Analysis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83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Descriptive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5457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table" descr="tab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44967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Summarizes the sample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1469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table" descr="tab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40979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70% use AI weekly</a:t>
            </a:r>
          </a:p>
        </p:txBody>
      </p:sp>
      <p:sp>
        <p:nvSpPr>
          <p:cNvPr id="13" name="panel-2"/>
          <p:cNvSpPr/>
          <p:nvPr/>
        </p:nvSpPr>
        <p:spPr>
          <a:xfrm>
            <a:off x="48006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8006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Inferential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35457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binoculars" descr="binocula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44967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Concludes beyond the sample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331469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binoculars" descr="binocula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40979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Is adoption different across groups?</a:t>
            </a:r>
          </a:p>
        </p:txBody>
      </p:sp>
      <p:sp>
        <p:nvSpPr>
          <p:cNvPr id="21" name="Oval 20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Choosing the Right Statistical Test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84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equals" descr="equal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1639884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171700"/>
            <a:ext cx="1650492" cy="27470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t-test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64689"/>
            <a:ext cx="1650492" cy="105117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Compare two groups</a:t>
            </a:r>
          </a:p>
        </p:txBody>
      </p:sp>
      <p:sp>
        <p:nvSpPr>
          <p:cNvPr id="10" name="card-2"/>
          <p:cNvSpPr/>
          <p:nvPr/>
        </p:nvSpPr>
        <p:spPr>
          <a:xfrm>
            <a:off x="2564892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747772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-layergroup" descr="layergro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612" y="1639884"/>
            <a:ext cx="313822" cy="3138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92908" y="2171700"/>
            <a:ext cx="1650492" cy="27470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ANOVA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2908" y="2464689"/>
            <a:ext cx="1650492" cy="105117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Compare 3+ groups</a:t>
            </a:r>
          </a:p>
        </p:txBody>
      </p:sp>
      <p:sp>
        <p:nvSpPr>
          <p:cNvPr id="15" name="card-3"/>
          <p:cNvSpPr/>
          <p:nvPr/>
        </p:nvSpPr>
        <p:spPr>
          <a:xfrm>
            <a:off x="4672584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55464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link" descr="lin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04" y="1639884"/>
            <a:ext cx="313822" cy="31382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00600" y="2171700"/>
            <a:ext cx="1650492" cy="5128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Correlation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702814"/>
            <a:ext cx="1650492" cy="81305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Relationship strength</a:t>
            </a:r>
          </a:p>
        </p:txBody>
      </p:sp>
      <p:sp>
        <p:nvSpPr>
          <p:cNvPr id="20" name="card-4"/>
          <p:cNvSpPr/>
          <p:nvPr/>
        </p:nvSpPr>
        <p:spPr>
          <a:xfrm>
            <a:off x="6780276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963156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chartline" descr="char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996" y="1639884"/>
            <a:ext cx="313822" cy="31382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08292" y="2171700"/>
            <a:ext cx="1650492" cy="27470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Regression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8292" y="2464689"/>
            <a:ext cx="1650492" cy="105117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Predict an outcome</a:t>
            </a:r>
          </a:p>
        </p:txBody>
      </p:sp>
      <p:sp>
        <p:nvSpPr>
          <p:cNvPr id="25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con-calculator" descr="calculato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oxima Nova"/>
              </a:rPr>
              <a:t>Choose the test from the question, data and assumptions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Statistical Significance Is Not the Whole Story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85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8229600" cy="155448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5200" b="1" i="0">
                <a:solidFill>
                  <a:srgbClr val="F5333F"/>
                </a:solidFill>
                <a:latin typeface="Proxima Nova"/>
              </a:rPr>
              <a:t>90.00% → 90.10%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79191"/>
            <a:ext cx="8229600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2800" b="1" i="0">
                <a:solidFill>
                  <a:srgbClr val="1C2A26"/>
                </a:solidFill>
                <a:latin typeface="Proxima Nova"/>
              </a:rPr>
              <a:t>Statistically significant. Practically important?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93592"/>
            <a:ext cx="6766560" cy="10058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2000" b="0" i="0">
                <a:solidFill>
                  <a:srgbClr val="5C6A64"/>
                </a:solidFill>
                <a:latin typeface="Proxima Nova"/>
              </a:rPr>
              <a:t>Significance and practical importance are not the same thing.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Model Evaluation in AI Research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86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8229600" cy="155448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6500" b="1" i="0">
                <a:solidFill>
                  <a:srgbClr val="F5333F"/>
                </a:solidFill>
                <a:latin typeface="Proxima Nova"/>
              </a:rPr>
              <a:t>95% negative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79191"/>
            <a:ext cx="8229600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2800" b="1" i="0">
                <a:solidFill>
                  <a:srgbClr val="1C2A26"/>
                </a:solidFill>
                <a:latin typeface="Proxima Nova"/>
              </a:rPr>
              <a:t>A model predicting “negative” always scores 95%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93592"/>
            <a:ext cx="6766560" cy="10058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2000" b="0" i="0">
                <a:solidFill>
                  <a:srgbClr val="5C6A64"/>
                </a:solidFill>
                <a:latin typeface="Proxima Nova"/>
              </a:rPr>
              <a:t>Use precision • recall • F1 • confusion matrix when classes are imbalanced.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Correlation Does Not Automatically Mean Causation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87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02412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02412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Correlation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3453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link" descr="lin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12963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73736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More AI ↔ higher productivity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9466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link" descr="lin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08975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269748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Two things move together</a:t>
            </a:r>
          </a:p>
        </p:txBody>
      </p:sp>
      <p:sp>
        <p:nvSpPr>
          <p:cNvPr id="13" name="panel-2"/>
          <p:cNvSpPr/>
          <p:nvPr/>
        </p:nvSpPr>
        <p:spPr>
          <a:xfrm>
            <a:off x="4800600" y="102412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800600" y="102412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Causation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03453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flask" descr="flas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12963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173736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AI caused the productivity gain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299466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flask" descr="flas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08975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269748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Needs design and evidence</a:t>
            </a:r>
          </a:p>
        </p:txBody>
      </p:sp>
      <p:sp>
        <p:nvSpPr>
          <p:cNvPr id="21" name="Oval 20"/>
          <p:cNvSpPr/>
          <p:nvPr/>
        </p:nvSpPr>
        <p:spPr>
          <a:xfrm>
            <a:off x="4334256" y="2212848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  <p:sp>
        <p:nvSpPr>
          <p:cNvPr id="22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question" descr="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roxima Nova"/>
              </a:rPr>
              <a:t>Other explanations: size, resources, tech maturity…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Results vs. Interpretation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88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Result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5457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chartbar" descr="chartba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44967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900" b="0" i="0">
                <a:solidFill>
                  <a:srgbClr val="1C2A26"/>
                </a:solidFill>
                <a:latin typeface="Proxima Nova"/>
              </a:rPr>
              <a:t>“Model A: F1 = 0.87, Model B: 0.82”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1469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chartbar" descr="chartba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40979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900" b="0" i="0">
                <a:solidFill>
                  <a:srgbClr val="1C2A26"/>
                </a:solidFill>
                <a:latin typeface="Proxima Nova"/>
              </a:rPr>
              <a:t>What the data shows</a:t>
            </a:r>
          </a:p>
        </p:txBody>
      </p:sp>
      <p:sp>
        <p:nvSpPr>
          <p:cNvPr id="13" name="panel-2"/>
          <p:cNvSpPr/>
          <p:nvPr/>
        </p:nvSpPr>
        <p:spPr>
          <a:xfrm>
            <a:off x="48006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8006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Interpretation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35457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brain" descr="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44967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900" b="0" i="0">
                <a:solidFill>
                  <a:srgbClr val="1C2A26"/>
                </a:solidFill>
                <a:latin typeface="Proxima Nova"/>
              </a:rPr>
              <a:t>“A handles minority cases better”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331469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brain" descr="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40979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900" b="0" i="0">
                <a:solidFill>
                  <a:srgbClr val="1C2A26"/>
                </a:solidFill>
                <a:latin typeface="Proxima Nova"/>
              </a:rPr>
              <a:t>What it means and why</a:t>
            </a:r>
          </a:p>
        </p:txBody>
      </p:sp>
      <p:sp>
        <p:nvSpPr>
          <p:cNvPr id="21" name="Oval 20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6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89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Accuracy rises from 90.00% to 90.10% and the result is statistically significant. Best conclusion?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 major breakthrough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Significance and practical importance differ — judge both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Statistics cannot be trusted</a:t>
            </a:r>
          </a:p>
        </p:txBody>
      </p:sp>
      <p:sp>
        <p:nvSpPr>
          <p:cNvPr id="15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Publish immediately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3708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FFE3E5"/>
                </a:solidFill>
                <a:latin typeface="Proxima Nova"/>
              </a:rPr>
              <a:t>Type your answer in the chat — A, B, C or D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6 — Answer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90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Accuracy rises from 90.00% to 90.10% and the result is statistically significant. Best conclusion?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A major breakthrough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5333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oxima Nova"/>
              </a:rPr>
              <a:t>Significance and practical importance differ — judge both</a:t>
            </a:r>
          </a:p>
        </p:txBody>
      </p:sp>
      <p:pic>
        <p:nvPicPr>
          <p:cNvPr id="12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2487168"/>
            <a:ext cx="329184" cy="329184"/>
          </a:xfrm>
          <a:prstGeom prst="rect">
            <a:avLst/>
          </a:prstGeom>
        </p:spPr>
      </p:pic>
      <p:sp>
        <p:nvSpPr>
          <p:cNvPr id="13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Statistics cannot be trusted</a:t>
            </a:r>
          </a:p>
        </p:txBody>
      </p:sp>
      <p:sp>
        <p:nvSpPr>
          <p:cNvPr id="16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Publish immediately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431596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E3E5"/>
                </a:solidFill>
                <a:latin typeface="Proxima Nova"/>
              </a:rPr>
              <a:t>Why? </a:t>
            </a:r>
            <a:r>
              <a:rPr sz="1500" b="0" i="0">
                <a:solidFill>
                  <a:srgbClr val="FFFFFF"/>
                </a:solidFill>
                <a:latin typeface="Proxima Nova"/>
              </a:rPr>
              <a:t>With enough data, tiny differences become significant. Ask whether the gain matters.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1783080"/>
            <a:ext cx="7680960" cy="2011680"/>
          </a:xfrm>
        </p:spPr>
        <p:txBody>
          <a:bodyPr wrap="square" lIns="0" tIns="0" rIns="0" bIns="0" anchor="t"/>
          <a:lstStyle/>
          <a:p>
            <a:pPr algn="l"/>
            <a:r>
              <a:rPr sz="3100" b="1" i="0">
                <a:solidFill>
                  <a:srgbClr val="FFFFFF"/>
                </a:solidFill>
                <a:latin typeface="Proxima Nova"/>
              </a:rPr>
              <a:t>Can We Trust the Findings? Validity, Reproducibility and Generalizability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91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inutes-chip"/>
          <p:cNvSpPr/>
          <p:nvPr/>
        </p:nvSpPr>
        <p:spPr>
          <a:xfrm>
            <a:off x="630936" y="118872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endParaRPr sz="1500" b="1" i="0" dirty="0">
              <a:solidFill>
                <a:srgbClr val="1C2A26"/>
              </a:solidFill>
              <a:latin typeface="Proxima Nov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093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272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362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8541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9631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0720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18104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900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3989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50791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6168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72583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8348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9437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0527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1616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A Good Result Is Not Automatically a Strong Result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92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item-1"/>
          <p:cNvSpPr/>
          <p:nvPr/>
        </p:nvSpPr>
        <p:spPr>
          <a:xfrm>
            <a:off x="457200" y="1069848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5216" y="128016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069848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Which dataset?</a:t>
            </a:r>
          </a:p>
        </p:txBody>
      </p:sp>
      <p:sp>
        <p:nvSpPr>
          <p:cNvPr id="8" name="item-2"/>
          <p:cNvSpPr/>
          <p:nvPr/>
        </p:nvSpPr>
        <p:spPr>
          <a:xfrm>
            <a:off x="457200" y="2039112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85216" y="2249424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039112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How was the data split?</a:t>
            </a:r>
          </a:p>
        </p:txBody>
      </p:sp>
      <p:sp>
        <p:nvSpPr>
          <p:cNvPr id="11" name="item-3"/>
          <p:cNvSpPr/>
          <p:nvPr/>
        </p:nvSpPr>
        <p:spPr>
          <a:xfrm>
            <a:off x="457200" y="3008376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5216" y="3218688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008376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Any data leakage?</a:t>
            </a:r>
          </a:p>
        </p:txBody>
      </p:sp>
      <p:sp>
        <p:nvSpPr>
          <p:cNvPr id="14" name="item-4"/>
          <p:cNvSpPr/>
          <p:nvPr/>
        </p:nvSpPr>
        <p:spPr>
          <a:xfrm>
            <a:off x="4645152" y="1069848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773168" y="128016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1069848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What was the baseline?</a:t>
            </a:r>
          </a:p>
        </p:txBody>
      </p:sp>
      <p:sp>
        <p:nvSpPr>
          <p:cNvPr id="17" name="item-5"/>
          <p:cNvSpPr/>
          <p:nvPr/>
        </p:nvSpPr>
        <p:spPr>
          <a:xfrm>
            <a:off x="4645152" y="2039112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773168" y="2249424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039112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Truly unseen test set?</a:t>
            </a:r>
          </a:p>
        </p:txBody>
      </p:sp>
      <p:sp>
        <p:nvSpPr>
          <p:cNvPr id="20" name="item-6"/>
          <p:cNvSpPr/>
          <p:nvPr/>
        </p:nvSpPr>
        <p:spPr>
          <a:xfrm>
            <a:off x="4645152" y="3008376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73168" y="3218688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3008376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Experiment repeated?</a:t>
            </a:r>
          </a:p>
        </p:txBody>
      </p:sp>
      <p:sp>
        <p:nvSpPr>
          <p:cNvPr id="23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icon-exclamationtriangle" descr="exclamationtriang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“96% accuracy” is a claim, not yet evidence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Internal Validity — Did the Study Really Test the Claim?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93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Training programme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Productivity +20%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What else changed?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Not proven yet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A significant result can still be an unproven explanation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External Validity — Will It Work Elsewhere?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94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Trained on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5457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database" descr="databas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44967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English customer-support data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1469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database" descr="databas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40979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Large organizations</a:t>
            </a:r>
          </a:p>
        </p:txBody>
      </p:sp>
      <p:sp>
        <p:nvSpPr>
          <p:cNvPr id="13" name="panel-2"/>
          <p:cNvSpPr/>
          <p:nvPr/>
        </p:nvSpPr>
        <p:spPr>
          <a:xfrm>
            <a:off x="48006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8006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Will it work on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35457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globe" descr="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44967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Other languages?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331469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globe" descr="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40979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Small firms? Other industries?</a:t>
            </a:r>
          </a:p>
        </p:txBody>
      </p:sp>
      <p:sp>
        <p:nvSpPr>
          <p:cNvPr id="21" name="Oval 20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Generalizability Has Boundaries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95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504187"/>
            <a:ext cx="3886200" cy="189280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50418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Works well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51459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checkcircle" descr="checkcirc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60969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2174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High-quality English text</a:t>
            </a:r>
          </a:p>
        </p:txBody>
      </p:sp>
      <p:sp>
        <p:nvSpPr>
          <p:cNvPr id="10" name="panel-2"/>
          <p:cNvSpPr/>
          <p:nvPr/>
        </p:nvSpPr>
        <p:spPr>
          <a:xfrm>
            <a:off x="4800600" y="1504187"/>
            <a:ext cx="3886200" cy="189280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anel-head-2"/>
          <p:cNvSpPr/>
          <p:nvPr/>
        </p:nvSpPr>
        <p:spPr>
          <a:xfrm>
            <a:off x="4800600" y="150418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Struggles</a:t>
            </a:r>
          </a:p>
        </p:txBody>
      </p:sp>
      <p:sp>
        <p:nvSpPr>
          <p:cNvPr id="12" name="Oval 11"/>
          <p:cNvSpPr/>
          <p:nvPr/>
        </p:nvSpPr>
        <p:spPr>
          <a:xfrm>
            <a:off x="4983480" y="251459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-exclamationtriangle" descr="exclamationtriang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609697"/>
            <a:ext cx="175564" cy="1755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58968" y="22174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Noisy multilingual text</a:t>
            </a:r>
          </a:p>
        </p:txBody>
      </p:sp>
      <p:sp>
        <p:nvSpPr>
          <p:cNvPr id="15" name="Oval 14"/>
          <p:cNvSpPr/>
          <p:nvPr/>
        </p:nvSpPr>
        <p:spPr>
          <a:xfrm>
            <a:off x="4334256" y="2212848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  <p:sp>
        <p:nvSpPr>
          <p:cNvPr id="16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mountain" descr="mount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oxima Nova"/>
              </a:rPr>
              <a:t>A limit is not a failure — it maps the boundary of the finding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Reproducibility — Can I Repeat the Analysis?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96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Same data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Same code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Same steps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Same result?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Share data, code and settings so others can follow every step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Reproducibility vs. Replicability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97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Reproducibility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5457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redo" descr="red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44967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Same data + same code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1469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redo" descr="red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40979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Do I get the same result?</a:t>
            </a:r>
          </a:p>
        </p:txBody>
      </p:sp>
      <p:sp>
        <p:nvSpPr>
          <p:cNvPr id="13" name="panel-2"/>
          <p:cNvSpPr/>
          <p:nvPr/>
        </p:nvSpPr>
        <p:spPr>
          <a:xfrm>
            <a:off x="48006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8006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Replicability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35457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flask" descr="flas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44967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New data, same question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331469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flask" descr="flas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40979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Does the finding hold?</a:t>
            </a:r>
          </a:p>
        </p:txBody>
      </p:sp>
      <p:sp>
        <p:nvSpPr>
          <p:cNvPr id="21" name="Oval 20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Reproducible AI Research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98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cube" descr="cub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Model version</a:t>
            </a:r>
          </a:p>
        </p:txBody>
      </p:sp>
      <p:sp>
        <p:nvSpPr>
          <p:cNvPr id="9" name="card-2"/>
          <p:cNvSpPr/>
          <p:nvPr/>
        </p:nvSpPr>
        <p:spPr>
          <a:xfrm>
            <a:off x="2564892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74777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pen" descr="pe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667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92908" y="1645919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Prompts</a:t>
            </a:r>
          </a:p>
        </p:txBody>
      </p:sp>
      <p:sp>
        <p:nvSpPr>
          <p:cNvPr id="13" name="card-3"/>
          <p:cNvSpPr/>
          <p:nvPr/>
        </p:nvSpPr>
        <p:spPr>
          <a:xfrm>
            <a:off x="4672584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55464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database" descr="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359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00600" y="164591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Dataset and filtering</a:t>
            </a:r>
          </a:p>
        </p:txBody>
      </p:sp>
      <p:sp>
        <p:nvSpPr>
          <p:cNvPr id="17" name="card-4"/>
          <p:cNvSpPr/>
          <p:nvPr/>
        </p:nvSpPr>
        <p:spPr>
          <a:xfrm>
            <a:off x="6780276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6315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filter" descr="filt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051" y="1183599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08292" y="164591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Preprocessing</a:t>
            </a:r>
          </a:p>
        </p:txBody>
      </p:sp>
      <p:sp>
        <p:nvSpPr>
          <p:cNvPr id="21" name="card-5"/>
          <p:cNvSpPr/>
          <p:nvPr/>
        </p:nvSpPr>
        <p:spPr>
          <a:xfrm>
            <a:off x="457200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search" descr="sear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75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5216" y="3300984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Retrieval settings</a:t>
            </a:r>
          </a:p>
        </p:txBody>
      </p:sp>
      <p:sp>
        <p:nvSpPr>
          <p:cNvPr id="25" name="card-6"/>
          <p:cNvSpPr/>
          <p:nvPr/>
        </p:nvSpPr>
        <p:spPr>
          <a:xfrm>
            <a:off x="2564892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747772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ruler" descr="rul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667" y="283866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692908" y="3300984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Evaluation criteria</a:t>
            </a:r>
          </a:p>
        </p:txBody>
      </p:sp>
      <p:sp>
        <p:nvSpPr>
          <p:cNvPr id="29" name="card-7"/>
          <p:cNvSpPr/>
          <p:nvPr/>
        </p:nvSpPr>
        <p:spPr>
          <a:xfrm>
            <a:off x="4672584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855464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icon-dice" descr="dic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8359" y="2838663"/>
            <a:ext cx="266273" cy="2662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800600" y="3300984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Random seeds</a:t>
            </a:r>
          </a:p>
        </p:txBody>
      </p:sp>
      <p:sp>
        <p:nvSpPr>
          <p:cNvPr id="33" name="card-8"/>
          <p:cNvSpPr/>
          <p:nvPr/>
        </p:nvSpPr>
        <p:spPr>
          <a:xfrm>
            <a:off x="6780276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963156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con-code" descr="cod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051" y="2838663"/>
            <a:ext cx="266273" cy="2662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08292" y="3300984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Code and setup</a:t>
            </a:r>
          </a:p>
        </p:txBody>
      </p:sp>
      <p:sp>
        <p:nvSpPr>
          <p:cNvPr id="37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icon-redo" descr="redo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roxima Nova"/>
              </a:rPr>
              <a:t>If others cannot repeat it, others cannot trust it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Robustness — Does the Finding Survive Change?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99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400" b="1" i="0">
                <a:solidFill>
                  <a:srgbClr val="1C2A26"/>
                </a:solidFill>
                <a:latin typeface="Proxima Nova"/>
              </a:rPr>
              <a:t>Change the split</a:t>
            </a:r>
          </a:p>
        </p:txBody>
      </p:sp>
      <p:sp>
        <p:nvSpPr>
          <p:cNvPr id="6" name="Oval 5"/>
          <p:cNvSpPr/>
          <p:nvPr/>
        </p:nvSpPr>
        <p:spPr>
          <a:xfrm>
            <a:off x="1042416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157984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400" b="1" i="0">
                <a:solidFill>
                  <a:srgbClr val="1C2A26"/>
                </a:solidFill>
                <a:latin typeface="Proxima Nova"/>
              </a:rPr>
              <a:t>Remove noisy data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3858768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400" b="1" i="0">
                <a:solidFill>
                  <a:srgbClr val="1C2A26"/>
                </a:solidFill>
                <a:latin typeface="Proxima Nova"/>
              </a:rPr>
              <a:t>Tune a parameter</a:t>
            </a:r>
          </a:p>
        </p:txBody>
      </p:sp>
      <p:sp>
        <p:nvSpPr>
          <p:cNvPr id="12" name="Oval 11"/>
          <p:cNvSpPr/>
          <p:nvPr/>
        </p:nvSpPr>
        <p:spPr>
          <a:xfrm>
            <a:off x="444398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5559552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400" b="1" i="0">
                <a:solidFill>
                  <a:srgbClr val="1C2A26"/>
                </a:solidFill>
                <a:latin typeface="Proxima Nova"/>
              </a:rPr>
              <a:t>Switch the metric</a:t>
            </a:r>
          </a:p>
        </p:txBody>
      </p:sp>
      <p:sp>
        <p:nvSpPr>
          <p:cNvPr id="15" name="Oval 14"/>
          <p:cNvSpPr/>
          <p:nvPr/>
        </p:nvSpPr>
        <p:spPr>
          <a:xfrm>
            <a:off x="6144768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pic>
        <p:nvPicPr>
          <p:cNvPr id="16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2532888"/>
            <a:ext cx="201168" cy="201168"/>
          </a:xfrm>
          <a:prstGeom prst="rect">
            <a:avLst/>
          </a:prstGeom>
        </p:spPr>
      </p:pic>
      <p:sp>
        <p:nvSpPr>
          <p:cNvPr id="17" name="step-5"/>
          <p:cNvSpPr/>
          <p:nvPr/>
        </p:nvSpPr>
        <p:spPr>
          <a:xfrm>
            <a:off x="7260336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Proxima Nova"/>
              </a:rPr>
              <a:t>Still holds?</a:t>
            </a:r>
          </a:p>
        </p:txBody>
      </p:sp>
      <p:sp>
        <p:nvSpPr>
          <p:cNvPr id="18" name="Oval 17"/>
          <p:cNvSpPr/>
          <p:nvPr/>
        </p:nvSpPr>
        <p:spPr>
          <a:xfrm>
            <a:off x="7845552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A stable result earns confidence; a fragile one needs explanation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Uncertainty and Research Limitations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100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quote-card"/>
          <p:cNvSpPr/>
          <p:nvPr/>
        </p:nvSpPr>
        <p:spPr>
          <a:xfrm>
            <a:off x="457200" y="1033271"/>
            <a:ext cx="8229600" cy="3474720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353312"/>
            <a:ext cx="731520" cy="73152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shieldalt" descr="shieldal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" y="1528876"/>
            <a:ext cx="380390" cy="3803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37360" y="1216152"/>
            <a:ext cx="6583680" cy="201168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3000" b="1" i="0">
                <a:solidFill>
                  <a:srgbClr val="1C2A26"/>
                </a:solidFill>
                <a:latin typeface="Proxima Nova"/>
              </a:rPr>
              <a:t>Mature researchers report limitations. They do not hide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319272"/>
            <a:ext cx="6583680" cy="10058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800" b="0" i="0">
                <a:solidFill>
                  <a:srgbClr val="5C6A64"/>
                </a:solidFill>
                <a:latin typeface="Proxima Nova"/>
              </a:rPr>
              <a:t>Dataset • sample • experiment • assumptions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The Credibility Checklist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101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item-1"/>
          <p:cNvSpPr/>
          <p:nvPr/>
        </p:nvSpPr>
        <p:spPr>
          <a:xfrm>
            <a:off x="457200" y="896112"/>
            <a:ext cx="4041648" cy="504748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5216" y="947318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896112"/>
            <a:ext cx="3328415" cy="5047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0" i="0">
                <a:solidFill>
                  <a:srgbClr val="1C2A26"/>
                </a:solidFill>
                <a:latin typeface="Proxima Nova"/>
              </a:rPr>
              <a:t>Is the design appropriate?</a:t>
            </a:r>
          </a:p>
        </p:txBody>
      </p:sp>
      <p:sp>
        <p:nvSpPr>
          <p:cNvPr id="8" name="item-2"/>
          <p:cNvSpPr/>
          <p:nvPr/>
        </p:nvSpPr>
        <p:spPr>
          <a:xfrm>
            <a:off x="457200" y="1547164"/>
            <a:ext cx="4041648" cy="504748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85216" y="1598371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547164"/>
            <a:ext cx="3328415" cy="5047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0" i="0">
                <a:solidFill>
                  <a:srgbClr val="1C2A26"/>
                </a:solidFill>
                <a:latin typeface="Proxima Nova"/>
              </a:rPr>
              <a:t>Are measurements appropriate?</a:t>
            </a:r>
          </a:p>
        </p:txBody>
      </p:sp>
      <p:sp>
        <p:nvSpPr>
          <p:cNvPr id="11" name="item-3"/>
          <p:cNvSpPr/>
          <p:nvPr/>
        </p:nvSpPr>
        <p:spPr>
          <a:xfrm>
            <a:off x="457200" y="2198217"/>
            <a:ext cx="4041648" cy="504748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5216" y="2249423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198217"/>
            <a:ext cx="3328415" cy="5047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0" i="0">
                <a:solidFill>
                  <a:srgbClr val="1C2A26"/>
                </a:solidFill>
                <a:latin typeface="Proxima Nova"/>
              </a:rPr>
              <a:t>Is the analysis suitable?</a:t>
            </a:r>
          </a:p>
        </p:txBody>
      </p:sp>
      <p:sp>
        <p:nvSpPr>
          <p:cNvPr id="14" name="item-4"/>
          <p:cNvSpPr/>
          <p:nvPr/>
        </p:nvSpPr>
        <p:spPr>
          <a:xfrm>
            <a:off x="457200" y="2849270"/>
            <a:ext cx="4041648" cy="504748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85216" y="2900476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849270"/>
            <a:ext cx="3328415" cy="5047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0" i="0">
                <a:solidFill>
                  <a:srgbClr val="1C2A26"/>
                </a:solidFill>
                <a:latin typeface="Proxima Nova"/>
              </a:rPr>
              <a:t>Are alternatives considered?</a:t>
            </a:r>
          </a:p>
        </p:txBody>
      </p:sp>
      <p:sp>
        <p:nvSpPr>
          <p:cNvPr id="17" name="item-5"/>
          <p:cNvSpPr/>
          <p:nvPr/>
        </p:nvSpPr>
        <p:spPr>
          <a:xfrm>
            <a:off x="457200" y="3500323"/>
            <a:ext cx="4041648" cy="504748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85216" y="3551529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500323"/>
            <a:ext cx="3328415" cy="5047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0" i="0">
                <a:solidFill>
                  <a:srgbClr val="1C2A26"/>
                </a:solidFill>
                <a:latin typeface="Proxima Nova"/>
              </a:rPr>
              <a:t>Are the findings robust?</a:t>
            </a:r>
          </a:p>
        </p:txBody>
      </p:sp>
      <p:sp>
        <p:nvSpPr>
          <p:cNvPr id="20" name="item-6"/>
          <p:cNvSpPr/>
          <p:nvPr/>
        </p:nvSpPr>
        <p:spPr>
          <a:xfrm>
            <a:off x="4645152" y="896112"/>
            <a:ext cx="4041648" cy="504748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73168" y="947318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896112"/>
            <a:ext cx="3328415" cy="5047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0" i="0">
                <a:solidFill>
                  <a:srgbClr val="1C2A26"/>
                </a:solidFill>
                <a:latin typeface="Proxima Nova"/>
              </a:rPr>
              <a:t>Can it be reproduced?</a:t>
            </a:r>
          </a:p>
        </p:txBody>
      </p:sp>
      <p:sp>
        <p:nvSpPr>
          <p:cNvPr id="23" name="item-7"/>
          <p:cNvSpPr/>
          <p:nvPr/>
        </p:nvSpPr>
        <p:spPr>
          <a:xfrm>
            <a:off x="4645152" y="1547164"/>
            <a:ext cx="4041648" cy="504748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773168" y="1598371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1547164"/>
            <a:ext cx="3328415" cy="5047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0" i="0">
                <a:solidFill>
                  <a:srgbClr val="1C2A26"/>
                </a:solidFill>
                <a:latin typeface="Proxima Nova"/>
              </a:rPr>
              <a:t>Can it be replicated?</a:t>
            </a:r>
          </a:p>
        </p:txBody>
      </p:sp>
      <p:sp>
        <p:nvSpPr>
          <p:cNvPr id="26" name="item-8"/>
          <p:cNvSpPr/>
          <p:nvPr/>
        </p:nvSpPr>
        <p:spPr>
          <a:xfrm>
            <a:off x="4645152" y="2198217"/>
            <a:ext cx="4041648" cy="504748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773168" y="2249423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6944" y="2198217"/>
            <a:ext cx="3328415" cy="5047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0" i="0">
                <a:solidFill>
                  <a:srgbClr val="1C2A26"/>
                </a:solidFill>
                <a:latin typeface="Proxima Nova"/>
              </a:rPr>
              <a:t>How far can it generalize?</a:t>
            </a:r>
          </a:p>
        </p:txBody>
      </p:sp>
      <p:sp>
        <p:nvSpPr>
          <p:cNvPr id="29" name="item-9"/>
          <p:cNvSpPr/>
          <p:nvPr/>
        </p:nvSpPr>
        <p:spPr>
          <a:xfrm>
            <a:off x="4645152" y="2849270"/>
            <a:ext cx="4041648" cy="504748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773168" y="2900476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66944" y="2849270"/>
            <a:ext cx="3328415" cy="5047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0" i="0">
                <a:solidFill>
                  <a:srgbClr val="1C2A26"/>
                </a:solidFill>
                <a:latin typeface="Proxima Nova"/>
              </a:rPr>
              <a:t>Are limitations reported?</a:t>
            </a:r>
          </a:p>
        </p:txBody>
      </p:sp>
      <p:sp>
        <p:nvSpPr>
          <p:cNvPr id="32" name="item-10"/>
          <p:cNvSpPr/>
          <p:nvPr/>
        </p:nvSpPr>
        <p:spPr>
          <a:xfrm>
            <a:off x="4645152" y="3500323"/>
            <a:ext cx="4041648" cy="504748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773168" y="3551529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66944" y="3500323"/>
            <a:ext cx="3328415" cy="5047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0" i="0">
                <a:solidFill>
                  <a:srgbClr val="1C2A26"/>
                </a:solidFill>
                <a:latin typeface="Proxima Nova"/>
              </a:rPr>
              <a:t>Is the conclusion proportional?</a:t>
            </a:r>
          </a:p>
        </p:txBody>
      </p:sp>
      <p:sp>
        <p:nvSpPr>
          <p:cNvPr id="35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icon-route" descr="rout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oxima Nova"/>
              </a:rPr>
              <a:t>Result → Verification → Robustness → Replication → Generalization → Confidence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7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102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Another team runs your code on your data and gets the same result. This demonstrates…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Replicability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Reproducibility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Generalizability</a:t>
            </a:r>
          </a:p>
        </p:txBody>
      </p:sp>
      <p:sp>
        <p:nvSpPr>
          <p:cNvPr id="15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External validity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3708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FFE3E5"/>
                </a:solidFill>
                <a:latin typeface="Proxima Nova"/>
              </a:rPr>
              <a:t>Type your answer in the chat — A, B, C or D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7 — Answer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103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Another team runs your code on your data and gets the same result. This demonstrates…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Replicability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5333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oxima Nova"/>
              </a:rPr>
              <a:t>Reproducibility</a:t>
            </a:r>
          </a:p>
        </p:txBody>
      </p:sp>
      <p:pic>
        <p:nvPicPr>
          <p:cNvPr id="12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2487168"/>
            <a:ext cx="329184" cy="329184"/>
          </a:xfrm>
          <a:prstGeom prst="rect">
            <a:avLst/>
          </a:prstGeom>
        </p:spPr>
      </p:pic>
      <p:sp>
        <p:nvSpPr>
          <p:cNvPr id="13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Generalizability</a:t>
            </a:r>
          </a:p>
        </p:txBody>
      </p:sp>
      <p:sp>
        <p:nvSpPr>
          <p:cNvPr id="16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External validity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431596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E3E5"/>
                </a:solidFill>
                <a:latin typeface="Proxima Nova"/>
              </a:rPr>
              <a:t>Why? </a:t>
            </a:r>
            <a:r>
              <a:rPr sz="1500" b="0" i="0">
                <a:solidFill>
                  <a:srgbClr val="FFFFFF"/>
                </a:solidFill>
                <a:latin typeface="Proxima Nova"/>
              </a:rPr>
              <a:t>Reproducibility = same data + same procedures. Replicability uses new data.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1783080"/>
            <a:ext cx="7680960" cy="201168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Proxima Nova"/>
              </a:rPr>
              <a:t>How to Critically Evaluate a Research Paper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104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inutes-chip"/>
          <p:cNvSpPr/>
          <p:nvPr/>
        </p:nvSpPr>
        <p:spPr>
          <a:xfrm>
            <a:off x="630936" y="118872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endParaRPr sz="1500" b="1" i="0" dirty="0">
              <a:solidFill>
                <a:srgbClr val="1C2A26"/>
              </a:solidFill>
              <a:latin typeface="Proxima Nov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093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272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362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8541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9631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0720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1810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900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3989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50791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6168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72583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8348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9437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0527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1616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Reading a Research Paper Is Not the Same as Critically Reading It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105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Reading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book" descr="boo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06105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What did they do?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book" descr="boo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92973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258318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What were the results?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con-book" descr="boo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798417"/>
            <a:ext cx="175564" cy="1755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" y="345186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What did they conclude?</a:t>
            </a:r>
          </a:p>
        </p:txBody>
      </p:sp>
      <p:sp>
        <p:nvSpPr>
          <p:cNvPr id="16" name="panel-2"/>
          <p:cNvSpPr/>
          <p:nvPr/>
        </p:nvSpPr>
        <p:spPr>
          <a:xfrm>
            <a:off x="48006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anel-head-2"/>
          <p:cNvSpPr/>
          <p:nvPr/>
        </p:nvSpPr>
        <p:spPr>
          <a:xfrm>
            <a:off x="48006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Critical reading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196596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search" descr="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06105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Do the evidence and methods support the claims?</a:t>
            </a:r>
          </a:p>
        </p:txBody>
      </p:sp>
      <p:sp>
        <p:nvSpPr>
          <p:cNvPr id="21" name="Oval 20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Start With the Research Question, Not the Results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106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eye" descr="ey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Descriptive</a:t>
            </a:r>
          </a:p>
        </p:txBody>
      </p:sp>
      <p:sp>
        <p:nvSpPr>
          <p:cNvPr id="9" name="card-2"/>
          <p:cNvSpPr/>
          <p:nvPr/>
        </p:nvSpPr>
        <p:spPr>
          <a:xfrm>
            <a:off x="3267456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5033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chartline" descr="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31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95472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Predictive</a:t>
            </a:r>
          </a:p>
        </p:txBody>
      </p:sp>
      <p:sp>
        <p:nvSpPr>
          <p:cNvPr id="13" name="card-3"/>
          <p:cNvSpPr/>
          <p:nvPr/>
        </p:nvSpPr>
        <p:spPr>
          <a:xfrm>
            <a:off x="6077712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6059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link" descr="lin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87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5728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Causal</a:t>
            </a:r>
          </a:p>
        </p:txBody>
      </p:sp>
      <p:sp>
        <p:nvSpPr>
          <p:cNvPr id="17" name="card-4"/>
          <p:cNvSpPr/>
          <p:nvPr/>
        </p:nvSpPr>
        <p:spPr>
          <a:xfrm>
            <a:off x="1862328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045208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compass" descr="compas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8103" y="2838663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990344" y="3300984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Exploratory</a:t>
            </a:r>
          </a:p>
        </p:txBody>
      </p:sp>
      <p:sp>
        <p:nvSpPr>
          <p:cNvPr id="21" name="card-5"/>
          <p:cNvSpPr/>
          <p:nvPr/>
        </p:nvSpPr>
        <p:spPr>
          <a:xfrm>
            <a:off x="4672584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855464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wrench" descr="wren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359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00600" y="3300984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New method</a:t>
            </a:r>
          </a:p>
        </p:txBody>
      </p:sp>
      <p:sp>
        <p:nvSpPr>
          <p:cNvPr id="25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con-question" descr="questio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oxima Nova"/>
              </a:rPr>
              <a:t>The research design must make sense for the TYPE of question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Does the Method Actually Match the Question?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107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914400"/>
            <a:ext cx="3886200" cy="3712463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914400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Proxima Nova"/>
              </a:rPr>
              <a:t>Claim: “AI improves learning”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37943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flask" descr="flas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1933041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627632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Control group?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24328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flask" descr="flas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719425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2414016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Pre-test and post-test?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410712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con-flask" descr="flas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505809"/>
            <a:ext cx="175564" cy="1755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" y="3200400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Random assignment?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197096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flask" descr="flas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4292193"/>
            <a:ext cx="175564" cy="1755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5568" y="3986784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Other explanations?</a:t>
            </a:r>
          </a:p>
        </p:txBody>
      </p:sp>
      <p:sp>
        <p:nvSpPr>
          <p:cNvPr id="19" name="panel-2"/>
          <p:cNvSpPr/>
          <p:nvPr/>
        </p:nvSpPr>
        <p:spPr>
          <a:xfrm>
            <a:off x="4800600" y="914400"/>
            <a:ext cx="3886200" cy="3712463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anel-head-2"/>
          <p:cNvSpPr/>
          <p:nvPr/>
        </p:nvSpPr>
        <p:spPr>
          <a:xfrm>
            <a:off x="4800600" y="914400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Proxima Nova"/>
              </a:rPr>
              <a:t>Interview study</a:t>
            </a:r>
          </a:p>
        </p:txBody>
      </p:sp>
      <p:sp>
        <p:nvSpPr>
          <p:cNvPr id="21" name="Oval 20"/>
          <p:cNvSpPr/>
          <p:nvPr/>
        </p:nvSpPr>
        <p:spPr>
          <a:xfrm>
            <a:off x="4983480" y="1837943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comments" descr="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1933041"/>
            <a:ext cx="175564" cy="1755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58968" y="1627632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Great for perceptions</a:t>
            </a:r>
          </a:p>
        </p:txBody>
      </p:sp>
      <p:sp>
        <p:nvSpPr>
          <p:cNvPr id="24" name="Oval 23"/>
          <p:cNvSpPr/>
          <p:nvPr/>
        </p:nvSpPr>
        <p:spPr>
          <a:xfrm>
            <a:off x="4983480" y="262432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icon-comments" descr="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719425"/>
            <a:ext cx="175564" cy="1755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58968" y="2414016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Cannot prove improvement</a:t>
            </a:r>
          </a:p>
        </p:txBody>
      </p:sp>
      <p:sp>
        <p:nvSpPr>
          <p:cNvPr id="27" name="Oval 26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Look for Hidden Weaknesses in the Methods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108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filter" descr="filte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2353056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Inclusion criteria defined?</a:t>
            </a:r>
          </a:p>
        </p:txBody>
      </p:sp>
      <p:sp>
        <p:nvSpPr>
          <p:cNvPr id="9" name="card-2"/>
          <p:cNvSpPr/>
          <p:nvPr/>
        </p:nvSpPr>
        <p:spPr>
          <a:xfrm>
            <a:off x="3267456" y="896112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5033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users" descr="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31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95472" y="1645919"/>
            <a:ext cx="2353056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Sample appropriate?</a:t>
            </a:r>
          </a:p>
        </p:txBody>
      </p:sp>
      <p:sp>
        <p:nvSpPr>
          <p:cNvPr id="13" name="card-3"/>
          <p:cNvSpPr/>
          <p:nvPr/>
        </p:nvSpPr>
        <p:spPr>
          <a:xfrm>
            <a:off x="6077712" y="896112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6059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ban" descr="ba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87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5728" y="1645919"/>
            <a:ext cx="2353056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Important cases excluded?</a:t>
            </a:r>
          </a:p>
        </p:txBody>
      </p:sp>
      <p:sp>
        <p:nvSpPr>
          <p:cNvPr id="17" name="card-4"/>
          <p:cNvSpPr/>
          <p:nvPr/>
        </p:nvSpPr>
        <p:spPr>
          <a:xfrm>
            <a:off x="457200" y="2871215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303580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question" descr="questi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3158703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5216" y="3621023"/>
            <a:ext cx="2353056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Missing observations?</a:t>
            </a:r>
          </a:p>
        </p:txBody>
      </p:sp>
      <p:sp>
        <p:nvSpPr>
          <p:cNvPr id="21" name="card-5"/>
          <p:cNvSpPr/>
          <p:nvPr/>
        </p:nvSpPr>
        <p:spPr>
          <a:xfrm>
            <a:off x="3267456" y="2871215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450336" y="303580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userfriends" descr="userfriend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231" y="315870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395472" y="3621023"/>
            <a:ext cx="2353056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Participants lost?</a:t>
            </a:r>
          </a:p>
        </p:txBody>
      </p:sp>
      <p:sp>
        <p:nvSpPr>
          <p:cNvPr id="25" name="card-6"/>
          <p:cNvSpPr/>
          <p:nvPr/>
        </p:nvSpPr>
        <p:spPr>
          <a:xfrm>
            <a:off x="6077712" y="2871215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260592" y="303580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cogs" descr="cog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487" y="315870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05728" y="3621023"/>
            <a:ext cx="2353056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Preprocessing explained?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The Baseline Question — Better Than What?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109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02412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02412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Baseline = 91.8%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3453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equals" descr="equal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12963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73736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Model = 92%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9466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equals" descr="equal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08975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269748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Gain: +0.2 points</a:t>
            </a:r>
          </a:p>
        </p:txBody>
      </p:sp>
      <p:sp>
        <p:nvSpPr>
          <p:cNvPr id="13" name="panel-2"/>
          <p:cNvSpPr/>
          <p:nvPr/>
        </p:nvSpPr>
        <p:spPr>
          <a:xfrm>
            <a:off x="4800600" y="102412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800600" y="102412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Baseline = 70%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03453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rocket" descr="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12963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173736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Model = 92%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299466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rocket" descr="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08975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269748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Gain: +22 points</a:t>
            </a:r>
          </a:p>
        </p:txBody>
      </p:sp>
      <p:sp>
        <p:nvSpPr>
          <p:cNvPr id="21" name="Oval 20"/>
          <p:cNvSpPr/>
          <p:nvPr/>
        </p:nvSpPr>
        <p:spPr>
          <a:xfrm>
            <a:off x="4334256" y="2212848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  <p:sp>
        <p:nvSpPr>
          <p:cNvPr id="22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question" descr="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roxima Nova"/>
              </a:rPr>
              <a:t>Always ask: “Better than WHAT?”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Results and Conclusions — Are They Actually Aligned?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110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Q: Can A beat B?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Result: slightly better, one dataset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Claim: “Best for healthcare”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Proxima Nova"/>
              </a:rPr>
              <a:t>Overreach!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Question → Results → Conclusion must form a logical chain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Read the Paper Looking for Bias, Not Just Errors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111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1399031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Data selection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180136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1399031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Sampling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180136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1399031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Measurement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180136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1399031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Model development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step-5"/>
          <p:cNvSpPr/>
          <p:nvPr/>
        </p:nvSpPr>
        <p:spPr>
          <a:xfrm>
            <a:off x="1520189" y="2862072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Evaluation</a:t>
            </a:r>
          </a:p>
        </p:txBody>
      </p:sp>
      <p:sp>
        <p:nvSpPr>
          <p:cNvPr id="17" name="Oval 16"/>
          <p:cNvSpPr/>
          <p:nvPr/>
        </p:nvSpPr>
        <p:spPr>
          <a:xfrm>
            <a:off x="2318003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pic>
        <p:nvPicPr>
          <p:cNvPr id="18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426" y="3264408"/>
            <a:ext cx="201168" cy="201168"/>
          </a:xfrm>
          <a:prstGeom prst="rect">
            <a:avLst/>
          </a:prstGeom>
        </p:spPr>
      </p:pic>
      <p:sp>
        <p:nvSpPr>
          <p:cNvPr id="19" name="step-6"/>
          <p:cNvSpPr/>
          <p:nvPr/>
        </p:nvSpPr>
        <p:spPr>
          <a:xfrm>
            <a:off x="3646170" y="2862072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Analysis</a:t>
            </a:r>
          </a:p>
        </p:txBody>
      </p:sp>
      <p:sp>
        <p:nvSpPr>
          <p:cNvPr id="20" name="Oval 19"/>
          <p:cNvSpPr/>
          <p:nvPr/>
        </p:nvSpPr>
        <p:spPr>
          <a:xfrm>
            <a:off x="4443984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6</a:t>
            </a:r>
          </a:p>
        </p:txBody>
      </p:sp>
      <p:pic>
        <p:nvPicPr>
          <p:cNvPr id="21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405" y="3264408"/>
            <a:ext cx="201168" cy="201168"/>
          </a:xfrm>
          <a:prstGeom prst="rect">
            <a:avLst/>
          </a:prstGeom>
        </p:spPr>
      </p:pic>
      <p:sp>
        <p:nvSpPr>
          <p:cNvPr id="22" name="step-7"/>
          <p:cNvSpPr/>
          <p:nvPr/>
        </p:nvSpPr>
        <p:spPr>
          <a:xfrm>
            <a:off x="5772149" y="2862072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Interpretation</a:t>
            </a:r>
          </a:p>
        </p:txBody>
      </p:sp>
      <p:sp>
        <p:nvSpPr>
          <p:cNvPr id="23" name="Oval 22"/>
          <p:cNvSpPr/>
          <p:nvPr/>
        </p:nvSpPr>
        <p:spPr>
          <a:xfrm>
            <a:off x="6569964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Historical hiring data can teach a model yesterday’s bias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The Research Paper Critical-Appraisal Framework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112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item-1"/>
          <p:cNvSpPr/>
          <p:nvPr/>
        </p:nvSpPr>
        <p:spPr>
          <a:xfrm>
            <a:off x="457200" y="896112"/>
            <a:ext cx="4041648" cy="667512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5216" y="102870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896112"/>
            <a:ext cx="3328415" cy="66751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Problem: meaningful and clear?</a:t>
            </a:r>
          </a:p>
        </p:txBody>
      </p:sp>
      <p:sp>
        <p:nvSpPr>
          <p:cNvPr id="8" name="item-2"/>
          <p:cNvSpPr/>
          <p:nvPr/>
        </p:nvSpPr>
        <p:spPr>
          <a:xfrm>
            <a:off x="457200" y="1709928"/>
            <a:ext cx="4041648" cy="667512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85216" y="1842516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709928"/>
            <a:ext cx="3328415" cy="66751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Question: specific and answerable?</a:t>
            </a:r>
          </a:p>
        </p:txBody>
      </p:sp>
      <p:sp>
        <p:nvSpPr>
          <p:cNvPr id="11" name="item-3"/>
          <p:cNvSpPr/>
          <p:nvPr/>
        </p:nvSpPr>
        <p:spPr>
          <a:xfrm>
            <a:off x="457200" y="2523744"/>
            <a:ext cx="4041648" cy="667512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5216" y="2656332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523744"/>
            <a:ext cx="3328415" cy="66751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Method: fits the question?</a:t>
            </a:r>
          </a:p>
        </p:txBody>
      </p:sp>
      <p:sp>
        <p:nvSpPr>
          <p:cNvPr id="14" name="item-4"/>
          <p:cNvSpPr/>
          <p:nvPr/>
        </p:nvSpPr>
        <p:spPr>
          <a:xfrm>
            <a:off x="457200" y="3337560"/>
            <a:ext cx="4041648" cy="667512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85216" y="3470147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337560"/>
            <a:ext cx="3328415" cy="66751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Data: suitable and trustworthy?</a:t>
            </a:r>
          </a:p>
        </p:txBody>
      </p:sp>
      <p:sp>
        <p:nvSpPr>
          <p:cNvPr id="17" name="item-5"/>
          <p:cNvSpPr/>
          <p:nvPr/>
        </p:nvSpPr>
        <p:spPr>
          <a:xfrm>
            <a:off x="4645152" y="896112"/>
            <a:ext cx="4041648" cy="667512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773168" y="102870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896112"/>
            <a:ext cx="3328415" cy="66751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Analysis: appropriate?</a:t>
            </a:r>
          </a:p>
        </p:txBody>
      </p:sp>
      <p:sp>
        <p:nvSpPr>
          <p:cNvPr id="20" name="item-6"/>
          <p:cNvSpPr/>
          <p:nvPr/>
        </p:nvSpPr>
        <p:spPr>
          <a:xfrm>
            <a:off x="4645152" y="1709928"/>
            <a:ext cx="4041648" cy="667512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73168" y="1842516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1709928"/>
            <a:ext cx="3328415" cy="66751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Evidence: supports the claims?</a:t>
            </a:r>
          </a:p>
        </p:txBody>
      </p:sp>
      <p:sp>
        <p:nvSpPr>
          <p:cNvPr id="23" name="item-7"/>
          <p:cNvSpPr/>
          <p:nvPr/>
        </p:nvSpPr>
        <p:spPr>
          <a:xfrm>
            <a:off x="4645152" y="2523744"/>
            <a:ext cx="4041648" cy="667512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773168" y="2656332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2523744"/>
            <a:ext cx="3328415" cy="66751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Applicability: where to use, where to be careful?</a:t>
            </a:r>
          </a:p>
        </p:txBody>
      </p:sp>
      <p:sp>
        <p:nvSpPr>
          <p:cNvPr id="26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bolt" descr="bol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roxima Nova"/>
              </a:rPr>
              <a:t>Never evaluate a research paper by its results alone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8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113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A paper claims 92% accuracy. What should you ask first?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Which journal published it?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What is the research question and the baseline?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How many pages is it?</a:t>
            </a:r>
          </a:p>
        </p:txBody>
      </p:sp>
      <p:sp>
        <p:nvSpPr>
          <p:cNvPr id="15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Who are the authors?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3708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FFE3E5"/>
                </a:solidFill>
                <a:latin typeface="Proxima Nova"/>
              </a:rPr>
              <a:t>Type your answer in the chat — A, B, C or D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8 — Answer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114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A paper claims 92% accuracy. What should you ask first?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Which journal published it?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5333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oxima Nova"/>
              </a:rPr>
              <a:t>What is the research question and the baseline?</a:t>
            </a:r>
          </a:p>
        </p:txBody>
      </p:sp>
      <p:pic>
        <p:nvPicPr>
          <p:cNvPr id="12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2487168"/>
            <a:ext cx="329184" cy="329184"/>
          </a:xfrm>
          <a:prstGeom prst="rect">
            <a:avLst/>
          </a:prstGeom>
        </p:spPr>
      </p:pic>
      <p:sp>
        <p:nvSpPr>
          <p:cNvPr id="13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How many pages is it?</a:t>
            </a:r>
          </a:p>
        </p:txBody>
      </p:sp>
      <p:sp>
        <p:nvSpPr>
          <p:cNvPr id="16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Who are the authors?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431596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E3E5"/>
                </a:solidFill>
                <a:latin typeface="Proxima Nova"/>
              </a:rPr>
              <a:t>Why? </a:t>
            </a:r>
            <a:r>
              <a:rPr sz="1500" b="0" i="0">
                <a:solidFill>
                  <a:srgbClr val="FFFFFF"/>
                </a:solidFill>
                <a:latin typeface="Proxima Nova"/>
              </a:rPr>
              <a:t>One number means little without the question, the baseline and the evaluation setup.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1783080"/>
            <a:ext cx="7680960" cy="201168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Proxima Nova"/>
              </a:rPr>
              <a:t>How to Conduct a Strong Literature Review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115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inutes-chip"/>
          <p:cNvSpPr/>
          <p:nvPr/>
        </p:nvSpPr>
        <p:spPr>
          <a:xfrm>
            <a:off x="630936" y="118872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endParaRPr sz="1500" b="1" i="0" dirty="0">
              <a:solidFill>
                <a:srgbClr val="1C2A26"/>
              </a:solidFill>
              <a:latin typeface="Proxima Nov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093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272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362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8541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9631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0720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1810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9000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3989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50791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6168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72583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8348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9437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0527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1616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Literature Review Is Not a List of Papers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116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A list of papers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06105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“Author A studied…”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92973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258318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“Author B proposed…”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798417"/>
            <a:ext cx="175564" cy="1755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" y="345186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“Author C used…”</a:t>
            </a:r>
          </a:p>
        </p:txBody>
      </p:sp>
      <p:sp>
        <p:nvSpPr>
          <p:cNvPr id="16" name="panel-2"/>
          <p:cNvSpPr/>
          <p:nvPr/>
        </p:nvSpPr>
        <p:spPr>
          <a:xfrm>
            <a:off x="48006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anel-head-2"/>
          <p:cNvSpPr/>
          <p:nvPr/>
        </p:nvSpPr>
        <p:spPr>
          <a:xfrm>
            <a:off x="48006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A synthesis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196596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06105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Patterns across studies</a:t>
            </a:r>
          </a:p>
        </p:txBody>
      </p:sp>
      <p:sp>
        <p:nvSpPr>
          <p:cNvPr id="21" name="Oval 20"/>
          <p:cNvSpPr/>
          <p:nvPr/>
        </p:nvSpPr>
        <p:spPr>
          <a:xfrm>
            <a:off x="4983480" y="283464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929737"/>
            <a:ext cx="175564" cy="1755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58968" y="258318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Agreements and conflicts</a:t>
            </a:r>
          </a:p>
        </p:txBody>
      </p:sp>
      <p:sp>
        <p:nvSpPr>
          <p:cNvPr id="24" name="Oval 23"/>
          <p:cNvSpPr/>
          <p:nvPr/>
        </p:nvSpPr>
        <p:spPr>
          <a:xfrm>
            <a:off x="4983480" y="370332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798417"/>
            <a:ext cx="175564" cy="1755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58968" y="345186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What remains unresolved</a:t>
            </a:r>
          </a:p>
        </p:txBody>
      </p:sp>
      <p:sp>
        <p:nvSpPr>
          <p:cNvPr id="27" name="Oval 26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Search Strategy Comes Before Searching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117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Generative AI</a:t>
            </a:r>
          </a:p>
        </p:txBody>
      </p:sp>
      <p:sp>
        <p:nvSpPr>
          <p:cNvPr id="6" name="Oval 5"/>
          <p:cNvSpPr/>
          <p:nvPr/>
        </p:nvSpPr>
        <p:spPr>
          <a:xfrm>
            <a:off x="1042416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157984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Healthcare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3858768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Clinical decision support</a:t>
            </a:r>
          </a:p>
        </p:txBody>
      </p:sp>
      <p:sp>
        <p:nvSpPr>
          <p:cNvPr id="12" name="Oval 11"/>
          <p:cNvSpPr/>
          <p:nvPr/>
        </p:nvSpPr>
        <p:spPr>
          <a:xfrm>
            <a:off x="444398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5559552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Large language models</a:t>
            </a:r>
          </a:p>
        </p:txBody>
      </p:sp>
      <p:sp>
        <p:nvSpPr>
          <p:cNvPr id="15" name="Oval 14"/>
          <p:cNvSpPr/>
          <p:nvPr/>
        </p:nvSpPr>
        <p:spPr>
          <a:xfrm>
            <a:off x="6144768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pic>
        <p:nvPicPr>
          <p:cNvPr id="16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2532888"/>
            <a:ext cx="201168" cy="201168"/>
          </a:xfrm>
          <a:prstGeom prst="rect">
            <a:avLst/>
          </a:prstGeom>
        </p:spPr>
      </p:pic>
      <p:sp>
        <p:nvSpPr>
          <p:cNvPr id="17" name="step-5"/>
          <p:cNvSpPr/>
          <p:nvPr/>
        </p:nvSpPr>
        <p:spPr>
          <a:xfrm>
            <a:off x="7260336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Patient outcomes</a:t>
            </a:r>
          </a:p>
        </p:txBody>
      </p:sp>
      <p:sp>
        <p:nvSpPr>
          <p:cNvPr id="18" name="Oval 17"/>
          <p:cNvSpPr/>
          <p:nvPr/>
        </p:nvSpPr>
        <p:spPr>
          <a:xfrm>
            <a:off x="7845552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Break the topic into concepts and synonyms — then build search strings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Choose Sources Based on the Research Need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118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database" descr="databas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1639884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171700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Academic databases</a:t>
            </a:r>
          </a:p>
        </p:txBody>
      </p:sp>
      <p:sp>
        <p:nvSpPr>
          <p:cNvPr id="9" name="card-2"/>
          <p:cNvSpPr/>
          <p:nvPr/>
        </p:nvSpPr>
        <p:spPr>
          <a:xfrm>
            <a:off x="2564892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747772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link" descr="l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612" y="1639884"/>
            <a:ext cx="313822" cy="31382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92908" y="2171700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Citation indexes</a:t>
            </a:r>
          </a:p>
        </p:txBody>
      </p:sp>
      <p:sp>
        <p:nvSpPr>
          <p:cNvPr id="13" name="card-3"/>
          <p:cNvSpPr/>
          <p:nvPr/>
        </p:nvSpPr>
        <p:spPr>
          <a:xfrm>
            <a:off x="4672584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55464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folderopen" descr="folderope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04" y="1639884"/>
            <a:ext cx="313822" cy="31382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00600" y="2171700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Repositories</a:t>
            </a:r>
          </a:p>
        </p:txBody>
      </p:sp>
      <p:sp>
        <p:nvSpPr>
          <p:cNvPr id="17" name="card-4"/>
          <p:cNvSpPr/>
          <p:nvPr/>
        </p:nvSpPr>
        <p:spPr>
          <a:xfrm>
            <a:off x="6780276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63156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microscope" descr="microscop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996" y="1639884"/>
            <a:ext cx="313822" cy="31382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08292" y="2171700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Specialized sources</a:t>
            </a:r>
          </a:p>
        </p:txBody>
      </p:sp>
      <p:sp>
        <p:nvSpPr>
          <p:cNvPr id="21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exclamationtriangle" descr="exclamationtriang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One source is never the complete literature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Build Inclusion and Exclusion Criteria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119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914400"/>
            <a:ext cx="4000500" cy="3712463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914400"/>
            <a:ext cx="4000500" cy="566928"/>
          </a:xfrm>
          <a:prstGeom prst="roundRect">
            <a:avLst>
              <a:gd name="adj" fmla="val 12000"/>
            </a:avLst>
          </a:prstGeom>
          <a:solidFill>
            <a:srgbClr val="2E9E6B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Include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37943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1933041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627632"/>
            <a:ext cx="32506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LLMs or close language models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24328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719425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2414016"/>
            <a:ext cx="32506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Financial fraud or risk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410712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505809"/>
            <a:ext cx="175564" cy="1755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" y="3200400"/>
            <a:ext cx="32506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Within a defined period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197096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4292193"/>
            <a:ext cx="175564" cy="1755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5568" y="3986784"/>
            <a:ext cx="32506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Enough methodological detail</a:t>
            </a:r>
          </a:p>
        </p:txBody>
      </p:sp>
      <p:sp>
        <p:nvSpPr>
          <p:cNvPr id="19" name="panel-2"/>
          <p:cNvSpPr/>
          <p:nvPr/>
        </p:nvSpPr>
        <p:spPr>
          <a:xfrm>
            <a:off x="4686300" y="914400"/>
            <a:ext cx="4000500" cy="3712463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anel-head-2"/>
          <p:cNvSpPr/>
          <p:nvPr/>
        </p:nvSpPr>
        <p:spPr>
          <a:xfrm>
            <a:off x="4686300" y="914400"/>
            <a:ext cx="40005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Exclude</a:t>
            </a:r>
          </a:p>
        </p:txBody>
      </p:sp>
      <p:sp>
        <p:nvSpPr>
          <p:cNvPr id="21" name="Oval 20"/>
          <p:cNvSpPr/>
          <p:nvPr/>
        </p:nvSpPr>
        <p:spPr>
          <a:xfrm>
            <a:off x="4869180" y="1837943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times" descr="tim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277" y="1933041"/>
            <a:ext cx="175564" cy="1755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44668" y="1627632"/>
            <a:ext cx="32506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 different topic or application</a:t>
            </a:r>
          </a:p>
        </p:txBody>
      </p:sp>
      <p:sp>
        <p:nvSpPr>
          <p:cNvPr id="24" name="Oval 23"/>
          <p:cNvSpPr/>
          <p:nvPr/>
        </p:nvSpPr>
        <p:spPr>
          <a:xfrm>
            <a:off x="4869180" y="262432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icon-times" descr="tim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277" y="2719425"/>
            <a:ext cx="175564" cy="1755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44668" y="2414016"/>
            <a:ext cx="32506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Outside the defined period</a:t>
            </a:r>
          </a:p>
        </p:txBody>
      </p:sp>
      <p:sp>
        <p:nvSpPr>
          <p:cNvPr id="27" name="Oval 26"/>
          <p:cNvSpPr/>
          <p:nvPr/>
        </p:nvSpPr>
        <p:spPr>
          <a:xfrm>
            <a:off x="4869180" y="341071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icon-times" descr="tim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277" y="3505809"/>
            <a:ext cx="175564" cy="1755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44668" y="3200400"/>
            <a:ext cx="32506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Too little method detail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Search, Screen, Select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120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17627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Search</a:t>
            </a:r>
          </a:p>
        </p:txBody>
      </p:sp>
      <p:sp>
        <p:nvSpPr>
          <p:cNvPr id="6" name="Oval 5"/>
          <p:cNvSpPr/>
          <p:nvPr/>
        </p:nvSpPr>
        <p:spPr>
          <a:xfrm>
            <a:off x="1042416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67004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157984" y="217627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Screen titles and abstracts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67004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3858768" y="217627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Assess eligibility</a:t>
            </a:r>
          </a:p>
        </p:txBody>
      </p:sp>
      <p:sp>
        <p:nvSpPr>
          <p:cNvPr id="12" name="Oval 11"/>
          <p:cNvSpPr/>
          <p:nvPr/>
        </p:nvSpPr>
        <p:spPr>
          <a:xfrm>
            <a:off x="4443984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267004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5559552" y="217627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Select</a:t>
            </a:r>
          </a:p>
        </p:txBody>
      </p:sp>
      <p:sp>
        <p:nvSpPr>
          <p:cNvPr id="15" name="Oval 14"/>
          <p:cNvSpPr/>
          <p:nvPr/>
        </p:nvSpPr>
        <p:spPr>
          <a:xfrm>
            <a:off x="6144768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pic>
        <p:nvPicPr>
          <p:cNvPr id="16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2670048"/>
            <a:ext cx="201168" cy="201168"/>
          </a:xfrm>
          <a:prstGeom prst="rect">
            <a:avLst/>
          </a:prstGeom>
        </p:spPr>
      </p:pic>
      <p:sp>
        <p:nvSpPr>
          <p:cNvPr id="17" name="step-5"/>
          <p:cNvSpPr/>
          <p:nvPr/>
        </p:nvSpPr>
        <p:spPr>
          <a:xfrm>
            <a:off x="7260336" y="217627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Proxima Nova"/>
              </a:rPr>
              <a:t>Synthesize</a:t>
            </a:r>
          </a:p>
        </p:txBody>
      </p:sp>
      <p:sp>
        <p:nvSpPr>
          <p:cNvPr id="18" name="Oval 17"/>
          <p:cNvSpPr/>
          <p:nvPr/>
        </p:nvSpPr>
        <p:spPr>
          <a:xfrm>
            <a:off x="7845552" y="204825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Build a Literature Matrix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121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usertie" descr="userti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1650492" cy="4810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1C2A26"/>
                </a:solidFill>
                <a:latin typeface="Proxima Nova"/>
              </a:rPr>
              <a:t>Author and year</a:t>
            </a:r>
          </a:p>
        </p:txBody>
      </p:sp>
      <p:sp>
        <p:nvSpPr>
          <p:cNvPr id="9" name="card-2"/>
          <p:cNvSpPr/>
          <p:nvPr/>
        </p:nvSpPr>
        <p:spPr>
          <a:xfrm>
            <a:off x="2564892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74777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bullseye" descr="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667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92908" y="1645919"/>
            <a:ext cx="1650492" cy="4810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1C2A26"/>
                </a:solidFill>
                <a:latin typeface="Proxima Nova"/>
              </a:rPr>
              <a:t>Problem and objective</a:t>
            </a:r>
          </a:p>
        </p:txBody>
      </p:sp>
      <p:sp>
        <p:nvSpPr>
          <p:cNvPr id="13" name="card-3"/>
          <p:cNvSpPr/>
          <p:nvPr/>
        </p:nvSpPr>
        <p:spPr>
          <a:xfrm>
            <a:off x="4672584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55464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database" descr="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359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00600" y="1645919"/>
            <a:ext cx="1650492" cy="4810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1C2A26"/>
                </a:solidFill>
                <a:latin typeface="Proxima Nova"/>
              </a:rPr>
              <a:t>Dataset or sample</a:t>
            </a:r>
          </a:p>
        </p:txBody>
      </p:sp>
      <p:sp>
        <p:nvSpPr>
          <p:cNvPr id="17" name="card-4"/>
          <p:cNvSpPr/>
          <p:nvPr/>
        </p:nvSpPr>
        <p:spPr>
          <a:xfrm>
            <a:off x="6780276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6315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cogs" descr="co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051" y="1183599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08292" y="1645919"/>
            <a:ext cx="1650492" cy="2588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1C2A26"/>
                </a:solidFill>
                <a:latin typeface="Proxima Nova"/>
              </a:rPr>
              <a:t>Method</a:t>
            </a:r>
          </a:p>
        </p:txBody>
      </p:sp>
      <p:sp>
        <p:nvSpPr>
          <p:cNvPr id="21" name="card-5"/>
          <p:cNvSpPr/>
          <p:nvPr/>
        </p:nvSpPr>
        <p:spPr>
          <a:xfrm>
            <a:off x="457200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ruler" descr="rul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75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5216" y="3300984"/>
            <a:ext cx="1650492" cy="2588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1C2A26"/>
                </a:solidFill>
                <a:latin typeface="Proxima Nova"/>
              </a:rPr>
              <a:t>Metrics</a:t>
            </a:r>
          </a:p>
        </p:txBody>
      </p:sp>
      <p:sp>
        <p:nvSpPr>
          <p:cNvPr id="25" name="card-6"/>
          <p:cNvSpPr/>
          <p:nvPr/>
        </p:nvSpPr>
        <p:spPr>
          <a:xfrm>
            <a:off x="2564892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747772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chartbar" descr="chartba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667" y="283866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692908" y="3300984"/>
            <a:ext cx="1650492" cy="4810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1C2A26"/>
                </a:solidFill>
                <a:latin typeface="Proxima Nova"/>
              </a:rPr>
              <a:t>Key findings</a:t>
            </a:r>
          </a:p>
        </p:txBody>
      </p:sp>
      <p:sp>
        <p:nvSpPr>
          <p:cNvPr id="29" name="card-7"/>
          <p:cNvSpPr/>
          <p:nvPr/>
        </p:nvSpPr>
        <p:spPr>
          <a:xfrm>
            <a:off x="4672584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855464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icon-exclamationtriangle" descr="exclamationtriang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8359" y="2838663"/>
            <a:ext cx="266273" cy="2662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800600" y="3300984"/>
            <a:ext cx="1650492" cy="2588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1C2A26"/>
                </a:solidFill>
                <a:latin typeface="Proxima Nova"/>
              </a:rPr>
              <a:t>Limitations</a:t>
            </a:r>
          </a:p>
        </p:txBody>
      </p:sp>
      <p:sp>
        <p:nvSpPr>
          <p:cNvPr id="33" name="card-8"/>
          <p:cNvSpPr/>
          <p:nvPr/>
        </p:nvSpPr>
        <p:spPr>
          <a:xfrm>
            <a:off x="6780276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963156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con-puzzlepiece" descr="puzzlepiec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051" y="2838663"/>
            <a:ext cx="266273" cy="2662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08292" y="3300984"/>
            <a:ext cx="1650492" cy="4810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1C2A26"/>
                </a:solidFill>
                <a:latin typeface="Proxima Nova"/>
              </a:rPr>
              <a:t>Gap and relevance</a:t>
            </a:r>
          </a:p>
        </p:txBody>
      </p:sp>
      <p:sp>
        <p:nvSpPr>
          <p:cNvPr id="37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icon-table" descr="tabl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roxima Nova"/>
              </a:rPr>
              <a:t>Structured columns beat fifty PDFs in a folder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Compare Studies by Dimensions, Not by Author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122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database" descr="databas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1639884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171700"/>
            <a:ext cx="1650492" cy="27470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64689"/>
            <a:ext cx="1650492" cy="105117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Which datasets are used?</a:t>
            </a:r>
          </a:p>
        </p:txBody>
      </p:sp>
      <p:sp>
        <p:nvSpPr>
          <p:cNvPr id="10" name="card-2"/>
          <p:cNvSpPr/>
          <p:nvPr/>
        </p:nvSpPr>
        <p:spPr>
          <a:xfrm>
            <a:off x="2564892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747772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-cogs" descr="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612" y="1639884"/>
            <a:ext cx="313822" cy="3138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92908" y="2171700"/>
            <a:ext cx="1650492" cy="27470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2908" y="2464689"/>
            <a:ext cx="1650492" cy="105117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Which techniques?</a:t>
            </a:r>
          </a:p>
        </p:txBody>
      </p:sp>
      <p:sp>
        <p:nvSpPr>
          <p:cNvPr id="15" name="card-3"/>
          <p:cNvSpPr/>
          <p:nvPr/>
        </p:nvSpPr>
        <p:spPr>
          <a:xfrm>
            <a:off x="4672584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55464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ruler" descr="rul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04" y="1639884"/>
            <a:ext cx="313822" cy="31382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00600" y="2171700"/>
            <a:ext cx="1650492" cy="27470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464689"/>
            <a:ext cx="1650492" cy="105117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How is it evaluated?</a:t>
            </a:r>
          </a:p>
        </p:txBody>
      </p:sp>
      <p:sp>
        <p:nvSpPr>
          <p:cNvPr id="20" name="card-4"/>
          <p:cNvSpPr/>
          <p:nvPr/>
        </p:nvSpPr>
        <p:spPr>
          <a:xfrm>
            <a:off x="6780276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963156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globe" descr="glob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996" y="1639884"/>
            <a:ext cx="313822" cy="31382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08292" y="2171700"/>
            <a:ext cx="1650492" cy="5128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500" b="1" i="0">
                <a:solidFill>
                  <a:srgbClr val="1C2A26"/>
                </a:solidFill>
                <a:latin typeface="Proxima Nova"/>
              </a:rPr>
              <a:t>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8292" y="2702814"/>
            <a:ext cx="1650492" cy="81305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Where is it used?</a:t>
            </a:r>
          </a:p>
        </p:txBody>
      </p:sp>
      <p:sp>
        <p:nvSpPr>
          <p:cNvPr id="25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con-layergroup" descr="layergrou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roxima Nova"/>
              </a:rPr>
              <a:t>Organize by theme, not by author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Use Recent Papers Without Losing Foundational Research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123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Foundational papers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5457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university" descr="university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44967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900" b="0" i="0">
                <a:solidFill>
                  <a:srgbClr val="1C2A26"/>
                </a:solidFill>
                <a:latin typeface="Proxima Nova"/>
              </a:rPr>
              <a:t>Where the idea came from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1469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university" descr="university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40979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900" b="0" i="0">
                <a:solidFill>
                  <a:srgbClr val="1C2A26"/>
                </a:solidFill>
                <a:latin typeface="Proxima Nova"/>
              </a:rPr>
              <a:t>e.g. the original transformer paper</a:t>
            </a:r>
          </a:p>
        </p:txBody>
      </p:sp>
      <p:sp>
        <p:nvSpPr>
          <p:cNvPr id="13" name="panel-2"/>
          <p:cNvSpPr/>
          <p:nvPr/>
        </p:nvSpPr>
        <p:spPr>
          <a:xfrm>
            <a:off x="48006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8006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Recent papers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35457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rocket" descr="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44967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900" b="0" i="0">
                <a:solidFill>
                  <a:srgbClr val="1C2A26"/>
                </a:solidFill>
                <a:latin typeface="Proxima Nova"/>
              </a:rPr>
              <a:t>The current state of the field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331469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rocket" descr="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40979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900" b="0" i="0">
                <a:solidFill>
                  <a:srgbClr val="1C2A26"/>
                </a:solidFill>
                <a:latin typeface="Proxima Nova"/>
              </a:rPr>
              <a:t>e.g. LLM applications</a:t>
            </a:r>
          </a:p>
        </p:txBody>
      </p:sp>
      <p:sp>
        <p:nvSpPr>
          <p:cNvPr id="21" name="Oval 20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From Literature Summary to Evidence Synthesis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124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5 studies: strong gains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3 studies: moderate gains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2 studies: inconsistent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Why do they differ?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Not “LLMs are effective” — ask WHY the findings differ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The Literature Review Pipeline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125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1399031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Define the question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180136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1399031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Define concepts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180136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1399031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Design the search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180136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1399031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Screen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step-5"/>
          <p:cNvSpPr/>
          <p:nvPr/>
        </p:nvSpPr>
        <p:spPr>
          <a:xfrm>
            <a:off x="457200" y="2862072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Extract evidence</a:t>
            </a:r>
          </a:p>
        </p:txBody>
      </p:sp>
      <p:sp>
        <p:nvSpPr>
          <p:cNvPr id="17" name="Oval 16"/>
          <p:cNvSpPr/>
          <p:nvPr/>
        </p:nvSpPr>
        <p:spPr>
          <a:xfrm>
            <a:off x="1255014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pic>
        <p:nvPicPr>
          <p:cNvPr id="18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3264408"/>
            <a:ext cx="201168" cy="201168"/>
          </a:xfrm>
          <a:prstGeom prst="rect">
            <a:avLst/>
          </a:prstGeom>
        </p:spPr>
      </p:pic>
      <p:sp>
        <p:nvSpPr>
          <p:cNvPr id="19" name="step-6"/>
          <p:cNvSpPr/>
          <p:nvPr/>
        </p:nvSpPr>
        <p:spPr>
          <a:xfrm>
            <a:off x="2583179" y="2862072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Compare studies</a:t>
            </a:r>
          </a:p>
        </p:txBody>
      </p:sp>
      <p:sp>
        <p:nvSpPr>
          <p:cNvPr id="20" name="Oval 19"/>
          <p:cNvSpPr/>
          <p:nvPr/>
        </p:nvSpPr>
        <p:spPr>
          <a:xfrm>
            <a:off x="3380993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6</a:t>
            </a:r>
          </a:p>
        </p:txBody>
      </p:sp>
      <p:pic>
        <p:nvPicPr>
          <p:cNvPr id="21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3264408"/>
            <a:ext cx="201168" cy="201168"/>
          </a:xfrm>
          <a:prstGeom prst="rect">
            <a:avLst/>
          </a:prstGeom>
        </p:spPr>
      </p:pic>
      <p:sp>
        <p:nvSpPr>
          <p:cNvPr id="22" name="step-7"/>
          <p:cNvSpPr/>
          <p:nvPr/>
        </p:nvSpPr>
        <p:spPr>
          <a:xfrm>
            <a:off x="4709159" y="2862072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Synthesize</a:t>
            </a:r>
          </a:p>
        </p:txBody>
      </p:sp>
      <p:sp>
        <p:nvSpPr>
          <p:cNvPr id="23" name="Oval 22"/>
          <p:cNvSpPr/>
          <p:nvPr/>
        </p:nvSpPr>
        <p:spPr>
          <a:xfrm>
            <a:off x="5506974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7</a:t>
            </a:r>
          </a:p>
        </p:txBody>
      </p:sp>
      <p:pic>
        <p:nvPicPr>
          <p:cNvPr id="24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3264408"/>
            <a:ext cx="201168" cy="201168"/>
          </a:xfrm>
          <a:prstGeom prst="rect">
            <a:avLst/>
          </a:prstGeom>
        </p:spPr>
      </p:pic>
      <p:sp>
        <p:nvSpPr>
          <p:cNvPr id="25" name="step-8"/>
          <p:cNvSpPr/>
          <p:nvPr/>
        </p:nvSpPr>
        <p:spPr>
          <a:xfrm>
            <a:off x="6835140" y="2862072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Proxima Nova"/>
              </a:rPr>
              <a:t>What is unresolved?</a:t>
            </a:r>
          </a:p>
        </p:txBody>
      </p:sp>
      <p:sp>
        <p:nvSpPr>
          <p:cNvPr id="26" name="Oval 25"/>
          <p:cNvSpPr/>
          <p:nvPr/>
        </p:nvSpPr>
        <p:spPr>
          <a:xfrm>
            <a:off x="7632953" y="2734056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Show what you learned from the papers, not how many you read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9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126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Which best describes a strong literature review?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 summary of each paper in order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 synthesis of patterns, conflicts and gaps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As many citations as possible</a:t>
            </a:r>
          </a:p>
        </p:txBody>
      </p:sp>
      <p:sp>
        <p:nvSpPr>
          <p:cNvPr id="15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Only the most recent papers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3708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FFE3E5"/>
                </a:solidFill>
                <a:latin typeface="Proxima Nova"/>
              </a:rPr>
              <a:t>Type your answer in the chat — A, B, C or D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9 — Answer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127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Which best describes a strong literature review?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A summary of each paper in order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5333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oxima Nova"/>
              </a:rPr>
              <a:t>A synthesis of patterns, conflicts and gaps</a:t>
            </a:r>
          </a:p>
        </p:txBody>
      </p:sp>
      <p:pic>
        <p:nvPicPr>
          <p:cNvPr id="12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2487168"/>
            <a:ext cx="329184" cy="329184"/>
          </a:xfrm>
          <a:prstGeom prst="rect">
            <a:avLst/>
          </a:prstGeom>
        </p:spPr>
      </p:pic>
      <p:sp>
        <p:nvSpPr>
          <p:cNvPr id="13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As many citations as possible</a:t>
            </a:r>
          </a:p>
        </p:txBody>
      </p:sp>
      <p:sp>
        <p:nvSpPr>
          <p:cNvPr id="16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Only the most recent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431596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E3E5"/>
                </a:solidFill>
                <a:latin typeface="Proxima Nova"/>
              </a:rPr>
              <a:t>Why? </a:t>
            </a:r>
            <a:r>
              <a:rPr sz="1500" b="0" i="0">
                <a:solidFill>
                  <a:srgbClr val="FFFFFF"/>
                </a:solidFill>
                <a:latin typeface="Proxima Nova"/>
              </a:rPr>
              <a:t>It shows what you learned from the papers, not how many you read.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1783080"/>
            <a:ext cx="7680960" cy="201168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Proxima Nova"/>
              </a:rPr>
              <a:t>From Literature to a Strong Research Argument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128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inutes-chip"/>
          <p:cNvSpPr/>
          <p:nvPr/>
        </p:nvSpPr>
        <p:spPr>
          <a:xfrm>
            <a:off x="630936" y="118872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endParaRPr sz="1500" b="1" i="0" dirty="0">
              <a:solidFill>
                <a:srgbClr val="1C2A26"/>
              </a:solidFill>
              <a:latin typeface="Proxima Nov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093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272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362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8541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9631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0720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1810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9000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3989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50791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6168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72583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8348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9437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0527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1616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Research Writing Is an Argument, Not a Collection of Facts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129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A collection of facts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06105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Disconnected paragraphs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92973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258318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Many citations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798417"/>
            <a:ext cx="175564" cy="1755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" y="345186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No direction</a:t>
            </a:r>
          </a:p>
        </p:txBody>
      </p:sp>
      <p:sp>
        <p:nvSpPr>
          <p:cNvPr id="16" name="panel-2"/>
          <p:cNvSpPr/>
          <p:nvPr/>
        </p:nvSpPr>
        <p:spPr>
          <a:xfrm>
            <a:off x="48006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anel-head-2"/>
          <p:cNvSpPr/>
          <p:nvPr/>
        </p:nvSpPr>
        <p:spPr>
          <a:xfrm>
            <a:off x="48006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An argument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196596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06105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A clear claim</a:t>
            </a:r>
          </a:p>
        </p:txBody>
      </p:sp>
      <p:sp>
        <p:nvSpPr>
          <p:cNvPr id="21" name="Oval 20"/>
          <p:cNvSpPr/>
          <p:nvPr/>
        </p:nvSpPr>
        <p:spPr>
          <a:xfrm>
            <a:off x="4983480" y="283464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929737"/>
            <a:ext cx="175564" cy="1755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58968" y="258318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Evidence for it</a:t>
            </a:r>
          </a:p>
        </p:txBody>
      </p:sp>
      <p:sp>
        <p:nvSpPr>
          <p:cNvPr id="24" name="Oval 23"/>
          <p:cNvSpPr/>
          <p:nvPr/>
        </p:nvSpPr>
        <p:spPr>
          <a:xfrm>
            <a:off x="4983480" y="370332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798417"/>
            <a:ext cx="175564" cy="1755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58968" y="345186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A logical conclusion</a:t>
            </a:r>
          </a:p>
        </p:txBody>
      </p:sp>
      <p:sp>
        <p:nvSpPr>
          <p:cNvPr id="27" name="Oval 26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The Introduction Is a Funnel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130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level-1"/>
          <p:cNvSpPr/>
          <p:nvPr/>
        </p:nvSpPr>
        <p:spPr>
          <a:xfrm>
            <a:off x="457200" y="896112"/>
            <a:ext cx="5120640" cy="571499"/>
          </a:xfrm>
          <a:prstGeom prst="rect">
            <a:avLst/>
          </a:prstGeom>
          <a:solidFill>
            <a:srgbClr val="F9B4B9"/>
          </a:solidFill>
          <a:ln>
            <a:noFill/>
          </a:ln>
        </p:spPr>
        <p:txBody>
          <a:bodyPr wrap="square" lIns="45720" tIns="18288" rIns="45720" bIns="18288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Context</a:t>
            </a:r>
          </a:p>
        </p:txBody>
      </p:sp>
      <p:sp>
        <p:nvSpPr>
          <p:cNvPr id="6" name="level-2"/>
          <p:cNvSpPr/>
          <p:nvPr/>
        </p:nvSpPr>
        <p:spPr>
          <a:xfrm>
            <a:off x="749807" y="1531620"/>
            <a:ext cx="4535424" cy="571499"/>
          </a:xfrm>
          <a:prstGeom prst="rect">
            <a:avLst/>
          </a:prstGeom>
          <a:solidFill>
            <a:srgbClr val="F78790"/>
          </a:solidFill>
          <a:ln>
            <a:noFill/>
          </a:ln>
        </p:spPr>
        <p:txBody>
          <a:bodyPr wrap="square" lIns="45720" tIns="18288" rIns="45720" bIns="18288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Problem</a:t>
            </a:r>
          </a:p>
        </p:txBody>
      </p:sp>
      <p:sp>
        <p:nvSpPr>
          <p:cNvPr id="7" name="level-3"/>
          <p:cNvSpPr/>
          <p:nvPr/>
        </p:nvSpPr>
        <p:spPr>
          <a:xfrm>
            <a:off x="1042416" y="2167128"/>
            <a:ext cx="3950207" cy="571499"/>
          </a:xfrm>
          <a:prstGeom prst="rect">
            <a:avLst/>
          </a:prstGeom>
          <a:solidFill>
            <a:srgbClr val="F65C67"/>
          </a:solidFill>
          <a:ln>
            <a:noFill/>
          </a:ln>
        </p:spPr>
        <p:txBody>
          <a:bodyPr wrap="square" lIns="45720" tIns="18288" rIns="45720" bIns="18288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Existing evidence</a:t>
            </a:r>
          </a:p>
        </p:txBody>
      </p:sp>
      <p:sp>
        <p:nvSpPr>
          <p:cNvPr id="8" name="level-4"/>
          <p:cNvSpPr/>
          <p:nvPr/>
        </p:nvSpPr>
        <p:spPr>
          <a:xfrm>
            <a:off x="1335024" y="2802636"/>
            <a:ext cx="3364991" cy="571499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wrap="square" lIns="45720" tIns="18288" rIns="45720" bIns="18288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Limitation</a:t>
            </a:r>
          </a:p>
        </p:txBody>
      </p:sp>
      <p:sp>
        <p:nvSpPr>
          <p:cNvPr id="9" name="level-5"/>
          <p:cNvSpPr/>
          <p:nvPr/>
        </p:nvSpPr>
        <p:spPr>
          <a:xfrm>
            <a:off x="1627632" y="3438144"/>
            <a:ext cx="2779775" cy="571499"/>
          </a:xfrm>
          <a:prstGeom prst="rect">
            <a:avLst/>
          </a:prstGeom>
          <a:solidFill>
            <a:srgbClr val="D12A36"/>
          </a:solidFill>
          <a:ln>
            <a:noFill/>
          </a:ln>
        </p:spPr>
        <p:txBody>
          <a:bodyPr wrap="square" lIns="45720" tIns="18288" rIns="45720" bIns="18288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Gap</a:t>
            </a:r>
          </a:p>
        </p:txBody>
      </p:sp>
      <p:sp>
        <p:nvSpPr>
          <p:cNvPr id="10" name="level-6"/>
          <p:cNvSpPr/>
          <p:nvPr/>
        </p:nvSpPr>
        <p:spPr>
          <a:xfrm>
            <a:off x="1920239" y="4073652"/>
            <a:ext cx="2194560" cy="571499"/>
          </a:xfrm>
          <a:prstGeom prst="rect">
            <a:avLst/>
          </a:prstGeom>
          <a:solidFill>
            <a:srgbClr val="B3202B"/>
          </a:solidFill>
          <a:ln>
            <a:noFill/>
          </a:ln>
        </p:spPr>
        <p:txBody>
          <a:bodyPr wrap="square" lIns="45720" tIns="18288" rIns="45720" bIns="18288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Research direction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Every Paragraph Needs a Job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131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bullseye" descr="bullsey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2353056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What is the problem?</a:t>
            </a:r>
          </a:p>
        </p:txBody>
      </p:sp>
      <p:sp>
        <p:nvSpPr>
          <p:cNvPr id="9" name="card-2"/>
          <p:cNvSpPr/>
          <p:nvPr/>
        </p:nvSpPr>
        <p:spPr>
          <a:xfrm>
            <a:off x="3267456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5033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book" descr="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31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95472" y="1645919"/>
            <a:ext cx="2353056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What did research establish?</a:t>
            </a:r>
          </a:p>
        </p:txBody>
      </p:sp>
      <p:sp>
        <p:nvSpPr>
          <p:cNvPr id="13" name="card-3"/>
          <p:cNvSpPr/>
          <p:nvPr/>
        </p:nvSpPr>
        <p:spPr>
          <a:xfrm>
            <a:off x="6077712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6059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balancescale" descr="balancesca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87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5728" y="1645919"/>
            <a:ext cx="2353056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Where do studies disagree?</a:t>
            </a:r>
          </a:p>
        </p:txBody>
      </p:sp>
      <p:sp>
        <p:nvSpPr>
          <p:cNvPr id="17" name="card-4"/>
          <p:cNvSpPr/>
          <p:nvPr/>
        </p:nvSpPr>
        <p:spPr>
          <a:xfrm>
            <a:off x="1862328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045208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exclamationtriangle" descr="exclamationtriang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8103" y="2838663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990344" y="3300984"/>
            <a:ext cx="2353056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What limitation remains?</a:t>
            </a:r>
          </a:p>
        </p:txBody>
      </p:sp>
      <p:sp>
        <p:nvSpPr>
          <p:cNvPr id="21" name="card-5"/>
          <p:cNvSpPr/>
          <p:nvPr/>
        </p:nvSpPr>
        <p:spPr>
          <a:xfrm>
            <a:off x="4672584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855464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lightbulb" descr="lightbulb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359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00600" y="3300984"/>
            <a:ext cx="2353056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Why does it matter?</a:t>
            </a:r>
          </a:p>
        </p:txBody>
      </p:sp>
      <p:sp>
        <p:nvSpPr>
          <p:cNvPr id="25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con-bolt" descr="bol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roxima Nova"/>
              </a:rPr>
              <a:t>One paragraph, one job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Citation Is Evidence, Not Decoration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132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Decoration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5457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44967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“AI transformed healthcare, finance, education and business [1–7]”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1469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40979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Which reference supports what?</a:t>
            </a:r>
          </a:p>
        </p:txBody>
      </p:sp>
      <p:sp>
        <p:nvSpPr>
          <p:cNvPr id="13" name="panel-2"/>
          <p:cNvSpPr/>
          <p:nvPr/>
        </p:nvSpPr>
        <p:spPr>
          <a:xfrm>
            <a:off x="48006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8006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Evidence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35457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44967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One claim → one clear citation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331469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40979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The reader can trace every claim</a:t>
            </a:r>
          </a:p>
        </p:txBody>
      </p:sp>
      <p:sp>
        <p:nvSpPr>
          <p:cNvPr id="21" name="Oval 20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One Citation Does Not Prove Everything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133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1 sentence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4 separate claims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1 citation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Supports maybe one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Break big claims into evidence-supported statements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Your Voice Must Remain Visible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134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824227"/>
            <a:ext cx="3886200" cy="189280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82422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Proxima Nova"/>
              </a:rPr>
              <a:t>The researcher disappears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83463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92973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537459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“Smith found… Jones found… Patel found…”</a:t>
            </a:r>
          </a:p>
        </p:txBody>
      </p:sp>
      <p:sp>
        <p:nvSpPr>
          <p:cNvPr id="10" name="panel-2"/>
          <p:cNvSpPr/>
          <p:nvPr/>
        </p:nvSpPr>
        <p:spPr>
          <a:xfrm>
            <a:off x="4800600" y="1824227"/>
            <a:ext cx="3886200" cy="189280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anel-head-2"/>
          <p:cNvSpPr/>
          <p:nvPr/>
        </p:nvSpPr>
        <p:spPr>
          <a:xfrm>
            <a:off x="4800600" y="182422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Proxima Nova"/>
              </a:rPr>
              <a:t>The researcher synthesizes</a:t>
            </a:r>
          </a:p>
        </p:txBody>
      </p:sp>
      <p:sp>
        <p:nvSpPr>
          <p:cNvPr id="12" name="Oval 11"/>
          <p:cNvSpPr/>
          <p:nvPr/>
        </p:nvSpPr>
        <p:spPr>
          <a:xfrm>
            <a:off x="4983480" y="283463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929737"/>
            <a:ext cx="175564" cy="1755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58968" y="2537459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“Existing research falls into two approaches…”</a:t>
            </a:r>
          </a:p>
        </p:txBody>
      </p:sp>
      <p:sp>
        <p:nvSpPr>
          <p:cNvPr id="15" name="Oval 14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Turn the Gap Into a Research Argument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135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What research established</a:t>
            </a:r>
          </a:p>
        </p:txBody>
      </p:sp>
      <p:sp>
        <p:nvSpPr>
          <p:cNvPr id="6" name="Oval 5"/>
          <p:cNvSpPr/>
          <p:nvPr/>
        </p:nvSpPr>
        <p:spPr>
          <a:xfrm>
            <a:off x="1042416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157984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The limitation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3858768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Why it matters</a:t>
            </a:r>
          </a:p>
        </p:txBody>
      </p:sp>
      <p:sp>
        <p:nvSpPr>
          <p:cNvPr id="12" name="Oval 11"/>
          <p:cNvSpPr/>
          <p:nvPr/>
        </p:nvSpPr>
        <p:spPr>
          <a:xfrm>
            <a:off x="444398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5559552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What stays unresolved</a:t>
            </a:r>
          </a:p>
        </p:txBody>
      </p:sp>
      <p:sp>
        <p:nvSpPr>
          <p:cNvPr id="15" name="Oval 14"/>
          <p:cNvSpPr/>
          <p:nvPr/>
        </p:nvSpPr>
        <p:spPr>
          <a:xfrm>
            <a:off x="6144768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pic>
        <p:nvPicPr>
          <p:cNvPr id="16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2532888"/>
            <a:ext cx="201168" cy="201168"/>
          </a:xfrm>
          <a:prstGeom prst="rect">
            <a:avLst/>
          </a:prstGeom>
        </p:spPr>
      </p:pic>
      <p:sp>
        <p:nvSpPr>
          <p:cNvPr id="17" name="step-5"/>
          <p:cNvSpPr/>
          <p:nvPr/>
        </p:nvSpPr>
        <p:spPr>
          <a:xfrm>
            <a:off x="7260336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Proxima Nova"/>
              </a:rPr>
              <a:t>So my study…</a:t>
            </a:r>
          </a:p>
        </p:txBody>
      </p:sp>
      <p:sp>
        <p:nvSpPr>
          <p:cNvPr id="18" name="Oval 17"/>
          <p:cNvSpPr/>
          <p:nvPr/>
        </p:nvSpPr>
        <p:spPr>
          <a:xfrm>
            <a:off x="7845552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Not just: “Few studies have investigated this”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Write Contributions as Verifiable Claims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136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Overclaim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06105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“A revolutionary framework”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92973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258318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“Completely solves the problem”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798417"/>
            <a:ext cx="175564" cy="1755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" y="345186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“First and best approach”</a:t>
            </a:r>
          </a:p>
        </p:txBody>
      </p:sp>
      <p:sp>
        <p:nvSpPr>
          <p:cNvPr id="16" name="panel-2"/>
          <p:cNvSpPr/>
          <p:nvPr/>
        </p:nvSpPr>
        <p:spPr>
          <a:xfrm>
            <a:off x="48006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anel-head-2"/>
          <p:cNvSpPr/>
          <p:nvPr/>
        </p:nvSpPr>
        <p:spPr>
          <a:xfrm>
            <a:off x="48006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Verifiable claim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196596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06105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Says exactly what was added</a:t>
            </a:r>
          </a:p>
        </p:txBody>
      </p:sp>
      <p:sp>
        <p:nvSpPr>
          <p:cNvPr id="21" name="Oval 20"/>
          <p:cNvSpPr/>
          <p:nvPr/>
        </p:nvSpPr>
        <p:spPr>
          <a:xfrm>
            <a:off x="4983480" y="283464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929737"/>
            <a:ext cx="175564" cy="1755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58968" y="258318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Can be checked in the paper</a:t>
            </a:r>
          </a:p>
        </p:txBody>
      </p:sp>
      <p:sp>
        <p:nvSpPr>
          <p:cNvPr id="24" name="Oval 23"/>
          <p:cNvSpPr/>
          <p:nvPr/>
        </p:nvSpPr>
        <p:spPr>
          <a:xfrm>
            <a:off x="4983480" y="370332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798417"/>
            <a:ext cx="175564" cy="1755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58968" y="345186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Confident and defensible</a:t>
            </a:r>
          </a:p>
        </p:txBody>
      </p:sp>
      <p:sp>
        <p:nvSpPr>
          <p:cNvPr id="27" name="Oval 26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10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137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Which contribution statement is the strongest?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“A revolutionary framework”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“The first and best approach”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“We evaluate three retrieval strategies on conflicting documents and report accuracy, cost and robustness”</a:t>
            </a:r>
          </a:p>
        </p:txBody>
      </p:sp>
      <p:sp>
        <p:nvSpPr>
          <p:cNvPr id="15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“A groundbreaking solution”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3708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FFE3E5"/>
                </a:solidFill>
                <a:latin typeface="Proxima Nova"/>
              </a:rPr>
              <a:t>Type your answer in the chat — A, B, C or D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10 — Answer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138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Which contribution statement is the strongest?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“A revolutionary framework”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“The first and best approach”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5333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roxima Nova"/>
              </a:rPr>
              <a:t>“We evaluate three retrieval strategies on conflicting documents and report accuracy, cost and robustness”</a:t>
            </a:r>
          </a:p>
        </p:txBody>
      </p:sp>
      <p:pic>
        <p:nvPicPr>
          <p:cNvPr id="15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3054096"/>
            <a:ext cx="329184" cy="329184"/>
          </a:xfrm>
          <a:prstGeom prst="rect">
            <a:avLst/>
          </a:prstGeom>
        </p:spPr>
      </p:pic>
      <p:sp>
        <p:nvSpPr>
          <p:cNvPr id="16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“A groundbreaking solution”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431596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E3E5"/>
                </a:solidFill>
                <a:latin typeface="Proxima Nova"/>
              </a:rPr>
              <a:t>Why? </a:t>
            </a:r>
            <a:r>
              <a:rPr sz="1500" b="0" i="0">
                <a:solidFill>
                  <a:srgbClr val="FFFFFF"/>
                </a:solidFill>
                <a:latin typeface="Proxima Nova"/>
              </a:rPr>
              <a:t>Verifiable claims say exactly what was added and can be checked.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1783080"/>
            <a:ext cx="7680960" cy="201168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Proxima Nova"/>
              </a:rPr>
              <a:t>From Research Idea to Proposal, Paper and Publication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139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inutes-chip"/>
          <p:cNvSpPr/>
          <p:nvPr/>
        </p:nvSpPr>
        <p:spPr>
          <a:xfrm>
            <a:off x="630936" y="118872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endParaRPr sz="1500" b="1" i="0" dirty="0">
              <a:solidFill>
                <a:srgbClr val="1C2A26"/>
              </a:solidFill>
              <a:latin typeface="Proxima Nov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093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272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362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8541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9631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0720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1810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9000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3989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50791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6168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72583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8348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9437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0527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1616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Research Proposal — The Blueprint Before the Study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140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lightbulb" descr="lightbulb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Title and background</a:t>
            </a:r>
          </a:p>
        </p:txBody>
      </p:sp>
      <p:sp>
        <p:nvSpPr>
          <p:cNvPr id="9" name="card-2"/>
          <p:cNvSpPr/>
          <p:nvPr/>
        </p:nvSpPr>
        <p:spPr>
          <a:xfrm>
            <a:off x="2564892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74777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bullseye" descr="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667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92908" y="164591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Problem and gap</a:t>
            </a:r>
          </a:p>
        </p:txBody>
      </p:sp>
      <p:sp>
        <p:nvSpPr>
          <p:cNvPr id="13" name="card-3"/>
          <p:cNvSpPr/>
          <p:nvPr/>
        </p:nvSpPr>
        <p:spPr>
          <a:xfrm>
            <a:off x="4672584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55464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question" descr="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359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00600" y="164591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Question and objectives</a:t>
            </a:r>
          </a:p>
        </p:txBody>
      </p:sp>
      <p:sp>
        <p:nvSpPr>
          <p:cNvPr id="17" name="card-4"/>
          <p:cNvSpPr/>
          <p:nvPr/>
        </p:nvSpPr>
        <p:spPr>
          <a:xfrm>
            <a:off x="6780276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6315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book" descr="boo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051" y="1183599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08292" y="164591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Literature review</a:t>
            </a:r>
          </a:p>
        </p:txBody>
      </p:sp>
      <p:sp>
        <p:nvSpPr>
          <p:cNvPr id="21" name="card-5"/>
          <p:cNvSpPr/>
          <p:nvPr/>
        </p:nvSpPr>
        <p:spPr>
          <a:xfrm>
            <a:off x="457200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route" descr="rout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75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5216" y="3300984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Methodology</a:t>
            </a:r>
          </a:p>
        </p:txBody>
      </p:sp>
      <p:sp>
        <p:nvSpPr>
          <p:cNvPr id="25" name="card-6"/>
          <p:cNvSpPr/>
          <p:nvPr/>
        </p:nvSpPr>
        <p:spPr>
          <a:xfrm>
            <a:off x="2564892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747772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database" descr="datab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667" y="283866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692908" y="3300984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Data and analysis plan</a:t>
            </a:r>
          </a:p>
        </p:txBody>
      </p:sp>
      <p:sp>
        <p:nvSpPr>
          <p:cNvPr id="29" name="card-7"/>
          <p:cNvSpPr/>
          <p:nvPr/>
        </p:nvSpPr>
        <p:spPr>
          <a:xfrm>
            <a:off x="4672584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855464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icon-gavel" descr="gavel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8359" y="2838663"/>
            <a:ext cx="266273" cy="2662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800600" y="3300984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Ethics</a:t>
            </a:r>
          </a:p>
        </p:txBody>
      </p:sp>
      <p:sp>
        <p:nvSpPr>
          <p:cNvPr id="33" name="card-8"/>
          <p:cNvSpPr/>
          <p:nvPr/>
        </p:nvSpPr>
        <p:spPr>
          <a:xfrm>
            <a:off x="6780276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963156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con-clock" descr="clo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051" y="2838663"/>
            <a:ext cx="266273" cy="2662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08292" y="3300984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Timeline and references</a:t>
            </a:r>
          </a:p>
        </p:txBody>
      </p:sp>
      <p:sp>
        <p:nvSpPr>
          <p:cNvPr id="37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icon-university" descr="university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roxima Nova"/>
              </a:rPr>
              <a:t>Exact sections vary by institution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The Proposal Alignment Test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141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1856231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Problem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7282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350008"/>
            <a:ext cx="201168" cy="201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3090672"/>
            <a:ext cx="19431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C6A64"/>
                </a:solidFill>
                <a:latin typeface="Proxima Nova"/>
              </a:rPr>
              <a:t>Forecasting struggles with changing market information</a:t>
            </a:r>
          </a:p>
        </p:txBody>
      </p:sp>
      <p:sp>
        <p:nvSpPr>
          <p:cNvPr id="9" name="step-2"/>
          <p:cNvSpPr/>
          <p:nvPr/>
        </p:nvSpPr>
        <p:spPr>
          <a:xfrm>
            <a:off x="2583179" y="1856231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Question</a:t>
            </a:r>
          </a:p>
        </p:txBody>
      </p:sp>
      <p:sp>
        <p:nvSpPr>
          <p:cNvPr id="10" name="Oval 9"/>
          <p:cNvSpPr/>
          <p:nvPr/>
        </p:nvSpPr>
        <p:spPr>
          <a:xfrm>
            <a:off x="3380993" y="17282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1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350008"/>
            <a:ext cx="201168" cy="2011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37460" y="3090672"/>
            <a:ext cx="19431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C6A64"/>
                </a:solidFill>
                <a:latin typeface="Proxima Nova"/>
              </a:rPr>
              <a:t>Can multimodal AI improve direction prediction?</a:t>
            </a:r>
          </a:p>
        </p:txBody>
      </p:sp>
      <p:sp>
        <p:nvSpPr>
          <p:cNvPr id="13" name="step-3"/>
          <p:cNvSpPr/>
          <p:nvPr/>
        </p:nvSpPr>
        <p:spPr>
          <a:xfrm>
            <a:off x="4709159" y="1856231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Objective</a:t>
            </a:r>
          </a:p>
        </p:txBody>
      </p:sp>
      <p:sp>
        <p:nvSpPr>
          <p:cNvPr id="14" name="Oval 13"/>
          <p:cNvSpPr/>
          <p:nvPr/>
        </p:nvSpPr>
        <p:spPr>
          <a:xfrm>
            <a:off x="5506974" y="17282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5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350008"/>
            <a:ext cx="201168" cy="2011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63440" y="3090672"/>
            <a:ext cx="19431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C6A64"/>
                </a:solidFill>
                <a:latin typeface="Proxima Nova"/>
              </a:rPr>
              <a:t>Test whether text + indicators help</a:t>
            </a:r>
          </a:p>
        </p:txBody>
      </p:sp>
      <p:sp>
        <p:nvSpPr>
          <p:cNvPr id="17" name="step-4"/>
          <p:cNvSpPr/>
          <p:nvPr/>
        </p:nvSpPr>
        <p:spPr>
          <a:xfrm>
            <a:off x="6835140" y="1856231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Proxima Nova"/>
              </a:rPr>
              <a:t>Methodology</a:t>
            </a:r>
          </a:p>
        </p:txBody>
      </p:sp>
      <p:sp>
        <p:nvSpPr>
          <p:cNvPr id="18" name="Oval 17"/>
          <p:cNvSpPr/>
          <p:nvPr/>
        </p:nvSpPr>
        <p:spPr>
          <a:xfrm>
            <a:off x="7632953" y="172821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090672"/>
            <a:ext cx="19431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C6A64"/>
                </a:solidFill>
                <a:latin typeface="Proxima Nova"/>
              </a:rPr>
              <a:t>Compare with an indicator-only baseline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The Research Paper — What Does Each Section Do?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142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lightbulb" descr="lightbulb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70658"/>
            <a:ext cx="2353056" cy="64452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Why was it needed?</a:t>
            </a:r>
          </a:p>
        </p:txBody>
      </p:sp>
      <p:sp>
        <p:nvSpPr>
          <p:cNvPr id="10" name="card-2"/>
          <p:cNvSpPr/>
          <p:nvPr/>
        </p:nvSpPr>
        <p:spPr>
          <a:xfrm>
            <a:off x="3267456" y="896112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5033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-flask" descr="flas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31" y="1183599"/>
            <a:ext cx="266273" cy="266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95472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5472" y="1970658"/>
            <a:ext cx="2353056" cy="64452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How was it done?</a:t>
            </a:r>
          </a:p>
        </p:txBody>
      </p:sp>
      <p:sp>
        <p:nvSpPr>
          <p:cNvPr id="15" name="card-3"/>
          <p:cNvSpPr/>
          <p:nvPr/>
        </p:nvSpPr>
        <p:spPr>
          <a:xfrm>
            <a:off x="6077712" y="896112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6059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chartbar" descr="chartb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87" y="1183599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05728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5728" y="1970658"/>
            <a:ext cx="2353056" cy="64452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What was found?</a:t>
            </a:r>
          </a:p>
        </p:txBody>
      </p:sp>
      <p:sp>
        <p:nvSpPr>
          <p:cNvPr id="20" name="card-4"/>
          <p:cNvSpPr/>
          <p:nvPr/>
        </p:nvSpPr>
        <p:spPr>
          <a:xfrm>
            <a:off x="1862328" y="2871215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045208" y="303580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comments" descr="comment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8103" y="3158703"/>
            <a:ext cx="266273" cy="2662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90344" y="3621023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Discussion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0344" y="3945762"/>
            <a:ext cx="2353056" cy="64452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What does it mean?</a:t>
            </a:r>
          </a:p>
        </p:txBody>
      </p:sp>
      <p:sp>
        <p:nvSpPr>
          <p:cNvPr id="25" name="card-5"/>
          <p:cNvSpPr/>
          <p:nvPr/>
        </p:nvSpPr>
        <p:spPr>
          <a:xfrm>
            <a:off x="4672584" y="2871215"/>
            <a:ext cx="2609088" cy="177393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855464" y="303580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flag" descr="fla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359" y="315870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00600" y="3621023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3945762"/>
            <a:ext cx="2353056" cy="644525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What now?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Methods — Make the Study Reproducible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143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database" descr="databas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Dataset sources</a:t>
            </a:r>
          </a:p>
        </p:txBody>
      </p:sp>
      <p:sp>
        <p:nvSpPr>
          <p:cNvPr id="9" name="card-2"/>
          <p:cNvSpPr/>
          <p:nvPr/>
        </p:nvSpPr>
        <p:spPr>
          <a:xfrm>
            <a:off x="2564892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74777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filter" descr="fil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667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92908" y="164591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Data preparation</a:t>
            </a:r>
          </a:p>
        </p:txBody>
      </p:sp>
      <p:sp>
        <p:nvSpPr>
          <p:cNvPr id="13" name="card-3"/>
          <p:cNvSpPr/>
          <p:nvPr/>
        </p:nvSpPr>
        <p:spPr>
          <a:xfrm>
            <a:off x="4672584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55464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random" descr="rando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359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00600" y="164591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Train / validation / test</a:t>
            </a:r>
          </a:p>
        </p:txBody>
      </p:sp>
      <p:sp>
        <p:nvSpPr>
          <p:cNvPr id="17" name="card-4"/>
          <p:cNvSpPr/>
          <p:nvPr/>
        </p:nvSpPr>
        <p:spPr>
          <a:xfrm>
            <a:off x="6780276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6315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cube" descr="cub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051" y="1183599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08292" y="164591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Model architecture</a:t>
            </a:r>
          </a:p>
        </p:txBody>
      </p:sp>
      <p:sp>
        <p:nvSpPr>
          <p:cNvPr id="21" name="card-5"/>
          <p:cNvSpPr/>
          <p:nvPr/>
        </p:nvSpPr>
        <p:spPr>
          <a:xfrm>
            <a:off x="457200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slidersh" descr="sliders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75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5216" y="3300984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Hyperparameters</a:t>
            </a:r>
          </a:p>
        </p:txBody>
      </p:sp>
      <p:sp>
        <p:nvSpPr>
          <p:cNvPr id="25" name="card-6"/>
          <p:cNvSpPr/>
          <p:nvPr/>
        </p:nvSpPr>
        <p:spPr>
          <a:xfrm>
            <a:off x="2564892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747772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equals" descr="equal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667" y="283866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692908" y="3300984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Baselines</a:t>
            </a:r>
          </a:p>
        </p:txBody>
      </p:sp>
      <p:sp>
        <p:nvSpPr>
          <p:cNvPr id="29" name="card-7"/>
          <p:cNvSpPr/>
          <p:nvPr/>
        </p:nvSpPr>
        <p:spPr>
          <a:xfrm>
            <a:off x="4672584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855464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icon-ruler" descr="rule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8359" y="2838663"/>
            <a:ext cx="266273" cy="2662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800600" y="3300984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Metrics</a:t>
            </a:r>
          </a:p>
        </p:txBody>
      </p:sp>
      <p:sp>
        <p:nvSpPr>
          <p:cNvPr id="33" name="card-8"/>
          <p:cNvSpPr/>
          <p:nvPr/>
        </p:nvSpPr>
        <p:spPr>
          <a:xfrm>
            <a:off x="6780276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963156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con-laptopcode" descr="laptopcod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051" y="2838663"/>
            <a:ext cx="266273" cy="2662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08292" y="3300984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Hardware and software</a:t>
            </a:r>
          </a:p>
        </p:txBody>
      </p:sp>
      <p:sp>
        <p:nvSpPr>
          <p:cNvPr id="37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icon-redo" descr="redo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roxima Nova"/>
              </a:rPr>
              <a:t>Could another researcher repeat it?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Results — Report, Don't Oversell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144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824227"/>
            <a:ext cx="3886200" cy="189280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82422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Oversold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83463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92973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537459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“92% accuracy, proving it is superior for real-world deployment”</a:t>
            </a:r>
          </a:p>
        </p:txBody>
      </p:sp>
      <p:sp>
        <p:nvSpPr>
          <p:cNvPr id="10" name="panel-2"/>
          <p:cNvSpPr/>
          <p:nvPr/>
        </p:nvSpPr>
        <p:spPr>
          <a:xfrm>
            <a:off x="4800600" y="1824227"/>
            <a:ext cx="3886200" cy="189280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anel-head-2"/>
          <p:cNvSpPr/>
          <p:nvPr/>
        </p:nvSpPr>
        <p:spPr>
          <a:xfrm>
            <a:off x="4800600" y="182422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Reported</a:t>
            </a:r>
          </a:p>
        </p:txBody>
      </p:sp>
      <p:sp>
        <p:nvSpPr>
          <p:cNvPr id="12" name="Oval 11"/>
          <p:cNvSpPr/>
          <p:nvPr/>
        </p:nvSpPr>
        <p:spPr>
          <a:xfrm>
            <a:off x="4983480" y="283463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929737"/>
            <a:ext cx="175564" cy="1755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58968" y="2537459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“92% accuracy vs. 88% for the baseline on this dataset”</a:t>
            </a:r>
          </a:p>
        </p:txBody>
      </p:sp>
      <p:sp>
        <p:nvSpPr>
          <p:cNvPr id="15" name="Oval 14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Discussion — Answer “So What?”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145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17627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Main findings</a:t>
            </a:r>
          </a:p>
        </p:txBody>
      </p:sp>
      <p:sp>
        <p:nvSpPr>
          <p:cNvPr id="6" name="Oval 5"/>
          <p:cNvSpPr/>
          <p:nvPr/>
        </p:nvSpPr>
        <p:spPr>
          <a:xfrm>
            <a:off x="1042416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67004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157984" y="217627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Link to the question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67004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3858768" y="217627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Compare with earlier studies</a:t>
            </a:r>
          </a:p>
        </p:txBody>
      </p:sp>
      <p:sp>
        <p:nvSpPr>
          <p:cNvPr id="12" name="Oval 11"/>
          <p:cNvSpPr/>
          <p:nvPr/>
        </p:nvSpPr>
        <p:spPr>
          <a:xfrm>
            <a:off x="4443984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267004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5559552" y="217627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Explain differences</a:t>
            </a:r>
          </a:p>
        </p:txBody>
      </p:sp>
      <p:sp>
        <p:nvSpPr>
          <p:cNvPr id="15" name="Oval 14"/>
          <p:cNvSpPr/>
          <p:nvPr/>
        </p:nvSpPr>
        <p:spPr>
          <a:xfrm>
            <a:off x="6144768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pic>
        <p:nvPicPr>
          <p:cNvPr id="16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2670048"/>
            <a:ext cx="201168" cy="201168"/>
          </a:xfrm>
          <a:prstGeom prst="rect">
            <a:avLst/>
          </a:prstGeom>
        </p:spPr>
      </p:pic>
      <p:sp>
        <p:nvSpPr>
          <p:cNvPr id="17" name="step-5"/>
          <p:cNvSpPr/>
          <p:nvPr/>
        </p:nvSpPr>
        <p:spPr>
          <a:xfrm>
            <a:off x="7260336" y="217627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Proxima Nova"/>
              </a:rPr>
              <a:t>So what?</a:t>
            </a:r>
          </a:p>
        </p:txBody>
      </p:sp>
      <p:sp>
        <p:nvSpPr>
          <p:cNvPr id="18" name="Oval 17"/>
          <p:cNvSpPr/>
          <p:nvPr/>
        </p:nvSpPr>
        <p:spPr>
          <a:xfrm>
            <a:off x="7845552" y="204825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Conclusion — Don't Introduce a New Paper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146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search" descr="search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What did we investigate?</a:t>
            </a:r>
          </a:p>
        </p:txBody>
      </p:sp>
      <p:sp>
        <p:nvSpPr>
          <p:cNvPr id="9" name="card-2"/>
          <p:cNvSpPr/>
          <p:nvPr/>
        </p:nvSpPr>
        <p:spPr>
          <a:xfrm>
            <a:off x="3267456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5033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chartbar" descr="chartb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31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95472" y="1645919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What did we find?</a:t>
            </a:r>
          </a:p>
        </p:txBody>
      </p:sp>
      <p:sp>
        <p:nvSpPr>
          <p:cNvPr id="13" name="card-3"/>
          <p:cNvSpPr/>
          <p:nvPr/>
        </p:nvSpPr>
        <p:spPr>
          <a:xfrm>
            <a:off x="6077712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6059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lightbulb" descr="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87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5728" y="1645919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What does it mean?</a:t>
            </a:r>
          </a:p>
        </p:txBody>
      </p:sp>
      <p:sp>
        <p:nvSpPr>
          <p:cNvPr id="17" name="card-4"/>
          <p:cNvSpPr/>
          <p:nvPr/>
        </p:nvSpPr>
        <p:spPr>
          <a:xfrm>
            <a:off x="1862328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045208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trophy" descr="troph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8103" y="2838663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990344" y="3300984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Main contribution?</a:t>
            </a:r>
          </a:p>
        </p:txBody>
      </p:sp>
      <p:sp>
        <p:nvSpPr>
          <p:cNvPr id="21" name="card-5"/>
          <p:cNvSpPr/>
          <p:nvPr/>
        </p:nvSpPr>
        <p:spPr>
          <a:xfrm>
            <a:off x="4672584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855464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compass" descr="compas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359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00600" y="3300984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What remains?</a:t>
            </a:r>
          </a:p>
        </p:txBody>
      </p:sp>
      <p:sp>
        <p:nvSpPr>
          <p:cNvPr id="25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con-ban" descr="ba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roxima Nova"/>
              </a:rPr>
              <a:t>No brand-new arguments in the conclusion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The Complete Research-to-Publication Workflow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147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153619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IDEA</a:t>
            </a:r>
          </a:p>
        </p:txBody>
      </p:sp>
      <p:sp>
        <p:nvSpPr>
          <p:cNvPr id="6" name="Oval 5"/>
          <p:cNvSpPr/>
          <p:nvPr/>
        </p:nvSpPr>
        <p:spPr>
          <a:xfrm>
            <a:off x="1042416" y="140817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938527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157984" y="153619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PROBLEM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140817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1938527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3858768" y="153619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GAP</a:t>
            </a:r>
          </a:p>
        </p:txBody>
      </p:sp>
      <p:sp>
        <p:nvSpPr>
          <p:cNvPr id="12" name="Oval 11"/>
          <p:cNvSpPr/>
          <p:nvPr/>
        </p:nvSpPr>
        <p:spPr>
          <a:xfrm>
            <a:off x="4443984" y="140817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1938527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5559552" y="153619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QUESTION</a:t>
            </a:r>
          </a:p>
        </p:txBody>
      </p:sp>
      <p:sp>
        <p:nvSpPr>
          <p:cNvPr id="15" name="Oval 14"/>
          <p:cNvSpPr/>
          <p:nvPr/>
        </p:nvSpPr>
        <p:spPr>
          <a:xfrm>
            <a:off x="6144768" y="140817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pic>
        <p:nvPicPr>
          <p:cNvPr id="16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938527"/>
            <a:ext cx="201168" cy="201168"/>
          </a:xfrm>
          <a:prstGeom prst="rect">
            <a:avLst/>
          </a:prstGeom>
        </p:spPr>
      </p:pic>
      <p:sp>
        <p:nvSpPr>
          <p:cNvPr id="17" name="step-5"/>
          <p:cNvSpPr/>
          <p:nvPr/>
        </p:nvSpPr>
        <p:spPr>
          <a:xfrm>
            <a:off x="7260336" y="153619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DESIGN</a:t>
            </a:r>
          </a:p>
        </p:txBody>
      </p:sp>
      <p:sp>
        <p:nvSpPr>
          <p:cNvPr id="18" name="Oval 17"/>
          <p:cNvSpPr/>
          <p:nvPr/>
        </p:nvSpPr>
        <p:spPr>
          <a:xfrm>
            <a:off x="7845552" y="140817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step-6"/>
          <p:cNvSpPr/>
          <p:nvPr/>
        </p:nvSpPr>
        <p:spPr>
          <a:xfrm>
            <a:off x="457200" y="2999232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DATA</a:t>
            </a:r>
          </a:p>
        </p:txBody>
      </p:sp>
      <p:sp>
        <p:nvSpPr>
          <p:cNvPr id="20" name="Oval 19"/>
          <p:cNvSpPr/>
          <p:nvPr/>
        </p:nvSpPr>
        <p:spPr>
          <a:xfrm>
            <a:off x="1042416" y="28712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6</a:t>
            </a:r>
          </a:p>
        </p:txBody>
      </p:sp>
      <p:pic>
        <p:nvPicPr>
          <p:cNvPr id="21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3401568"/>
            <a:ext cx="201168" cy="201168"/>
          </a:xfrm>
          <a:prstGeom prst="rect">
            <a:avLst/>
          </a:prstGeom>
        </p:spPr>
      </p:pic>
      <p:sp>
        <p:nvSpPr>
          <p:cNvPr id="22" name="step-7"/>
          <p:cNvSpPr/>
          <p:nvPr/>
        </p:nvSpPr>
        <p:spPr>
          <a:xfrm>
            <a:off x="2157984" y="2999232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EVIDENCE</a:t>
            </a:r>
          </a:p>
        </p:txBody>
      </p:sp>
      <p:sp>
        <p:nvSpPr>
          <p:cNvPr id="23" name="Oval 22"/>
          <p:cNvSpPr/>
          <p:nvPr/>
        </p:nvSpPr>
        <p:spPr>
          <a:xfrm>
            <a:off x="2743200" y="28712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7</a:t>
            </a:r>
          </a:p>
        </p:txBody>
      </p:sp>
      <p:pic>
        <p:nvPicPr>
          <p:cNvPr id="24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3401568"/>
            <a:ext cx="201168" cy="201168"/>
          </a:xfrm>
          <a:prstGeom prst="rect">
            <a:avLst/>
          </a:prstGeom>
        </p:spPr>
      </p:pic>
      <p:sp>
        <p:nvSpPr>
          <p:cNvPr id="25" name="step-8"/>
          <p:cNvSpPr/>
          <p:nvPr/>
        </p:nvSpPr>
        <p:spPr>
          <a:xfrm>
            <a:off x="3858768" y="2999232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INTERPRETATION</a:t>
            </a:r>
          </a:p>
        </p:txBody>
      </p:sp>
      <p:sp>
        <p:nvSpPr>
          <p:cNvPr id="26" name="Oval 25"/>
          <p:cNvSpPr/>
          <p:nvPr/>
        </p:nvSpPr>
        <p:spPr>
          <a:xfrm>
            <a:off x="4443984" y="28712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8</a:t>
            </a:r>
          </a:p>
        </p:txBody>
      </p:sp>
      <p:pic>
        <p:nvPicPr>
          <p:cNvPr id="2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3401568"/>
            <a:ext cx="201168" cy="201168"/>
          </a:xfrm>
          <a:prstGeom prst="rect">
            <a:avLst/>
          </a:prstGeom>
        </p:spPr>
      </p:pic>
      <p:sp>
        <p:nvSpPr>
          <p:cNvPr id="28" name="step-9"/>
          <p:cNvSpPr/>
          <p:nvPr/>
        </p:nvSpPr>
        <p:spPr>
          <a:xfrm>
            <a:off x="5559552" y="2999232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CONTRIBUTION</a:t>
            </a:r>
          </a:p>
        </p:txBody>
      </p:sp>
      <p:sp>
        <p:nvSpPr>
          <p:cNvPr id="29" name="Oval 28"/>
          <p:cNvSpPr/>
          <p:nvPr/>
        </p:nvSpPr>
        <p:spPr>
          <a:xfrm>
            <a:off x="6144768" y="28712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9</a:t>
            </a:r>
          </a:p>
        </p:txBody>
      </p:sp>
      <p:pic>
        <p:nvPicPr>
          <p:cNvPr id="3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3401568"/>
            <a:ext cx="201168" cy="201168"/>
          </a:xfrm>
          <a:prstGeom prst="rect">
            <a:avLst/>
          </a:prstGeom>
        </p:spPr>
      </p:pic>
      <p:sp>
        <p:nvSpPr>
          <p:cNvPr id="31" name="step-10"/>
          <p:cNvSpPr/>
          <p:nvPr/>
        </p:nvSpPr>
        <p:spPr>
          <a:xfrm>
            <a:off x="7260336" y="2999232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Proxima Nova"/>
              </a:rPr>
              <a:t>COMMUNICATION</a:t>
            </a:r>
          </a:p>
        </p:txBody>
      </p:sp>
      <p:sp>
        <p:nvSpPr>
          <p:cNvPr id="32" name="Oval 31"/>
          <p:cNvSpPr/>
          <p:nvPr/>
        </p:nvSpPr>
        <p:spPr>
          <a:xfrm>
            <a:off x="7845552" y="287121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10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11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148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What belongs in a Conclusion?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 completely new argument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What was investigated, found, what it means, the contribution, what remains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Raw data tables</a:t>
            </a:r>
          </a:p>
        </p:txBody>
      </p:sp>
      <p:sp>
        <p:nvSpPr>
          <p:cNvPr id="15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Only 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3708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FFE3E5"/>
                </a:solidFill>
                <a:latin typeface="Proxima Nova"/>
              </a:rPr>
              <a:t>Type your answer in the chat — A, B, C or D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11 — Answer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149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What belongs in a Conclusion?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A completely new argument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5333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oxima Nova"/>
              </a:rPr>
              <a:t>What was investigated, found, what it means, the contribution, what remains</a:t>
            </a:r>
          </a:p>
        </p:txBody>
      </p:sp>
      <p:pic>
        <p:nvPicPr>
          <p:cNvPr id="12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2487168"/>
            <a:ext cx="329184" cy="329184"/>
          </a:xfrm>
          <a:prstGeom prst="rect">
            <a:avLst/>
          </a:prstGeom>
        </p:spPr>
      </p:pic>
      <p:sp>
        <p:nvSpPr>
          <p:cNvPr id="13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Raw data tables</a:t>
            </a:r>
          </a:p>
        </p:txBody>
      </p:sp>
      <p:sp>
        <p:nvSpPr>
          <p:cNvPr id="16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Only 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431596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E3E5"/>
                </a:solidFill>
                <a:latin typeface="Proxima Nova"/>
              </a:rPr>
              <a:t>Why? </a:t>
            </a:r>
            <a:r>
              <a:rPr sz="1500" b="0" i="0">
                <a:solidFill>
                  <a:srgbClr val="FFFFFF"/>
                </a:solidFill>
                <a:latin typeface="Proxima Nova"/>
              </a:rPr>
              <a:t>A conclusion closes the paper. It does not introduce a new one.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1783080"/>
            <a:ext cx="7680960" cy="201168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Proxima Nova"/>
              </a:rPr>
              <a:t>From Completed Research to Successful Publication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150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inutes-chip"/>
          <p:cNvSpPr/>
          <p:nvPr/>
        </p:nvSpPr>
        <p:spPr>
          <a:xfrm>
            <a:off x="630936" y="118872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endParaRPr sz="1500" b="1" i="0" dirty="0">
              <a:solidFill>
                <a:srgbClr val="1C2A26"/>
              </a:solidFill>
              <a:latin typeface="Proxima Nov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093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272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362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8541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9631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0720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1810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9000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3989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50791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6168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72583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8348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9437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0527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1616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Finishing the Paper Is Not the End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151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quote-card"/>
          <p:cNvSpPr/>
          <p:nvPr/>
        </p:nvSpPr>
        <p:spPr>
          <a:xfrm>
            <a:off x="457200" y="1033271"/>
            <a:ext cx="8229600" cy="3474720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353312"/>
            <a:ext cx="731520" cy="73152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paperplane" descr="paperplan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" y="1528876"/>
            <a:ext cx="380390" cy="3803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37360" y="1216152"/>
            <a:ext cx="6583680" cy="201168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3000" b="1" i="0">
                <a:solidFill>
                  <a:srgbClr val="1C2A26"/>
                </a:solidFill>
                <a:latin typeface="Proxima Nova"/>
              </a:rPr>
              <a:t>Where should this research be published?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319272"/>
            <a:ext cx="6583680" cy="10058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800" b="0" i="0">
                <a:solidFill>
                  <a:srgbClr val="5C6A64"/>
                </a:solidFill>
                <a:latin typeface="Proxima Nova"/>
              </a:rPr>
              <a:t>A technically strong paper can still struggle in the wrong journal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Start With Journal–Paper Fit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152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compass" descr="compas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1639884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171700"/>
            <a:ext cx="1650492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Scope and topics</a:t>
            </a:r>
          </a:p>
        </p:txBody>
      </p:sp>
      <p:sp>
        <p:nvSpPr>
          <p:cNvPr id="9" name="card-2"/>
          <p:cNvSpPr/>
          <p:nvPr/>
        </p:nvSpPr>
        <p:spPr>
          <a:xfrm>
            <a:off x="2564892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747772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newspaper" descr="newspap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612" y="1639884"/>
            <a:ext cx="313822" cy="31382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92908" y="2171700"/>
            <a:ext cx="1650492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Recent papers</a:t>
            </a:r>
          </a:p>
        </p:txBody>
      </p:sp>
      <p:sp>
        <p:nvSpPr>
          <p:cNvPr id="13" name="card-3"/>
          <p:cNvSpPr/>
          <p:nvPr/>
        </p:nvSpPr>
        <p:spPr>
          <a:xfrm>
            <a:off x="4672584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55464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flask" descr="flas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04" y="1639884"/>
            <a:ext cx="313822" cy="31382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00600" y="2171700"/>
            <a:ext cx="1650492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Common methods</a:t>
            </a:r>
          </a:p>
        </p:txBody>
      </p:sp>
      <p:sp>
        <p:nvSpPr>
          <p:cNvPr id="17" name="card-4"/>
          <p:cNvSpPr/>
          <p:nvPr/>
        </p:nvSpPr>
        <p:spPr>
          <a:xfrm>
            <a:off x="6780276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63156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users" descr="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996" y="1639884"/>
            <a:ext cx="313822" cy="31382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08292" y="2171700"/>
            <a:ext cx="1650492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Audience</a:t>
            </a:r>
          </a:p>
        </p:txBody>
      </p:sp>
      <p:sp>
        <p:nvSpPr>
          <p:cNvPr id="21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comments" descr="comment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oxima Nova"/>
              </a:rPr>
              <a:t>Does your paper join the conversation in that journal?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Understand the Journal Before You Submit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153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item-1"/>
          <p:cNvSpPr/>
          <p:nvPr/>
        </p:nvSpPr>
        <p:spPr>
          <a:xfrm>
            <a:off x="457200" y="905255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5216" y="1115567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905255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Who publishes it?</a:t>
            </a:r>
          </a:p>
        </p:txBody>
      </p:sp>
      <p:sp>
        <p:nvSpPr>
          <p:cNvPr id="8" name="item-2"/>
          <p:cNvSpPr/>
          <p:nvPr/>
        </p:nvSpPr>
        <p:spPr>
          <a:xfrm>
            <a:off x="457200" y="1874519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85216" y="2084831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874519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Who are the editors?</a:t>
            </a:r>
          </a:p>
        </p:txBody>
      </p:sp>
      <p:sp>
        <p:nvSpPr>
          <p:cNvPr id="11" name="item-3"/>
          <p:cNvSpPr/>
          <p:nvPr/>
        </p:nvSpPr>
        <p:spPr>
          <a:xfrm>
            <a:off x="457200" y="2843784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5216" y="3054096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843784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What type of peer review?</a:t>
            </a:r>
          </a:p>
        </p:txBody>
      </p:sp>
      <p:sp>
        <p:nvSpPr>
          <p:cNvPr id="14" name="item-4"/>
          <p:cNvSpPr/>
          <p:nvPr/>
        </p:nvSpPr>
        <p:spPr>
          <a:xfrm>
            <a:off x="457200" y="3813048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85216" y="402336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813048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What do the guidelines say?</a:t>
            </a:r>
          </a:p>
        </p:txBody>
      </p:sp>
      <p:sp>
        <p:nvSpPr>
          <p:cNvPr id="17" name="item-5"/>
          <p:cNvSpPr/>
          <p:nvPr/>
        </p:nvSpPr>
        <p:spPr>
          <a:xfrm>
            <a:off x="4645152" y="905255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773168" y="1115567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905255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What fees are charged?</a:t>
            </a:r>
          </a:p>
        </p:txBody>
      </p:sp>
      <p:sp>
        <p:nvSpPr>
          <p:cNvPr id="20" name="item-6"/>
          <p:cNvSpPr/>
          <p:nvPr/>
        </p:nvSpPr>
        <p:spPr>
          <a:xfrm>
            <a:off x="4645152" y="1874519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73168" y="2084831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1874519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How is it indexed or archived?</a:t>
            </a:r>
          </a:p>
        </p:txBody>
      </p:sp>
      <p:sp>
        <p:nvSpPr>
          <p:cNvPr id="23" name="item-7"/>
          <p:cNvSpPr/>
          <p:nvPr/>
        </p:nvSpPr>
        <p:spPr>
          <a:xfrm>
            <a:off x="4645152" y="2843784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773168" y="3054096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2843784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What is the ethics policy?</a:t>
            </a:r>
          </a:p>
        </p:txBody>
      </p:sp>
      <p:sp>
        <p:nvSpPr>
          <p:cNvPr id="26" name="item-8"/>
          <p:cNvSpPr/>
          <p:nvPr/>
        </p:nvSpPr>
        <p:spPr>
          <a:xfrm>
            <a:off x="4645152" y="3813048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773168" y="402336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6944" y="3813048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Can you reach the editorial office?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Impact Factor Is Not the Whole Decision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154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Metrics say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chartbar" descr="chartba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06105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“It is Q1”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chartbar" descr="chartba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92973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258318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“It is indexed”</a:t>
            </a:r>
          </a:p>
        </p:txBody>
      </p:sp>
      <p:sp>
        <p:nvSpPr>
          <p:cNvPr id="13" name="panel-2"/>
          <p:cNvSpPr/>
          <p:nvPr/>
        </p:nvSpPr>
        <p:spPr>
          <a:xfrm>
            <a:off x="48006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8006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Ask first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196596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question" descr="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06105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Is it appropriate for my research?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283464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question" descr="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92973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258318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Is the audience relevant?</a:t>
            </a:r>
          </a:p>
        </p:txBody>
      </p:sp>
      <p:sp>
        <p:nvSpPr>
          <p:cNvPr id="21" name="Oval 20"/>
          <p:cNvSpPr/>
          <p:nvPr/>
        </p:nvSpPr>
        <p:spPr>
          <a:xfrm>
            <a:off x="4983480" y="370332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question" descr="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798417"/>
            <a:ext cx="175564" cy="1755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58968" y="345186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Is the process credible?</a:t>
            </a:r>
          </a:p>
        </p:txBody>
      </p:sp>
      <p:sp>
        <p:nvSpPr>
          <p:cNvPr id="24" name="Oval 23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Recognize Predatory Publishing Red Flags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155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item-1"/>
          <p:cNvSpPr/>
          <p:nvPr/>
        </p:nvSpPr>
        <p:spPr>
          <a:xfrm>
            <a:off x="457200" y="896112"/>
            <a:ext cx="4041648" cy="667512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5216" y="102870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896112"/>
            <a:ext cx="3328415" cy="66751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Guarantees acceptance</a:t>
            </a:r>
          </a:p>
        </p:txBody>
      </p:sp>
      <p:sp>
        <p:nvSpPr>
          <p:cNvPr id="8" name="item-2"/>
          <p:cNvSpPr/>
          <p:nvPr/>
        </p:nvSpPr>
        <p:spPr>
          <a:xfrm>
            <a:off x="457200" y="1709928"/>
            <a:ext cx="4041648" cy="667512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85216" y="1842516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709928"/>
            <a:ext cx="3328415" cy="66751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Unrealistically fast publication</a:t>
            </a:r>
          </a:p>
        </p:txBody>
      </p:sp>
      <p:sp>
        <p:nvSpPr>
          <p:cNvPr id="11" name="item-3"/>
          <p:cNvSpPr/>
          <p:nvPr/>
        </p:nvSpPr>
        <p:spPr>
          <a:xfrm>
            <a:off x="457200" y="2523744"/>
            <a:ext cx="4041648" cy="667512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5216" y="2656332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523744"/>
            <a:ext cx="3328415" cy="66751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Unclear peer review</a:t>
            </a:r>
          </a:p>
        </p:txBody>
      </p:sp>
      <p:sp>
        <p:nvSpPr>
          <p:cNvPr id="14" name="item-4"/>
          <p:cNvSpPr/>
          <p:nvPr/>
        </p:nvSpPr>
        <p:spPr>
          <a:xfrm>
            <a:off x="457200" y="3337560"/>
            <a:ext cx="4041648" cy="667512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85216" y="3470147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337560"/>
            <a:ext cx="3328415" cy="66751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Editors you cannot verify</a:t>
            </a:r>
          </a:p>
        </p:txBody>
      </p:sp>
      <p:sp>
        <p:nvSpPr>
          <p:cNvPr id="17" name="item-5"/>
          <p:cNvSpPr/>
          <p:nvPr/>
        </p:nvSpPr>
        <p:spPr>
          <a:xfrm>
            <a:off x="4645152" y="896112"/>
            <a:ext cx="4041648" cy="667512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773168" y="102870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896112"/>
            <a:ext cx="3328415" cy="66751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Fees hidden until late</a:t>
            </a:r>
          </a:p>
        </p:txBody>
      </p:sp>
      <p:sp>
        <p:nvSpPr>
          <p:cNvPr id="20" name="item-6"/>
          <p:cNvSpPr/>
          <p:nvPr/>
        </p:nvSpPr>
        <p:spPr>
          <a:xfrm>
            <a:off x="4645152" y="1709928"/>
            <a:ext cx="4041648" cy="667512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73168" y="1842516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1709928"/>
            <a:ext cx="3328415" cy="66751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Exaggerated website claims</a:t>
            </a:r>
          </a:p>
        </p:txBody>
      </p:sp>
      <p:sp>
        <p:nvSpPr>
          <p:cNvPr id="23" name="item-7"/>
          <p:cNvSpPr/>
          <p:nvPr/>
        </p:nvSpPr>
        <p:spPr>
          <a:xfrm>
            <a:off x="4645152" y="2523744"/>
            <a:ext cx="4041648" cy="667512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773168" y="2656332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2523744"/>
            <a:ext cx="3328415" cy="66751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Indexing you cannot verify</a:t>
            </a:r>
          </a:p>
        </p:txBody>
      </p:sp>
      <p:sp>
        <p:nvSpPr>
          <p:cNvPr id="26" name="item-8"/>
          <p:cNvSpPr/>
          <p:nvPr/>
        </p:nvSpPr>
        <p:spPr>
          <a:xfrm>
            <a:off x="4645152" y="3337560"/>
            <a:ext cx="4041648" cy="667512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773168" y="3470147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6944" y="3337560"/>
            <a:ext cx="3328415" cy="66751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“Submit now!” spam emails</a:t>
            </a:r>
          </a:p>
        </p:txBody>
      </p:sp>
      <p:sp>
        <p:nvSpPr>
          <p:cNvPr id="29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on-search" descr="search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oxima Nova"/>
              </a:rPr>
              <a:t>One odd trait is not proof — verify the journal independently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Read the Author Guidelines Before Writing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156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filealt" descr="fileal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1650492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Abstract format</a:t>
            </a:r>
          </a:p>
        </p:txBody>
      </p:sp>
      <p:sp>
        <p:nvSpPr>
          <p:cNvPr id="9" name="card-2"/>
          <p:cNvSpPr/>
          <p:nvPr/>
        </p:nvSpPr>
        <p:spPr>
          <a:xfrm>
            <a:off x="2564892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74777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listol" descr="list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667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92908" y="1645919"/>
            <a:ext cx="1650492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Required sections</a:t>
            </a:r>
          </a:p>
        </p:txBody>
      </p:sp>
      <p:sp>
        <p:nvSpPr>
          <p:cNvPr id="13" name="card-3"/>
          <p:cNvSpPr/>
          <p:nvPr/>
        </p:nvSpPr>
        <p:spPr>
          <a:xfrm>
            <a:off x="4672584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55464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quoteleft" descr="quotelef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359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00600" y="1645919"/>
            <a:ext cx="1650492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Reference style</a:t>
            </a:r>
          </a:p>
        </p:txBody>
      </p:sp>
      <p:sp>
        <p:nvSpPr>
          <p:cNvPr id="17" name="card-4"/>
          <p:cNvSpPr/>
          <p:nvPr/>
        </p:nvSpPr>
        <p:spPr>
          <a:xfrm>
            <a:off x="6780276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6315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image" descr="ima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051" y="1183599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08292" y="1645919"/>
            <a:ext cx="1650492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Figures and tables</a:t>
            </a:r>
          </a:p>
        </p:txBody>
      </p:sp>
      <p:sp>
        <p:nvSpPr>
          <p:cNvPr id="21" name="card-5"/>
          <p:cNvSpPr/>
          <p:nvPr/>
        </p:nvSpPr>
        <p:spPr>
          <a:xfrm>
            <a:off x="457200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folderopen" descr="folderope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75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5216" y="3300984"/>
            <a:ext cx="1650492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File format</a:t>
            </a:r>
          </a:p>
        </p:txBody>
      </p:sp>
      <p:sp>
        <p:nvSpPr>
          <p:cNvPr id="25" name="card-6"/>
          <p:cNvSpPr/>
          <p:nvPr/>
        </p:nvSpPr>
        <p:spPr>
          <a:xfrm>
            <a:off x="2564892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747772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code" descr="cod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667" y="283866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692908" y="3300984"/>
            <a:ext cx="1650492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Data and code rules</a:t>
            </a:r>
          </a:p>
        </p:txBody>
      </p:sp>
      <p:sp>
        <p:nvSpPr>
          <p:cNvPr id="29" name="card-7"/>
          <p:cNvSpPr/>
          <p:nvPr/>
        </p:nvSpPr>
        <p:spPr>
          <a:xfrm>
            <a:off x="4672584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855464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icon-gavel" descr="gavel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8359" y="2838663"/>
            <a:ext cx="266273" cy="2662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800600" y="3300984"/>
            <a:ext cx="1650492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Ethics statements</a:t>
            </a:r>
          </a:p>
        </p:txBody>
      </p:sp>
      <p:sp>
        <p:nvSpPr>
          <p:cNvPr id="33" name="card-8"/>
          <p:cNvSpPr/>
          <p:nvPr/>
        </p:nvSpPr>
        <p:spPr>
          <a:xfrm>
            <a:off x="6780276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963156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con-robot" descr="robo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051" y="2838663"/>
            <a:ext cx="266273" cy="2662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08292" y="3300984"/>
            <a:ext cx="1650492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AI-use disclosure</a:t>
            </a:r>
          </a:p>
        </p:txBody>
      </p:sp>
      <p:sp>
        <p:nvSpPr>
          <p:cNvPr id="37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icon-book" descr="book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roxima Nova"/>
              </a:rPr>
              <a:t>Read the guidelines BEFORE you write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The Cover Letter — Your First Editorial Argument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157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1856231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What the paper is about</a:t>
            </a:r>
          </a:p>
        </p:txBody>
      </p:sp>
      <p:sp>
        <p:nvSpPr>
          <p:cNvPr id="6" name="Oval 5"/>
          <p:cNvSpPr/>
          <p:nvPr/>
        </p:nvSpPr>
        <p:spPr>
          <a:xfrm>
            <a:off x="1042416" y="17282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35000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157984" y="1856231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The problem it addresses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17282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35000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3858768" y="1856231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Main contribution</a:t>
            </a:r>
          </a:p>
        </p:txBody>
      </p:sp>
      <p:sp>
        <p:nvSpPr>
          <p:cNvPr id="12" name="Oval 11"/>
          <p:cNvSpPr/>
          <p:nvPr/>
        </p:nvSpPr>
        <p:spPr>
          <a:xfrm>
            <a:off x="4443984" y="17282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235000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5559552" y="1856231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Proxima Nova"/>
              </a:rPr>
              <a:t>Why it fits this journal</a:t>
            </a:r>
          </a:p>
        </p:txBody>
      </p:sp>
      <p:sp>
        <p:nvSpPr>
          <p:cNvPr id="15" name="Oval 14"/>
          <p:cNvSpPr/>
          <p:nvPr/>
        </p:nvSpPr>
        <p:spPr>
          <a:xfrm>
            <a:off x="6144768" y="172821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pic>
        <p:nvPicPr>
          <p:cNvPr id="16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2350008"/>
            <a:ext cx="201168" cy="201168"/>
          </a:xfrm>
          <a:prstGeom prst="rect">
            <a:avLst/>
          </a:prstGeom>
        </p:spPr>
      </p:pic>
      <p:sp>
        <p:nvSpPr>
          <p:cNvPr id="17" name="step-5"/>
          <p:cNvSpPr/>
          <p:nvPr/>
        </p:nvSpPr>
        <p:spPr>
          <a:xfrm>
            <a:off x="7260336" y="1856231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Required declarations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7845552" y="17282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icon-envelope" descr="envelop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roxima Nova"/>
              </a:rPr>
              <a:t>No exaggerated claims. Do not rewrite the abstract.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What Happens After Submission?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158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400" b="1" i="0">
                <a:solidFill>
                  <a:srgbClr val="1C2A26"/>
                </a:solidFill>
                <a:latin typeface="Proxima Nova"/>
              </a:rPr>
              <a:t>Submit</a:t>
            </a:r>
          </a:p>
        </p:txBody>
      </p:sp>
      <p:sp>
        <p:nvSpPr>
          <p:cNvPr id="6" name="Oval 5"/>
          <p:cNvSpPr/>
          <p:nvPr/>
        </p:nvSpPr>
        <p:spPr>
          <a:xfrm>
            <a:off x="1042416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157984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400" b="1" i="0">
                <a:solidFill>
                  <a:srgbClr val="1C2A26"/>
                </a:solidFill>
                <a:latin typeface="Proxima Nova"/>
              </a:rPr>
              <a:t>Editor screening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3858768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400" b="1" i="0">
                <a:solidFill>
                  <a:srgbClr val="1C2A26"/>
                </a:solidFill>
                <a:latin typeface="Proxima Nova"/>
              </a:rPr>
              <a:t>Peer review</a:t>
            </a:r>
          </a:p>
        </p:txBody>
      </p:sp>
      <p:sp>
        <p:nvSpPr>
          <p:cNvPr id="12" name="Oval 11"/>
          <p:cNvSpPr/>
          <p:nvPr/>
        </p:nvSpPr>
        <p:spPr>
          <a:xfrm>
            <a:off x="444398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5559552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Proxima Nova"/>
              </a:rPr>
              <a:t>Decision</a:t>
            </a:r>
          </a:p>
        </p:txBody>
      </p:sp>
      <p:sp>
        <p:nvSpPr>
          <p:cNvPr id="15" name="Oval 14"/>
          <p:cNvSpPr/>
          <p:nvPr/>
        </p:nvSpPr>
        <p:spPr>
          <a:xfrm>
            <a:off x="6144768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pic>
        <p:nvPicPr>
          <p:cNvPr id="16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2532888"/>
            <a:ext cx="201168" cy="201168"/>
          </a:xfrm>
          <a:prstGeom prst="rect">
            <a:avLst/>
          </a:prstGeom>
        </p:spPr>
      </p:pic>
      <p:sp>
        <p:nvSpPr>
          <p:cNvPr id="17" name="step-5"/>
          <p:cNvSpPr/>
          <p:nvPr/>
        </p:nvSpPr>
        <p:spPr>
          <a:xfrm>
            <a:off x="7260336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400" b="1" i="0">
                <a:solidFill>
                  <a:srgbClr val="1C2A26"/>
                </a:solidFill>
                <a:latin typeface="Proxima Nova"/>
              </a:rPr>
              <a:t>Revise or resubmit</a:t>
            </a:r>
          </a:p>
        </p:txBody>
      </p:sp>
      <p:sp>
        <p:nvSpPr>
          <p:cNvPr id="18" name="Oval 17"/>
          <p:cNvSpPr/>
          <p:nvPr/>
        </p:nvSpPr>
        <p:spPr>
          <a:xfrm>
            <a:off x="7845552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Accept • Minor revision • Major revision • Reject &amp; resubmit • Reject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How to Respond to Reviewer Comments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159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Reviewer’s comment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Your response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What you changed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Where you changed it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Do not get defensive. Classify the comments, then respond systematically.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The Publication Readiness Checklist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160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item-1"/>
          <p:cNvSpPr/>
          <p:nvPr/>
        </p:nvSpPr>
        <p:spPr>
          <a:xfrm>
            <a:off x="457200" y="896112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5216" y="1011326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896112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Research fit</a:t>
            </a:r>
          </a:p>
        </p:txBody>
      </p:sp>
      <p:sp>
        <p:nvSpPr>
          <p:cNvPr id="8" name="item-2"/>
          <p:cNvSpPr/>
          <p:nvPr/>
        </p:nvSpPr>
        <p:spPr>
          <a:xfrm>
            <a:off x="457200" y="1675180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85216" y="1790395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675180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Scientific quality</a:t>
            </a:r>
          </a:p>
        </p:txBody>
      </p:sp>
      <p:sp>
        <p:nvSpPr>
          <p:cNvPr id="11" name="item-3"/>
          <p:cNvSpPr/>
          <p:nvPr/>
        </p:nvSpPr>
        <p:spPr>
          <a:xfrm>
            <a:off x="457200" y="2454249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5216" y="2569464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454249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Contribution</a:t>
            </a:r>
          </a:p>
        </p:txBody>
      </p:sp>
      <p:sp>
        <p:nvSpPr>
          <p:cNvPr id="14" name="item-4"/>
          <p:cNvSpPr/>
          <p:nvPr/>
        </p:nvSpPr>
        <p:spPr>
          <a:xfrm>
            <a:off x="457200" y="3233318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85216" y="3348532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233318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Evidence</a:t>
            </a:r>
          </a:p>
        </p:txBody>
      </p:sp>
      <p:sp>
        <p:nvSpPr>
          <p:cNvPr id="17" name="item-5"/>
          <p:cNvSpPr/>
          <p:nvPr/>
        </p:nvSpPr>
        <p:spPr>
          <a:xfrm>
            <a:off x="457200" y="4012387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85216" y="4127601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012387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Reproducibility and transparency</a:t>
            </a:r>
          </a:p>
        </p:txBody>
      </p:sp>
      <p:sp>
        <p:nvSpPr>
          <p:cNvPr id="20" name="item-6"/>
          <p:cNvSpPr/>
          <p:nvPr/>
        </p:nvSpPr>
        <p:spPr>
          <a:xfrm>
            <a:off x="4645152" y="896112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73168" y="1011326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896112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References</a:t>
            </a:r>
          </a:p>
        </p:txBody>
      </p:sp>
      <p:sp>
        <p:nvSpPr>
          <p:cNvPr id="23" name="item-7"/>
          <p:cNvSpPr/>
          <p:nvPr/>
        </p:nvSpPr>
        <p:spPr>
          <a:xfrm>
            <a:off x="4645152" y="1675180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773168" y="1790395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1675180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Ethics declarations</a:t>
            </a:r>
          </a:p>
        </p:txBody>
      </p:sp>
      <p:sp>
        <p:nvSpPr>
          <p:cNvPr id="26" name="item-8"/>
          <p:cNvSpPr/>
          <p:nvPr/>
        </p:nvSpPr>
        <p:spPr>
          <a:xfrm>
            <a:off x="4645152" y="2454249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773168" y="2569464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6944" y="2454249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Manuscript compliance</a:t>
            </a:r>
          </a:p>
        </p:txBody>
      </p:sp>
      <p:sp>
        <p:nvSpPr>
          <p:cNvPr id="29" name="item-9"/>
          <p:cNvSpPr/>
          <p:nvPr/>
        </p:nvSpPr>
        <p:spPr>
          <a:xfrm>
            <a:off x="4645152" y="3233318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773168" y="3348532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66944" y="3233318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Journal credibility</a:t>
            </a:r>
          </a:p>
        </p:txBody>
      </p:sp>
      <p:sp>
        <p:nvSpPr>
          <p:cNvPr id="32" name="item-10"/>
          <p:cNvSpPr/>
          <p:nvPr/>
        </p:nvSpPr>
        <p:spPr>
          <a:xfrm>
            <a:off x="4645152" y="4012387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773168" y="4127601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66944" y="4012387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Final claim check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12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161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Which is a predatory-publishing red flag?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 clear peer-review process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Guaranteed acceptance within days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 verifiable editorial board</a:t>
            </a:r>
          </a:p>
        </p:txBody>
      </p:sp>
      <p:sp>
        <p:nvSpPr>
          <p:cNvPr id="15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Published author guidelines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3708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FFE3E5"/>
                </a:solidFill>
                <a:latin typeface="Proxima Nova"/>
              </a:rPr>
              <a:t>Type your answer in the chat — A, B, C or D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12 — Answer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162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Which is a predatory-publishing red flag?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A clear peer-review process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5333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oxima Nova"/>
              </a:rPr>
              <a:t>Guaranteed acceptance within days</a:t>
            </a:r>
          </a:p>
        </p:txBody>
      </p:sp>
      <p:pic>
        <p:nvPicPr>
          <p:cNvPr id="12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2487168"/>
            <a:ext cx="329184" cy="329184"/>
          </a:xfrm>
          <a:prstGeom prst="rect">
            <a:avLst/>
          </a:prstGeom>
        </p:spPr>
      </p:pic>
      <p:sp>
        <p:nvSpPr>
          <p:cNvPr id="13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A verifiable editorial board</a:t>
            </a:r>
          </a:p>
        </p:txBody>
      </p:sp>
      <p:sp>
        <p:nvSpPr>
          <p:cNvPr id="16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Published author guidelines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431596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E3E5"/>
                </a:solidFill>
                <a:latin typeface="Proxima Nova"/>
              </a:rPr>
              <a:t>Why? </a:t>
            </a:r>
            <a:r>
              <a:rPr sz="1500" b="0" i="0">
                <a:solidFill>
                  <a:srgbClr val="FFFFFF"/>
                </a:solidFill>
                <a:latin typeface="Proxima Nova"/>
              </a:rPr>
              <a:t>Guaranteed acceptance and unrealistic speed should trigger independent verification.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1783080"/>
            <a:ext cx="7680960" cy="201168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Proxima Nova"/>
              </a:rPr>
              <a:t>Common Research Mistakes and How to Avoid Them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163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inutes-chip"/>
          <p:cNvSpPr/>
          <p:nvPr/>
        </p:nvSpPr>
        <p:spPr>
          <a:xfrm>
            <a:off x="630936" y="118872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endParaRPr sz="1500" b="1" i="0" dirty="0">
              <a:solidFill>
                <a:srgbClr val="1C2A26"/>
              </a:solidFill>
              <a:latin typeface="Proxima Nov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093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272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362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8541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9631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0720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1810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9000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3989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50791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6168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72583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83480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9437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0527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1616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502920"/>
            <a:ext cx="630936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Good Research Can Fail Because of Small Decisions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164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tag"/>
          <p:cNvSpPr/>
          <p:nvPr/>
        </p:nvSpPr>
        <p:spPr>
          <a:xfrm>
            <a:off x="630936" y="12801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con-bug" descr="bu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44168"/>
            <a:ext cx="25603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1280160"/>
            <a:ext cx="178308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SPOT THE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783080"/>
            <a:ext cx="7863840" cy="178308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Proxima Nova"/>
              </a:rPr>
              <a:t>Good research can fail because of small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3657600"/>
            <a:ext cx="7680960" cy="8229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000" b="0" i="0">
                <a:solidFill>
                  <a:srgbClr val="FFE3E5"/>
                </a:solidFill>
                <a:latin typeface="Proxima Nova"/>
              </a:rPr>
              <a:t>For each situation ask: what is wrong here — and what would I do instead?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Mistake 1 — Starting With the Technology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165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Technology first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5457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44967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“Let’s use an LLM / an agent / RAG!”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1469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40979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No research question</a:t>
            </a:r>
          </a:p>
        </p:txBody>
      </p:sp>
      <p:sp>
        <p:nvSpPr>
          <p:cNvPr id="13" name="panel-2"/>
          <p:cNvSpPr/>
          <p:nvPr/>
        </p:nvSpPr>
        <p:spPr>
          <a:xfrm>
            <a:off x="48006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8006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Problem first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35457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44967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What do we need to know?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331469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40979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Then choose the method</a:t>
            </a:r>
          </a:p>
        </p:txBody>
      </p:sp>
      <p:sp>
        <p:nvSpPr>
          <p:cNvPr id="21" name="Oval 20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Mistake 2 — Data Leakage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166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Feature uses future information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Then split train / test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Model “sees” the future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Proxima Nova"/>
              </a:rPr>
              <a:t>98% accuracy?!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Data leakage: the model has seen what it should not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Mistake 3 — Choosing the Best Result After the Fact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167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Model 1: 72%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Model 2: 79%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1C2A26"/>
                </a:solidFill>
                <a:latin typeface="Proxima Nova"/>
              </a:rPr>
              <a:t>Model 10: 91%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Report only 91%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Many tries + one reported result = hidden selection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Mistake 4 — Ignoring Negative or Unexpected Results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168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Weak response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06105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“Disappointing. Remove it.”</a:t>
            </a:r>
          </a:p>
        </p:txBody>
      </p:sp>
      <p:sp>
        <p:nvSpPr>
          <p:cNvPr id="10" name="panel-2"/>
          <p:cNvSpPr/>
          <p:nvPr/>
        </p:nvSpPr>
        <p:spPr>
          <a:xfrm>
            <a:off x="48006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anel-head-2"/>
          <p:cNvSpPr/>
          <p:nvPr/>
        </p:nvSpPr>
        <p:spPr>
          <a:xfrm>
            <a:off x="48006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Strong response</a:t>
            </a:r>
          </a:p>
        </p:txBody>
      </p:sp>
      <p:sp>
        <p:nvSpPr>
          <p:cNvPr id="12" name="Oval 11"/>
          <p:cNvSpPr/>
          <p:nvPr/>
        </p:nvSpPr>
        <p:spPr>
          <a:xfrm>
            <a:off x="4983480" y="196596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061057"/>
            <a:ext cx="175564" cy="1755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589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Investigate: why did it fail?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83464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92973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258318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Dataset too small?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370332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79841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345186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Was the approach flawed?</a:t>
            </a:r>
          </a:p>
        </p:txBody>
      </p:sp>
      <p:sp>
        <p:nvSpPr>
          <p:cNvPr id="21" name="Oval 20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Mistake 5 — Overclaiming From a Small Study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169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824227"/>
            <a:ext cx="3886200" cy="189280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82422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Overclaim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83463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92973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537459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“AI tutoring improves education worldwide”</a:t>
            </a:r>
          </a:p>
        </p:txBody>
      </p:sp>
      <p:sp>
        <p:nvSpPr>
          <p:cNvPr id="10" name="panel-2"/>
          <p:cNvSpPr/>
          <p:nvPr/>
        </p:nvSpPr>
        <p:spPr>
          <a:xfrm>
            <a:off x="4800600" y="1824227"/>
            <a:ext cx="3886200" cy="189280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anel-head-2"/>
          <p:cNvSpPr/>
          <p:nvPr/>
        </p:nvSpPr>
        <p:spPr>
          <a:xfrm>
            <a:off x="4800600" y="182422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Proportional claim</a:t>
            </a:r>
          </a:p>
        </p:txBody>
      </p:sp>
      <p:sp>
        <p:nvSpPr>
          <p:cNvPr id="12" name="Oval 11"/>
          <p:cNvSpPr/>
          <p:nvPr/>
        </p:nvSpPr>
        <p:spPr>
          <a:xfrm>
            <a:off x="4983480" y="283463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929737"/>
            <a:ext cx="175564" cy="1755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58968" y="2537459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“In this sample and setting, students performed better”</a:t>
            </a:r>
          </a:p>
        </p:txBody>
      </p:sp>
      <p:sp>
        <p:nvSpPr>
          <p:cNvPr id="15" name="Oval 14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Mistake 6 — Hiding Important Methodological Details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170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ban" descr="ba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2353056" cy="2588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1C2A26"/>
                </a:solidFill>
                <a:latin typeface="Proxima Nova"/>
              </a:rPr>
              <a:t>Removed records</a:t>
            </a:r>
          </a:p>
        </p:txBody>
      </p:sp>
      <p:sp>
        <p:nvSpPr>
          <p:cNvPr id="9" name="card-2"/>
          <p:cNvSpPr/>
          <p:nvPr/>
        </p:nvSpPr>
        <p:spPr>
          <a:xfrm>
            <a:off x="3267456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5033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slidersh" descr="sliders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31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95472" y="1645919"/>
            <a:ext cx="2353056" cy="4810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1C2A26"/>
                </a:solidFill>
                <a:latin typeface="Proxima Nova"/>
              </a:rPr>
              <a:t>Changed a parameter</a:t>
            </a:r>
          </a:p>
        </p:txBody>
      </p:sp>
      <p:sp>
        <p:nvSpPr>
          <p:cNvPr id="13" name="card-3"/>
          <p:cNvSpPr/>
          <p:nvPr/>
        </p:nvSpPr>
        <p:spPr>
          <a:xfrm>
            <a:off x="6077712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6059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pen" descr="pe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87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5728" y="1645919"/>
            <a:ext cx="2353056" cy="4810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1C2A26"/>
                </a:solidFill>
                <a:latin typeface="Proxima Nova"/>
              </a:rPr>
              <a:t>Used a specific prompt template</a:t>
            </a:r>
          </a:p>
        </p:txBody>
      </p:sp>
      <p:sp>
        <p:nvSpPr>
          <p:cNvPr id="17" name="card-4"/>
          <p:cNvSpPr/>
          <p:nvPr/>
        </p:nvSpPr>
        <p:spPr>
          <a:xfrm>
            <a:off x="1862328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045208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wrench" descr="wren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8103" y="2838663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990344" y="3300984"/>
            <a:ext cx="2353056" cy="4810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1C2A26"/>
                </a:solidFill>
                <a:latin typeface="Proxima Nova"/>
              </a:rPr>
              <a:t>Manually corrected outputs</a:t>
            </a:r>
          </a:p>
        </p:txBody>
      </p:sp>
      <p:sp>
        <p:nvSpPr>
          <p:cNvPr id="21" name="card-5"/>
          <p:cNvSpPr/>
          <p:nvPr/>
        </p:nvSpPr>
        <p:spPr>
          <a:xfrm>
            <a:off x="4672584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855464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filter" descr="filt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359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00600" y="3300984"/>
            <a:ext cx="2353056" cy="4810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1C2A26"/>
                </a:solidFill>
                <a:latin typeface="Proxima Nova"/>
              </a:rPr>
              <a:t>Applied an unreported filter</a:t>
            </a:r>
          </a:p>
        </p:txBody>
      </p:sp>
      <p:sp>
        <p:nvSpPr>
          <p:cNvPr id="25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con-redo" descr="redo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An unreported step is an unrepeatable study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Mistake 7 — Research Ethics and Publication Problems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171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usersecret" descr="usersecre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Fabrication of data</a:t>
            </a:r>
          </a:p>
        </p:txBody>
      </p:sp>
      <p:sp>
        <p:nvSpPr>
          <p:cNvPr id="9" name="card-2"/>
          <p:cNvSpPr/>
          <p:nvPr/>
        </p:nvSpPr>
        <p:spPr>
          <a:xfrm>
            <a:off x="3267456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5033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pen" descr="pe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231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95472" y="1645919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Falsification</a:t>
            </a:r>
          </a:p>
        </p:txBody>
      </p:sp>
      <p:sp>
        <p:nvSpPr>
          <p:cNvPr id="13" name="card-3"/>
          <p:cNvSpPr/>
          <p:nvPr/>
        </p:nvSpPr>
        <p:spPr>
          <a:xfrm>
            <a:off x="6077712" y="896112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6059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handshake" descr="handshak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87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5728" y="1645919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Undisclosed conflicts</a:t>
            </a:r>
          </a:p>
        </p:txBody>
      </p:sp>
      <p:sp>
        <p:nvSpPr>
          <p:cNvPr id="17" name="card-4"/>
          <p:cNvSpPr/>
          <p:nvPr/>
        </p:nvSpPr>
        <p:spPr>
          <a:xfrm>
            <a:off x="457200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users" descr="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2838663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5216" y="3300984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Inappropriate authorship</a:t>
            </a:r>
          </a:p>
        </p:txBody>
      </p:sp>
      <p:sp>
        <p:nvSpPr>
          <p:cNvPr id="21" name="card-5"/>
          <p:cNvSpPr/>
          <p:nvPr/>
        </p:nvSpPr>
        <p:spPr>
          <a:xfrm>
            <a:off x="3267456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450336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copy" descr="cop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231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395472" y="3300984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Duplicate publication</a:t>
            </a:r>
          </a:p>
        </p:txBody>
      </p:sp>
      <p:sp>
        <p:nvSpPr>
          <p:cNvPr id="25" name="card-6"/>
          <p:cNvSpPr/>
          <p:nvPr/>
        </p:nvSpPr>
        <p:spPr>
          <a:xfrm>
            <a:off x="6077712" y="2551176"/>
            <a:ext cx="2609088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260592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archive" descr="archiv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487" y="283866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05728" y="3300984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Old data presented as new</a:t>
            </a:r>
          </a:p>
        </p:txBody>
      </p:sp>
      <p:sp>
        <p:nvSpPr>
          <p:cNvPr id="29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on-gavel" descr="gavel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roxima Nova"/>
              </a:rPr>
              <a:t>These affect the integrity of the scientific record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The Researcher's Final Error Check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172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item-1"/>
          <p:cNvSpPr/>
          <p:nvPr/>
        </p:nvSpPr>
        <p:spPr>
          <a:xfrm>
            <a:off x="457200" y="896112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5216" y="1011326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896112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Meaningful problem?</a:t>
            </a:r>
          </a:p>
        </p:txBody>
      </p:sp>
      <p:sp>
        <p:nvSpPr>
          <p:cNvPr id="8" name="item-2"/>
          <p:cNvSpPr/>
          <p:nvPr/>
        </p:nvSpPr>
        <p:spPr>
          <a:xfrm>
            <a:off x="457200" y="1675180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85216" y="1790395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675180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Question matches design?</a:t>
            </a:r>
          </a:p>
        </p:txBody>
      </p:sp>
      <p:sp>
        <p:nvSpPr>
          <p:cNvPr id="11" name="item-3"/>
          <p:cNvSpPr/>
          <p:nvPr/>
        </p:nvSpPr>
        <p:spPr>
          <a:xfrm>
            <a:off x="457200" y="2454249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5216" y="2569464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454249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Leakage or hidden bias?</a:t>
            </a:r>
          </a:p>
        </p:txBody>
      </p:sp>
      <p:sp>
        <p:nvSpPr>
          <p:cNvPr id="14" name="item-4"/>
          <p:cNvSpPr/>
          <p:nvPr/>
        </p:nvSpPr>
        <p:spPr>
          <a:xfrm>
            <a:off x="457200" y="3233318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85216" y="3348532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233318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Planned vs. exploratory analysis?</a:t>
            </a:r>
          </a:p>
        </p:txBody>
      </p:sp>
      <p:sp>
        <p:nvSpPr>
          <p:cNvPr id="17" name="item-5"/>
          <p:cNvSpPr/>
          <p:nvPr/>
        </p:nvSpPr>
        <p:spPr>
          <a:xfrm>
            <a:off x="457200" y="4012387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85216" y="4127601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012387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Negative results reported?</a:t>
            </a:r>
          </a:p>
        </p:txBody>
      </p:sp>
      <p:sp>
        <p:nvSpPr>
          <p:cNvPr id="20" name="item-6"/>
          <p:cNvSpPr/>
          <p:nvPr/>
        </p:nvSpPr>
        <p:spPr>
          <a:xfrm>
            <a:off x="4645152" y="896112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73168" y="1011326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896112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Comparisons fair?</a:t>
            </a:r>
          </a:p>
        </p:txBody>
      </p:sp>
      <p:sp>
        <p:nvSpPr>
          <p:cNvPr id="23" name="item-7"/>
          <p:cNvSpPr/>
          <p:nvPr/>
        </p:nvSpPr>
        <p:spPr>
          <a:xfrm>
            <a:off x="4645152" y="1675180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773168" y="1790395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1675180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Can others follow what I did?</a:t>
            </a:r>
          </a:p>
        </p:txBody>
      </p:sp>
      <p:sp>
        <p:nvSpPr>
          <p:cNvPr id="26" name="item-8"/>
          <p:cNvSpPr/>
          <p:nvPr/>
        </p:nvSpPr>
        <p:spPr>
          <a:xfrm>
            <a:off x="4645152" y="2454249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773168" y="2569464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6944" y="2454249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Conclusions proportional?</a:t>
            </a:r>
          </a:p>
        </p:txBody>
      </p:sp>
      <p:sp>
        <p:nvSpPr>
          <p:cNvPr id="29" name="item-9"/>
          <p:cNvSpPr/>
          <p:nvPr/>
        </p:nvSpPr>
        <p:spPr>
          <a:xfrm>
            <a:off x="4645152" y="3233318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773168" y="3348532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66944" y="3233318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Ethics addressed?</a:t>
            </a:r>
          </a:p>
        </p:txBody>
      </p:sp>
      <p:sp>
        <p:nvSpPr>
          <p:cNvPr id="32" name="item-10"/>
          <p:cNvSpPr/>
          <p:nvPr/>
        </p:nvSpPr>
        <p:spPr>
          <a:xfrm>
            <a:off x="4645152" y="4012387"/>
            <a:ext cx="4041648" cy="632764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773168" y="4127601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66944" y="4012387"/>
            <a:ext cx="3328415" cy="6327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0" i="0">
                <a:solidFill>
                  <a:srgbClr val="1C2A26"/>
                </a:solidFill>
                <a:latin typeface="Proxima Nova"/>
              </a:rPr>
              <a:t>Strongest claim defensible?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13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173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A feature is built using a customer’s future behavior before the train–test split. This is…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Overfitting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Data leakage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Normalization</a:t>
            </a:r>
          </a:p>
        </p:txBody>
      </p:sp>
      <p:sp>
        <p:nvSpPr>
          <p:cNvPr id="15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Sampling bias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3708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FFE3E5"/>
                </a:solidFill>
                <a:latin typeface="Proxima Nova"/>
              </a:rPr>
              <a:t>Type your answer in the chat — A, B, C or D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13 — Answer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174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A feature is built using a customer’s future behavior before the train–test split. This is…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Overfitting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5333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oxima Nova"/>
              </a:rPr>
              <a:t>Data leakage</a:t>
            </a:r>
          </a:p>
        </p:txBody>
      </p:sp>
      <p:pic>
        <p:nvPicPr>
          <p:cNvPr id="12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2487168"/>
            <a:ext cx="329184" cy="329184"/>
          </a:xfrm>
          <a:prstGeom prst="rect">
            <a:avLst/>
          </a:prstGeom>
        </p:spPr>
      </p:pic>
      <p:sp>
        <p:nvSpPr>
          <p:cNvPr id="13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Normalization</a:t>
            </a:r>
          </a:p>
        </p:txBody>
      </p:sp>
      <p:sp>
        <p:nvSpPr>
          <p:cNvPr id="16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Sampling bias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431596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E3E5"/>
                </a:solidFill>
                <a:latin typeface="Proxima Nova"/>
              </a:rPr>
              <a:t>Why? </a:t>
            </a:r>
            <a:r>
              <a:rPr sz="1500" b="0" i="0">
                <a:solidFill>
                  <a:srgbClr val="FFFFFF"/>
                </a:solidFill>
                <a:latin typeface="Proxima Nova"/>
              </a:rPr>
              <a:t>The model has indirectly seen the future, so its accuracy is misleading.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1783080"/>
            <a:ext cx="7680960" cy="2011680"/>
          </a:xfrm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FFFFFF"/>
                </a:solidFill>
                <a:latin typeface="Proxima Nova"/>
              </a:rPr>
              <a:t>Generative AI in Research: Powerful Assistant, Not a Replacement for the Researcher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175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inutes-chip"/>
          <p:cNvSpPr/>
          <p:nvPr/>
        </p:nvSpPr>
        <p:spPr>
          <a:xfrm>
            <a:off x="630936" y="118872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endParaRPr sz="1500" b="1" i="0" dirty="0">
              <a:solidFill>
                <a:srgbClr val="1C2A26"/>
              </a:solidFill>
              <a:latin typeface="Proxima Nov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093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272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362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8541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9631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0720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1810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9000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3989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50791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6168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72583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83480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94376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0527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1616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AI Has Changed the Research Workflow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176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987552"/>
            <a:ext cx="5120640" cy="356615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5120640" cy="19202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3400" b="1" i="0">
                <a:solidFill>
                  <a:srgbClr val="1C2A26"/>
                </a:solidFill>
                <a:latin typeface="Proxima Nova"/>
              </a:rPr>
              <a:t>Generative AI is now part of the researcher’s </a:t>
            </a:r>
            <a:r>
              <a:rPr sz="3400" b="1" i="0">
                <a:solidFill>
                  <a:srgbClr val="F5333F"/>
                </a:solidFill>
                <a:latin typeface="Proxima Nova"/>
              </a:rPr>
              <a:t>toolkit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82112"/>
            <a:ext cx="5120640" cy="10972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800" b="0" i="0">
                <a:solidFill>
                  <a:srgbClr val="5C6A64"/>
                </a:solidFill>
                <a:latin typeface="Proxima Nova"/>
              </a:rPr>
              <a:t>Use AI to accelerate research — not to outsource research thinking</a:t>
            </a:r>
          </a:p>
        </p:txBody>
      </p:sp>
      <p:sp>
        <p:nvSpPr>
          <p:cNvPr id="8" name="Oval 7"/>
          <p:cNvSpPr/>
          <p:nvPr/>
        </p:nvSpPr>
        <p:spPr>
          <a:xfrm>
            <a:off x="5806440" y="1124712"/>
            <a:ext cx="2834640" cy="2834640"/>
          </a:xfrm>
          <a:prstGeom prst="ellipse">
            <a:avLst/>
          </a:prstGeom>
          <a:solidFill>
            <a:srgbClr val="FDECE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217920" y="1536192"/>
            <a:ext cx="2011680" cy="201168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-robot" descr="robo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47672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What Can AI Help a Researcher Do?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177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lightbulb" descr="lightbulb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1183599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164591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Suggest research questions</a:t>
            </a:r>
          </a:p>
        </p:txBody>
      </p:sp>
      <p:sp>
        <p:nvSpPr>
          <p:cNvPr id="9" name="card-2"/>
          <p:cNvSpPr/>
          <p:nvPr/>
        </p:nvSpPr>
        <p:spPr>
          <a:xfrm>
            <a:off x="2564892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747772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folderopen" descr="folderope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667" y="1183599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92908" y="164591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Organize notes</a:t>
            </a:r>
          </a:p>
        </p:txBody>
      </p:sp>
      <p:sp>
        <p:nvSpPr>
          <p:cNvPr id="13" name="card-3"/>
          <p:cNvSpPr/>
          <p:nvPr/>
        </p:nvSpPr>
        <p:spPr>
          <a:xfrm>
            <a:off x="4672584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55464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search" descr="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359" y="1183599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00600" y="164591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Suggest search keywords</a:t>
            </a:r>
          </a:p>
        </p:txBody>
      </p:sp>
      <p:sp>
        <p:nvSpPr>
          <p:cNvPr id="17" name="card-4"/>
          <p:cNvSpPr/>
          <p:nvPr/>
        </p:nvSpPr>
        <p:spPr>
          <a:xfrm>
            <a:off x="6780276" y="896112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63156" y="1060704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book" descr="boo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051" y="1183599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08292" y="1645919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Summarize papers you found</a:t>
            </a:r>
          </a:p>
        </p:txBody>
      </p:sp>
      <p:sp>
        <p:nvSpPr>
          <p:cNvPr id="21" name="card-5"/>
          <p:cNvSpPr/>
          <p:nvPr/>
        </p:nvSpPr>
        <p:spPr>
          <a:xfrm>
            <a:off x="457200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-language" descr="langua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75" y="2838663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5216" y="3300984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Improve language</a:t>
            </a:r>
          </a:p>
        </p:txBody>
      </p:sp>
      <p:sp>
        <p:nvSpPr>
          <p:cNvPr id="25" name="card-6"/>
          <p:cNvSpPr/>
          <p:nvPr/>
        </p:nvSpPr>
        <p:spPr>
          <a:xfrm>
            <a:off x="2564892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747772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-chalkboardteacher" descr="chalkboardteach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667" y="2838663"/>
            <a:ext cx="266273" cy="266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692908" y="3300984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Explain concepts</a:t>
            </a:r>
          </a:p>
        </p:txBody>
      </p:sp>
      <p:sp>
        <p:nvSpPr>
          <p:cNvPr id="29" name="card-7"/>
          <p:cNvSpPr/>
          <p:nvPr/>
        </p:nvSpPr>
        <p:spPr>
          <a:xfrm>
            <a:off x="4672584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855464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icon-code" descr="cod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8359" y="2838663"/>
            <a:ext cx="266273" cy="2662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800600" y="3300984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Draft initial code</a:t>
            </a:r>
          </a:p>
        </p:txBody>
      </p:sp>
      <p:sp>
        <p:nvSpPr>
          <p:cNvPr id="33" name="card-8"/>
          <p:cNvSpPr/>
          <p:nvPr/>
        </p:nvSpPr>
        <p:spPr>
          <a:xfrm>
            <a:off x="6780276" y="2551176"/>
            <a:ext cx="1906524" cy="1453895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963156" y="2715768"/>
            <a:ext cx="512064" cy="51206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con-bug" descr="bug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051" y="2838663"/>
            <a:ext cx="266273" cy="2662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08292" y="3300984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Spot inconsistencies</a:t>
            </a:r>
          </a:p>
        </p:txBody>
      </p:sp>
      <p:sp>
        <p:nvSpPr>
          <p:cNvPr id="37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icon-usercheck" descr="usercheck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roxima Nova"/>
              </a:rPr>
              <a:t>AI helps. AI suggests. The researcher DECIDES.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Scenario — Can I Ask AI to Find Papers?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178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ask"/>
          <p:cNvSpPr/>
          <p:nvPr/>
        </p:nvSpPr>
        <p:spPr>
          <a:xfrm>
            <a:off x="457200" y="987552"/>
            <a:ext cx="4206240" cy="1691640"/>
          </a:xfrm>
          <a:prstGeom prst="roundRect">
            <a:avLst>
              <a:gd name="adj" fmla="val 1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con-comments" descr="comments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24712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1463040"/>
            <a:ext cx="3931920" cy="118872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1">
                <a:solidFill>
                  <a:srgbClr val="1C2A26"/>
                </a:solidFill>
                <a:latin typeface="Proxima Nova"/>
              </a:rPr>
              <a:t>“Find me 10 papers on my topic.”</a:t>
            </a:r>
          </a:p>
        </p:txBody>
      </p:sp>
      <p:sp>
        <p:nvSpPr>
          <p:cNvPr id="8" name="verdict"/>
          <p:cNvSpPr/>
          <p:nvPr/>
        </p:nvSpPr>
        <p:spPr>
          <a:xfrm>
            <a:off x="457200" y="2862072"/>
            <a:ext cx="4206240" cy="1645920"/>
          </a:xfrm>
          <a:prstGeom prst="roundRect">
            <a:avLst>
              <a:gd name="adj" fmla="val 10000"/>
            </a:avLst>
          </a:prstGeom>
          <a:solidFill>
            <a:srgbClr val="FBAE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con-exclamationtriangle" descr="exclamationtriangl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27832"/>
            <a:ext cx="914400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83080" y="2999232"/>
            <a:ext cx="2743200" cy="13716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3400" b="1" i="0">
                <a:solidFill>
                  <a:srgbClr val="1C2A26"/>
                </a:solidFill>
                <a:latin typeface="Proxima Nova"/>
              </a:rPr>
              <a:t>CAREFUL</a:t>
            </a:r>
          </a:p>
        </p:txBody>
      </p:sp>
      <p:sp>
        <p:nvSpPr>
          <p:cNvPr id="11" name="point-1"/>
          <p:cNvSpPr/>
          <p:nvPr/>
        </p:nvSpPr>
        <p:spPr>
          <a:xfrm>
            <a:off x="4937760" y="98755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DD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47488" y="1188720"/>
            <a:ext cx="402336" cy="402336"/>
          </a:xfrm>
          <a:prstGeom prst="ellipse">
            <a:avLst/>
          </a:prstGeom>
          <a:solidFill>
            <a:srgbClr val="FBAE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987552"/>
            <a:ext cx="310896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AI can invent plausible references</a:t>
            </a:r>
          </a:p>
        </p:txBody>
      </p:sp>
      <p:sp>
        <p:nvSpPr>
          <p:cNvPr id="14" name="point-2"/>
          <p:cNvSpPr/>
          <p:nvPr/>
        </p:nvSpPr>
        <p:spPr>
          <a:xfrm>
            <a:off x="4937760" y="190195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DD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047488" y="2103120"/>
            <a:ext cx="402336" cy="402336"/>
          </a:xfrm>
          <a:prstGeom prst="ellipse">
            <a:avLst/>
          </a:prstGeom>
          <a:solidFill>
            <a:srgbClr val="FBAE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901952"/>
            <a:ext cx="310896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Use it for keywords and ideas</a:t>
            </a:r>
          </a:p>
        </p:txBody>
      </p:sp>
      <p:sp>
        <p:nvSpPr>
          <p:cNvPr id="17" name="point-3"/>
          <p:cNvSpPr/>
          <p:nvPr/>
        </p:nvSpPr>
        <p:spPr>
          <a:xfrm>
            <a:off x="4937760" y="281635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DD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47488" y="3017520"/>
            <a:ext cx="402336" cy="402336"/>
          </a:xfrm>
          <a:prstGeom prst="ellipse">
            <a:avLst/>
          </a:prstGeom>
          <a:solidFill>
            <a:srgbClr val="FBAE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816352"/>
            <a:ext cx="310896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Verify every paper yourself</a:t>
            </a:r>
          </a:p>
        </p:txBody>
      </p:sp>
      <p:sp>
        <p:nvSpPr>
          <p:cNvPr id="20" name="point-4"/>
          <p:cNvSpPr/>
          <p:nvPr/>
        </p:nvSpPr>
        <p:spPr>
          <a:xfrm>
            <a:off x="4937760" y="373075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DD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47488" y="3931920"/>
            <a:ext cx="402336" cy="402336"/>
          </a:xfrm>
          <a:prstGeom prst="ellipse">
            <a:avLst/>
          </a:prstGeom>
          <a:solidFill>
            <a:srgbClr val="FBAE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730752"/>
            <a:ext cx="310896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Cite only what you have read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Scenario — Can AI Write My Literature Review?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179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ask"/>
          <p:cNvSpPr/>
          <p:nvPr/>
        </p:nvSpPr>
        <p:spPr>
          <a:xfrm>
            <a:off x="457200" y="987552"/>
            <a:ext cx="4206240" cy="1691640"/>
          </a:xfrm>
          <a:prstGeom prst="roundRect">
            <a:avLst>
              <a:gd name="adj" fmla="val 1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con-comments" descr="comments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24712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1463040"/>
            <a:ext cx="3931920" cy="118872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1">
                <a:solidFill>
                  <a:srgbClr val="1C2A26"/>
                </a:solidFill>
                <a:latin typeface="Proxima Nova"/>
              </a:rPr>
              <a:t>“Write my literature review.”</a:t>
            </a:r>
          </a:p>
        </p:txBody>
      </p:sp>
      <p:sp>
        <p:nvSpPr>
          <p:cNvPr id="8" name="verdict"/>
          <p:cNvSpPr/>
          <p:nvPr/>
        </p:nvSpPr>
        <p:spPr>
          <a:xfrm>
            <a:off x="457200" y="2862072"/>
            <a:ext cx="4206240" cy="1645920"/>
          </a:xfrm>
          <a:prstGeom prst="roundRect">
            <a:avLst>
              <a:gd name="adj" fmla="val 1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con-times" descr="tim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27832"/>
            <a:ext cx="914400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83080" y="2999232"/>
            <a:ext cx="2743200" cy="13716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Proxima Nova"/>
              </a:rPr>
              <a:t>NO</a:t>
            </a:r>
          </a:p>
        </p:txBody>
      </p:sp>
      <p:sp>
        <p:nvSpPr>
          <p:cNvPr id="11" name="point-1"/>
          <p:cNvSpPr/>
          <p:nvPr/>
        </p:nvSpPr>
        <p:spPr>
          <a:xfrm>
            <a:off x="4937760" y="98755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DD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47488" y="118872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987552"/>
            <a:ext cx="310896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Selection and interpretation are YOURS</a:t>
            </a:r>
          </a:p>
        </p:txBody>
      </p:sp>
      <p:sp>
        <p:nvSpPr>
          <p:cNvPr id="14" name="point-2"/>
          <p:cNvSpPr/>
          <p:nvPr/>
        </p:nvSpPr>
        <p:spPr>
          <a:xfrm>
            <a:off x="4937760" y="190195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DD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047488" y="210312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901952"/>
            <a:ext cx="310896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You answer for every claim</a:t>
            </a:r>
          </a:p>
        </p:txBody>
      </p:sp>
      <p:sp>
        <p:nvSpPr>
          <p:cNvPr id="17" name="point-3"/>
          <p:cNvSpPr/>
          <p:nvPr/>
        </p:nvSpPr>
        <p:spPr>
          <a:xfrm>
            <a:off x="4937760" y="281635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DD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47488" y="301752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816352"/>
            <a:ext cx="310896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Use AI to outline or polish language</a:t>
            </a:r>
          </a:p>
        </p:txBody>
      </p:sp>
      <p:sp>
        <p:nvSpPr>
          <p:cNvPr id="20" name="point-4"/>
          <p:cNvSpPr/>
          <p:nvPr/>
        </p:nvSpPr>
        <p:spPr>
          <a:xfrm>
            <a:off x="4937760" y="373075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DD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47488" y="393192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730752"/>
            <a:ext cx="310896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Verify every citation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Scenario — Can AI Analyze My Research Data?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180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ask"/>
          <p:cNvSpPr/>
          <p:nvPr/>
        </p:nvSpPr>
        <p:spPr>
          <a:xfrm>
            <a:off x="457200" y="987552"/>
            <a:ext cx="4206240" cy="1691640"/>
          </a:xfrm>
          <a:prstGeom prst="roundRect">
            <a:avLst>
              <a:gd name="adj" fmla="val 1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con-comments" descr="comments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24712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1463040"/>
            <a:ext cx="3931920" cy="118872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1">
                <a:solidFill>
                  <a:srgbClr val="1C2A26"/>
                </a:solidFill>
                <a:latin typeface="Proxima Nova"/>
              </a:rPr>
              <a:t>“Analyze my data and give me the findings.”</a:t>
            </a:r>
          </a:p>
        </p:txBody>
      </p:sp>
      <p:sp>
        <p:nvSpPr>
          <p:cNvPr id="8" name="verdict"/>
          <p:cNvSpPr/>
          <p:nvPr/>
        </p:nvSpPr>
        <p:spPr>
          <a:xfrm>
            <a:off x="457200" y="2862072"/>
            <a:ext cx="4206240" cy="1645920"/>
          </a:xfrm>
          <a:prstGeom prst="roundRect">
            <a:avLst>
              <a:gd name="adj" fmla="val 10000"/>
            </a:avLst>
          </a:prstGeom>
          <a:solidFill>
            <a:srgbClr val="FBAE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con-exclamationtriangle" descr="exclamationtriangl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27832"/>
            <a:ext cx="914400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83080" y="2999232"/>
            <a:ext cx="2743200" cy="13716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3400" b="1" i="0">
                <a:solidFill>
                  <a:srgbClr val="1C2A26"/>
                </a:solidFill>
                <a:latin typeface="Proxima Nova"/>
              </a:rPr>
              <a:t>CAREFUL</a:t>
            </a:r>
          </a:p>
        </p:txBody>
      </p:sp>
      <p:sp>
        <p:nvSpPr>
          <p:cNvPr id="11" name="point-1"/>
          <p:cNvSpPr/>
          <p:nvPr/>
        </p:nvSpPr>
        <p:spPr>
          <a:xfrm>
            <a:off x="4937760" y="98755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DD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47488" y="1188720"/>
            <a:ext cx="402336" cy="402336"/>
          </a:xfrm>
          <a:prstGeom prst="ellipse">
            <a:avLst/>
          </a:prstGeom>
          <a:solidFill>
            <a:srgbClr val="FBAE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987552"/>
            <a:ext cx="310896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Great for analysis code and charts</a:t>
            </a:r>
          </a:p>
        </p:txBody>
      </p:sp>
      <p:sp>
        <p:nvSpPr>
          <p:cNvPr id="14" name="point-2"/>
          <p:cNvSpPr/>
          <p:nvPr/>
        </p:nvSpPr>
        <p:spPr>
          <a:xfrm>
            <a:off x="4937760" y="190195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DD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047488" y="2103120"/>
            <a:ext cx="402336" cy="402336"/>
          </a:xfrm>
          <a:prstGeom prst="ellipse">
            <a:avLst/>
          </a:prstGeom>
          <a:solidFill>
            <a:srgbClr val="FBAE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901952"/>
            <a:ext cx="310896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Great for explaining statistics</a:t>
            </a:r>
          </a:p>
        </p:txBody>
      </p:sp>
      <p:sp>
        <p:nvSpPr>
          <p:cNvPr id="17" name="point-3"/>
          <p:cNvSpPr/>
          <p:nvPr/>
        </p:nvSpPr>
        <p:spPr>
          <a:xfrm>
            <a:off x="4937760" y="281635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DD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47488" y="3017520"/>
            <a:ext cx="402336" cy="402336"/>
          </a:xfrm>
          <a:prstGeom prst="ellipse">
            <a:avLst/>
          </a:prstGeom>
          <a:solidFill>
            <a:srgbClr val="FBAE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816352"/>
            <a:ext cx="310896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Never accept results blindly</a:t>
            </a:r>
          </a:p>
        </p:txBody>
      </p:sp>
      <p:sp>
        <p:nvSpPr>
          <p:cNvPr id="20" name="point-4"/>
          <p:cNvSpPr/>
          <p:nvPr/>
        </p:nvSpPr>
        <p:spPr>
          <a:xfrm>
            <a:off x="4937760" y="373075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DD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47488" y="3931920"/>
            <a:ext cx="402336" cy="402336"/>
          </a:xfrm>
          <a:prstGeom prst="ellipse">
            <a:avLst/>
          </a:prstGeom>
          <a:solidFill>
            <a:srgbClr val="FBAE4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730752"/>
            <a:ext cx="310896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You check method and interpretation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Scenario — Can AI Generate My Research Data?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181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ask"/>
          <p:cNvSpPr/>
          <p:nvPr/>
        </p:nvSpPr>
        <p:spPr>
          <a:xfrm>
            <a:off x="457200" y="987552"/>
            <a:ext cx="4206240" cy="1691640"/>
          </a:xfrm>
          <a:prstGeom prst="roundRect">
            <a:avLst>
              <a:gd name="adj" fmla="val 1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con-comments" descr="comments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24712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1463040"/>
            <a:ext cx="3931920" cy="118872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1">
                <a:solidFill>
                  <a:srgbClr val="1C2A26"/>
                </a:solidFill>
                <a:latin typeface="Proxima Nova"/>
              </a:rPr>
              <a:t>“Generate results showing Model A wins.”</a:t>
            </a:r>
          </a:p>
        </p:txBody>
      </p:sp>
      <p:sp>
        <p:nvSpPr>
          <p:cNvPr id="8" name="verdict"/>
          <p:cNvSpPr/>
          <p:nvPr/>
        </p:nvSpPr>
        <p:spPr>
          <a:xfrm>
            <a:off x="457200" y="2862072"/>
            <a:ext cx="4206240" cy="1645920"/>
          </a:xfrm>
          <a:prstGeom prst="roundRect">
            <a:avLst>
              <a:gd name="adj" fmla="val 1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con-times" descr="tim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27832"/>
            <a:ext cx="914400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83080" y="2999232"/>
            <a:ext cx="2743200" cy="13716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Proxima Nova"/>
              </a:rPr>
              <a:t>NO</a:t>
            </a:r>
          </a:p>
        </p:txBody>
      </p:sp>
      <p:sp>
        <p:nvSpPr>
          <p:cNvPr id="11" name="point-1"/>
          <p:cNvSpPr/>
          <p:nvPr/>
        </p:nvSpPr>
        <p:spPr>
          <a:xfrm>
            <a:off x="4937760" y="98755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DD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47488" y="118872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987552"/>
            <a:ext cx="310896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Fake results are fabrication</a:t>
            </a:r>
          </a:p>
        </p:txBody>
      </p:sp>
      <p:sp>
        <p:nvSpPr>
          <p:cNvPr id="14" name="point-2"/>
          <p:cNvSpPr/>
          <p:nvPr/>
        </p:nvSpPr>
        <p:spPr>
          <a:xfrm>
            <a:off x="4937760" y="190195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DD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047488" y="210312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901952"/>
            <a:ext cx="310896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It crosses a research-integrity line</a:t>
            </a:r>
          </a:p>
        </p:txBody>
      </p:sp>
      <p:sp>
        <p:nvSpPr>
          <p:cNvPr id="17" name="point-3"/>
          <p:cNvSpPr/>
          <p:nvPr/>
        </p:nvSpPr>
        <p:spPr>
          <a:xfrm>
            <a:off x="4937760" y="281635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DD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47488" y="301752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816352"/>
            <a:ext cx="310896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Real evidence only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Scenario — Can AI Be an Author?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182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ask"/>
          <p:cNvSpPr/>
          <p:nvPr/>
        </p:nvSpPr>
        <p:spPr>
          <a:xfrm>
            <a:off x="457200" y="987552"/>
            <a:ext cx="4206240" cy="1691640"/>
          </a:xfrm>
          <a:prstGeom prst="roundRect">
            <a:avLst>
              <a:gd name="adj" fmla="val 1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con-comments" descr="comments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24712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1463040"/>
            <a:ext cx="3931920" cy="118872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1">
                <a:solidFill>
                  <a:srgbClr val="1C2A26"/>
                </a:solidFill>
                <a:latin typeface="Proxima Nova"/>
              </a:rPr>
              <a:t>“Can I list ChatGPT as a co-author?”</a:t>
            </a:r>
          </a:p>
        </p:txBody>
      </p:sp>
      <p:sp>
        <p:nvSpPr>
          <p:cNvPr id="8" name="verdict"/>
          <p:cNvSpPr/>
          <p:nvPr/>
        </p:nvSpPr>
        <p:spPr>
          <a:xfrm>
            <a:off x="457200" y="2862072"/>
            <a:ext cx="4206240" cy="1645920"/>
          </a:xfrm>
          <a:prstGeom prst="roundRect">
            <a:avLst>
              <a:gd name="adj" fmla="val 1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con-times" descr="tim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27832"/>
            <a:ext cx="914400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83080" y="2999232"/>
            <a:ext cx="2743200" cy="13716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Proxima Nova"/>
              </a:rPr>
              <a:t>NO</a:t>
            </a:r>
          </a:p>
        </p:txBody>
      </p:sp>
      <p:sp>
        <p:nvSpPr>
          <p:cNvPr id="11" name="point-1"/>
          <p:cNvSpPr/>
          <p:nvPr/>
        </p:nvSpPr>
        <p:spPr>
          <a:xfrm>
            <a:off x="4937760" y="98755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DD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47488" y="118872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987552"/>
            <a:ext cx="310896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Authorship means responsibility</a:t>
            </a:r>
          </a:p>
        </p:txBody>
      </p:sp>
      <p:sp>
        <p:nvSpPr>
          <p:cNvPr id="14" name="point-2"/>
          <p:cNvSpPr/>
          <p:nvPr/>
        </p:nvSpPr>
        <p:spPr>
          <a:xfrm>
            <a:off x="4937760" y="190195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DD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047488" y="210312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901952"/>
            <a:ext cx="310896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AI cannot approve the manuscript</a:t>
            </a:r>
          </a:p>
        </p:txBody>
      </p:sp>
      <p:sp>
        <p:nvSpPr>
          <p:cNvPr id="17" name="point-3"/>
          <p:cNvSpPr/>
          <p:nvPr/>
        </p:nvSpPr>
        <p:spPr>
          <a:xfrm>
            <a:off x="4937760" y="281635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DD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47488" y="301752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816352"/>
            <a:ext cx="310896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AI cannot answer for accuracy</a:t>
            </a:r>
          </a:p>
        </p:txBody>
      </p:sp>
      <p:sp>
        <p:nvSpPr>
          <p:cNvPr id="20" name="point-4"/>
          <p:cNvSpPr/>
          <p:nvPr/>
        </p:nvSpPr>
        <p:spPr>
          <a:xfrm>
            <a:off x="4937760" y="3730752"/>
            <a:ext cx="3749039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DD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47488" y="3931920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730752"/>
            <a:ext cx="3108960" cy="80467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Disclose the AI use instead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AI Disclosure — Transparency Builds Trust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183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language" descr="languag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1639884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171700"/>
            <a:ext cx="1650492" cy="4810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1C2A26"/>
                </a:solidFill>
                <a:latin typeface="Proxima Nova"/>
              </a:rPr>
              <a:t>Language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671064"/>
            <a:ext cx="1650492" cy="84480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May be treated differently</a:t>
            </a:r>
          </a:p>
        </p:txBody>
      </p:sp>
      <p:sp>
        <p:nvSpPr>
          <p:cNvPr id="10" name="card-2"/>
          <p:cNvSpPr/>
          <p:nvPr/>
        </p:nvSpPr>
        <p:spPr>
          <a:xfrm>
            <a:off x="2564892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747772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-code" descr="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612" y="1639884"/>
            <a:ext cx="313822" cy="3138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92908" y="2171700"/>
            <a:ext cx="1650492" cy="4810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1C2A26"/>
                </a:solidFill>
                <a:latin typeface="Proxima Nova"/>
              </a:rPr>
              <a:t>Coding and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2908" y="2671064"/>
            <a:ext cx="1650492" cy="84480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Describe in the methods</a:t>
            </a:r>
          </a:p>
        </p:txBody>
      </p:sp>
      <p:sp>
        <p:nvSpPr>
          <p:cNvPr id="15" name="card-3"/>
          <p:cNvSpPr/>
          <p:nvPr/>
        </p:nvSpPr>
        <p:spPr>
          <a:xfrm>
            <a:off x="4672584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55464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filealt" descr="filea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04" y="1639884"/>
            <a:ext cx="313822" cy="31382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00600" y="2171700"/>
            <a:ext cx="1650492" cy="4810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1C2A26"/>
                </a:solidFill>
                <a:latin typeface="Proxima Nova"/>
              </a:rPr>
              <a:t>Manuscript preparation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671064"/>
            <a:ext cx="1650492" cy="84480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May need a declaration</a:t>
            </a:r>
          </a:p>
        </p:txBody>
      </p:sp>
      <p:sp>
        <p:nvSpPr>
          <p:cNvPr id="20" name="card-4"/>
          <p:cNvSpPr/>
          <p:nvPr/>
        </p:nvSpPr>
        <p:spPr>
          <a:xfrm>
            <a:off x="6780276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963156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ban" descr="ba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996" y="1639884"/>
            <a:ext cx="313822" cy="31382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08292" y="2171700"/>
            <a:ext cx="1650492" cy="2588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400" b="1" i="0">
                <a:solidFill>
                  <a:srgbClr val="1C2A26"/>
                </a:solidFill>
                <a:latin typeface="Proxima Nova"/>
              </a:rPr>
              <a:t>Some uses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8292" y="2448814"/>
            <a:ext cx="1650492" cy="106705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Prohibited by some journals</a:t>
            </a:r>
          </a:p>
        </p:txBody>
      </p:sp>
      <p:sp>
        <p:nvSpPr>
          <p:cNvPr id="25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con-search" descr="sear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Check the target journal’s CURRENT policy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Never Upload Confidential Research Without Thinking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184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users" descr="user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1639884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171700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Participant information</a:t>
            </a:r>
          </a:p>
        </p:txBody>
      </p:sp>
      <p:sp>
        <p:nvSpPr>
          <p:cNvPr id="9" name="card-2"/>
          <p:cNvSpPr/>
          <p:nvPr/>
        </p:nvSpPr>
        <p:spPr>
          <a:xfrm>
            <a:off x="2564892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747772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building" descr="build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612" y="1639884"/>
            <a:ext cx="313822" cy="31382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92908" y="2171700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Proprietary company data</a:t>
            </a:r>
          </a:p>
        </p:txBody>
      </p:sp>
      <p:sp>
        <p:nvSpPr>
          <p:cNvPr id="13" name="card-3"/>
          <p:cNvSpPr/>
          <p:nvPr/>
        </p:nvSpPr>
        <p:spPr>
          <a:xfrm>
            <a:off x="4672584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55464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lock" descr="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04" y="1639884"/>
            <a:ext cx="313822" cy="31382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00600" y="2171700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Unpublished results</a:t>
            </a:r>
          </a:p>
        </p:txBody>
      </p:sp>
      <p:sp>
        <p:nvSpPr>
          <p:cNvPr id="17" name="card-4"/>
          <p:cNvSpPr/>
          <p:nvPr/>
        </p:nvSpPr>
        <p:spPr>
          <a:xfrm>
            <a:off x="6780276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63156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key" descr="k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996" y="1639884"/>
            <a:ext cx="313822" cy="31382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08292" y="2171700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Intellectual property</a:t>
            </a:r>
          </a:p>
        </p:txBody>
      </p:sp>
      <p:sp>
        <p:nvSpPr>
          <p:cNvPr id="21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exclamationtriangle" descr="exclamationtriang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oxima Nova"/>
              </a:rPr>
              <a:t>Public AI tools can create privacy, confidentiality and IP risks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The Human-in-the-Loop Researcher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185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AI generates or assists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Researcher verifies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Evidence decides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Proxima Nova"/>
              </a:rPr>
              <a:t>Researcher takes responsibility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Cannot verify a reference? Then you cannot use the claim as evidence.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14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186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AI writes a paragraph with five references, and you can verify only three. What should you do?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Keep all five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Do not use the unverified claims as evidence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Ask the AI to confirm itself</a:t>
            </a:r>
          </a:p>
        </p:txBody>
      </p:sp>
      <p:sp>
        <p:nvSpPr>
          <p:cNvPr id="15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Cite only the first author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3708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FFE3E5"/>
                </a:solidFill>
                <a:latin typeface="Proxima Nova"/>
              </a:rPr>
              <a:t>Type your answer in the chat — A, B, C or D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14 — Answer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187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AI writes a paragraph with five references, and you can verify only three. What should you do?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Keep all five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5333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oxima Nova"/>
              </a:rPr>
              <a:t>Do not use the unverified claims as evidence</a:t>
            </a:r>
          </a:p>
        </p:txBody>
      </p:sp>
      <p:pic>
        <p:nvPicPr>
          <p:cNvPr id="12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2487168"/>
            <a:ext cx="329184" cy="329184"/>
          </a:xfrm>
          <a:prstGeom prst="rect">
            <a:avLst/>
          </a:prstGeom>
        </p:spPr>
      </p:pic>
      <p:sp>
        <p:nvSpPr>
          <p:cNvPr id="13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Ask the AI to confirm itself</a:t>
            </a:r>
          </a:p>
        </p:txBody>
      </p:sp>
      <p:sp>
        <p:nvSpPr>
          <p:cNvPr id="16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Cite only the first author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431596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E3E5"/>
                </a:solidFill>
                <a:latin typeface="Proxima Nova"/>
              </a:rPr>
              <a:t>Why? </a:t>
            </a:r>
            <a:r>
              <a:rPr sz="1500" b="0" i="0">
                <a:solidFill>
                  <a:srgbClr val="FFFFFF"/>
                </a:solidFill>
                <a:latin typeface="Proxima Nova"/>
              </a:rPr>
              <a:t>If you cannot verify the evidence, you cannot use the claim as established evidence.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1783080"/>
            <a:ext cx="7680960" cy="2011680"/>
          </a:xfrm>
        </p:spPr>
        <p:txBody>
          <a:bodyPr wrap="square" lIns="0" tIns="0" rIns="0" bIns="0" anchor="t"/>
          <a:lstStyle/>
          <a:p>
            <a:pPr algn="l"/>
            <a:r>
              <a:rPr sz="3100" b="1" i="0">
                <a:solidFill>
                  <a:srgbClr val="FFFFFF"/>
                </a:solidFill>
                <a:latin typeface="Proxima Nova"/>
              </a:rPr>
              <a:t>From Research Idea to Research Plan: An Integrated AI Research Case Study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188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inutes-chip"/>
          <p:cNvSpPr/>
          <p:nvPr/>
        </p:nvSpPr>
        <p:spPr>
          <a:xfrm>
            <a:off x="630936" y="118872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endParaRPr sz="1500" b="1" i="0" dirty="0">
              <a:solidFill>
                <a:srgbClr val="1C2A26"/>
              </a:solidFill>
              <a:latin typeface="Proxima Nov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093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272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362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8541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9631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0720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1810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9000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3989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50791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6168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72583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83480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9437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05272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1616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Let's Build a Research Study From Scratch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189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987552"/>
            <a:ext cx="5120640" cy="356615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5120640" cy="19202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3000" b="1" i="0">
                <a:solidFill>
                  <a:srgbClr val="1C2A26"/>
                </a:solidFill>
                <a:latin typeface="Proxima Nova"/>
              </a:rPr>
              <a:t>A university wants </a:t>
            </a:r>
            <a:r>
              <a:rPr sz="3000" b="1" i="0">
                <a:solidFill>
                  <a:srgbClr val="F5333F"/>
                </a:solidFill>
                <a:latin typeface="Proxima Nova"/>
              </a:rPr>
              <a:t>Generative AI</a:t>
            </a:r>
            <a:r>
              <a:rPr sz="3000" b="1" i="0">
                <a:solidFill>
                  <a:srgbClr val="1C2A26"/>
                </a:solidFill>
                <a:latin typeface="Proxima Nova"/>
              </a:rPr>
              <a:t> to support postgraduate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82112"/>
            <a:ext cx="5120640" cy="10972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800" b="0" i="0">
                <a:solidFill>
                  <a:srgbClr val="5C6A64"/>
                </a:solidFill>
                <a:latin typeface="Proxima Nova"/>
              </a:rPr>
              <a:t>Let’s build the research study together, step by step</a:t>
            </a:r>
          </a:p>
        </p:txBody>
      </p:sp>
      <p:sp>
        <p:nvSpPr>
          <p:cNvPr id="8" name="Oval 7"/>
          <p:cNvSpPr/>
          <p:nvPr/>
        </p:nvSpPr>
        <p:spPr>
          <a:xfrm>
            <a:off x="5806440" y="1124712"/>
            <a:ext cx="2834640" cy="2834640"/>
          </a:xfrm>
          <a:prstGeom prst="ellipse">
            <a:avLst/>
          </a:prstGeom>
          <a:solidFill>
            <a:srgbClr val="FDECE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217920" y="1536192"/>
            <a:ext cx="2011680" cy="201168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-university" descr="university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47672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Step 1 — Identify the Real Research Problem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190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17627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Hundreds of students per lecturer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67004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217627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Limited one-to-one support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67004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217627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Delayed, generic feedback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67004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217627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Proxima Nova"/>
              </a:rPr>
              <a:t>Practical problem ≠ research problem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204825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Step 2 — Turn the Problem Into a Research Gap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191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344167"/>
            <a:ext cx="40005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344167"/>
            <a:ext cx="40005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Existing studies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5457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book" descr="boo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44967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057400"/>
            <a:ext cx="32506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Chatbots, tutoring, personalization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1469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book" descr="boo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40979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3017520"/>
            <a:ext cx="32506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Mostly measure whether students LIKE AI</a:t>
            </a:r>
          </a:p>
        </p:txBody>
      </p:sp>
      <p:sp>
        <p:nvSpPr>
          <p:cNvPr id="13" name="panel-2"/>
          <p:cNvSpPr/>
          <p:nvPr/>
        </p:nvSpPr>
        <p:spPr>
          <a:xfrm>
            <a:off x="4686300" y="1344167"/>
            <a:ext cx="40005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686300" y="1344167"/>
            <a:ext cx="40005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The gap</a:t>
            </a:r>
          </a:p>
        </p:txBody>
      </p:sp>
      <p:sp>
        <p:nvSpPr>
          <p:cNvPr id="15" name="Oval 14"/>
          <p:cNvSpPr/>
          <p:nvPr/>
        </p:nvSpPr>
        <p:spPr>
          <a:xfrm>
            <a:off x="4869180" y="235457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bullseye" descr="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277" y="244967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4668" y="2057400"/>
            <a:ext cx="32506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0" i="0">
                <a:solidFill>
                  <a:srgbClr val="1C2A26"/>
                </a:solidFill>
                <a:latin typeface="Proxima Nova"/>
              </a:rPr>
              <a:t>Insufficient evidence on actual learning outcomes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Step 3 — Formulate the Research Question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192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tag"/>
          <p:cNvSpPr/>
          <p:nvPr/>
        </p:nvSpPr>
        <p:spPr>
          <a:xfrm>
            <a:off x="457200" y="987552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Proxima Nova"/>
              </a:rPr>
              <a:t>RESEARCH QUESTION</a:t>
            </a:r>
          </a:p>
        </p:txBody>
      </p:sp>
      <p:sp>
        <p:nvSpPr>
          <p:cNvPr id="6" name="example-box"/>
          <p:cNvSpPr/>
          <p:nvPr/>
        </p:nvSpPr>
        <p:spPr>
          <a:xfrm>
            <a:off x="457200" y="1463040"/>
            <a:ext cx="8229600" cy="201168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7680960" cy="1874519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200" b="1" i="0">
                <a:solidFill>
                  <a:srgbClr val="1C2A26"/>
                </a:solidFill>
                <a:latin typeface="Proxima Nova"/>
              </a:rPr>
              <a:t>“Does structured Generative AI support improve postgraduate students’ learning outcomes compared with conventional academic support?”</a:t>
            </a:r>
          </a:p>
        </p:txBody>
      </p:sp>
      <p:sp>
        <p:nvSpPr>
          <p:cNvPr id="8" name="takeaway"/>
          <p:cNvSpPr/>
          <p:nvPr/>
        </p:nvSpPr>
        <p:spPr>
          <a:xfrm>
            <a:off x="457200" y="3639312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Proxima Nova"/>
              </a:rPr>
              <a:t>Intervention • Population • Comparison • Outcome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Step 4 — Convert Questions Into Objectives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193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1330451"/>
            <a:ext cx="2609088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equals" descr="equal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1639884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171700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Compare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96439"/>
            <a:ext cx="2353056" cy="101942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200" b="0" i="0">
                <a:solidFill>
                  <a:srgbClr val="5C6A64"/>
                </a:solidFill>
                <a:latin typeface="Proxima Nova"/>
              </a:rPr>
              <a:t>Structured GenAI vs. conventional support</a:t>
            </a:r>
          </a:p>
        </p:txBody>
      </p:sp>
      <p:sp>
        <p:nvSpPr>
          <p:cNvPr id="10" name="card-2"/>
          <p:cNvSpPr/>
          <p:nvPr/>
        </p:nvSpPr>
        <p:spPr>
          <a:xfrm>
            <a:off x="3267456" y="1330451"/>
            <a:ext cx="2609088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50336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-comments" descr="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176" y="1639884"/>
            <a:ext cx="313822" cy="3138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95472" y="2171700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Examine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5472" y="2496439"/>
            <a:ext cx="2353056" cy="101942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200" b="0" i="0">
                <a:solidFill>
                  <a:srgbClr val="5C6A64"/>
                </a:solidFill>
                <a:latin typeface="Proxima Nova"/>
              </a:rPr>
              <a:t>Usefulness, limitations and challenges</a:t>
            </a:r>
          </a:p>
        </p:txBody>
      </p:sp>
      <p:sp>
        <p:nvSpPr>
          <p:cNvPr id="15" name="card-3"/>
          <p:cNvSpPr/>
          <p:nvPr/>
        </p:nvSpPr>
        <p:spPr>
          <a:xfrm>
            <a:off x="6077712" y="1330451"/>
            <a:ext cx="2609088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60592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search" descr="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432" y="1639884"/>
            <a:ext cx="313822" cy="31382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05728" y="2171700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Identify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5728" y="2496439"/>
            <a:ext cx="2353056" cy="101942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200" b="0" i="0">
                <a:solidFill>
                  <a:srgbClr val="5C6A64"/>
                </a:solidFill>
                <a:latin typeface="Proxima Nova"/>
              </a:rPr>
              <a:t>Conditions where AI helps without reducing independent understanding</a:t>
            </a:r>
          </a:p>
        </p:txBody>
      </p:sp>
      <p:sp>
        <p:nvSpPr>
          <p:cNvPr id="20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icon-balancescale" descr="balancesca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roxima Nova"/>
              </a:rPr>
              <a:t>Neutral verbs. Never “To prove that AI is better”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Step 5 — Identify the Variables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194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Independent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slidersh" descr="slidersh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06105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Group A: structured GenAI support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slidersh" descr="slidersh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92973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258318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Group B: conventional support</a:t>
            </a:r>
          </a:p>
        </p:txBody>
      </p:sp>
      <p:sp>
        <p:nvSpPr>
          <p:cNvPr id="13" name="panel-2"/>
          <p:cNvSpPr/>
          <p:nvPr/>
        </p:nvSpPr>
        <p:spPr>
          <a:xfrm>
            <a:off x="4800600" y="1001268"/>
            <a:ext cx="3886200" cy="3538727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800600" y="1001268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Dependent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196596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chartline" descr="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06105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171450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Learning outcome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283464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chartline" descr="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92973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258318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Pre-test and post-test</a:t>
            </a:r>
          </a:p>
        </p:txBody>
      </p:sp>
      <p:sp>
        <p:nvSpPr>
          <p:cNvPr id="21" name="Oval 20"/>
          <p:cNvSpPr/>
          <p:nvPr/>
        </p:nvSpPr>
        <p:spPr>
          <a:xfrm>
            <a:off x="4983480" y="370332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chartline" descr="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798417"/>
            <a:ext cx="175564" cy="1755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58968" y="3451860"/>
            <a:ext cx="3136392" cy="832103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800" b="0" i="0">
                <a:solidFill>
                  <a:srgbClr val="1C2A26"/>
                </a:solidFill>
                <a:latin typeface="Proxima Nova"/>
              </a:rPr>
              <a:t>Standardized assessment</a:t>
            </a:r>
          </a:p>
        </p:txBody>
      </p:sp>
      <p:sp>
        <p:nvSpPr>
          <p:cNvPr id="24" name="Oval 23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Step 6 — Choose the Research Design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195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17627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Group A: AI support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67004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217627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Group B: conventional support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67004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217627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Same material, time, assessments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67004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217627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Compare outcomes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204825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Step 7 — Design the Data Collection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196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clipboardcheck" descr="clipboard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1639884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171700"/>
            <a:ext cx="1650492" cy="2429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Test scores</a:t>
            </a:r>
          </a:p>
        </p:txBody>
      </p:sp>
      <p:sp>
        <p:nvSpPr>
          <p:cNvPr id="9" name="card-2"/>
          <p:cNvSpPr/>
          <p:nvPr/>
        </p:nvSpPr>
        <p:spPr>
          <a:xfrm>
            <a:off x="2564892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747772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code" descr="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612" y="1639884"/>
            <a:ext cx="313822" cy="31382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92908" y="2171700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AI usage logs</a:t>
            </a:r>
          </a:p>
        </p:txBody>
      </p:sp>
      <p:sp>
        <p:nvSpPr>
          <p:cNvPr id="13" name="card-3"/>
          <p:cNvSpPr/>
          <p:nvPr/>
        </p:nvSpPr>
        <p:spPr>
          <a:xfrm>
            <a:off x="4672584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55464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-comments" descr="comment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04" y="1639884"/>
            <a:ext cx="313822" cy="31382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00600" y="2171700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Student feedback</a:t>
            </a:r>
          </a:p>
        </p:txBody>
      </p:sp>
      <p:sp>
        <p:nvSpPr>
          <p:cNvPr id="17" name="card-4"/>
          <p:cNvSpPr/>
          <p:nvPr/>
        </p:nvSpPr>
        <p:spPr>
          <a:xfrm>
            <a:off x="6780276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63156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microphone" descr="micropho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996" y="1639884"/>
            <a:ext cx="313822" cy="31382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08292" y="2171700"/>
            <a:ext cx="1650492" cy="449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Semi-structured interviews</a:t>
            </a:r>
          </a:p>
        </p:txBody>
      </p:sp>
      <p:sp>
        <p:nvSpPr>
          <p:cNvPr id="21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bullseye" descr="bulls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oxima Nova"/>
              </a:rPr>
              <a:t>More data is not better research. Every source needs a purpose.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Step 8 — Decide How We Will Evaluate the Evidence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197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item-1"/>
          <p:cNvSpPr/>
          <p:nvPr/>
        </p:nvSpPr>
        <p:spPr>
          <a:xfrm>
            <a:off x="457200" y="1389887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5216" y="1600199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389887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Statistically meaningful?</a:t>
            </a:r>
          </a:p>
        </p:txBody>
      </p:sp>
      <p:sp>
        <p:nvSpPr>
          <p:cNvPr id="8" name="item-2"/>
          <p:cNvSpPr/>
          <p:nvPr/>
        </p:nvSpPr>
        <p:spPr>
          <a:xfrm>
            <a:off x="457200" y="2359152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85216" y="2569464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59152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How large was the difference?</a:t>
            </a:r>
          </a:p>
        </p:txBody>
      </p:sp>
      <p:sp>
        <p:nvSpPr>
          <p:cNvPr id="11" name="item-3"/>
          <p:cNvSpPr/>
          <p:nvPr/>
        </p:nvSpPr>
        <p:spPr>
          <a:xfrm>
            <a:off x="457200" y="3328415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5216" y="3538727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328415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Educationally meaningful?</a:t>
            </a:r>
          </a:p>
        </p:txBody>
      </p:sp>
      <p:sp>
        <p:nvSpPr>
          <p:cNvPr id="14" name="item-4"/>
          <p:cNvSpPr/>
          <p:nvPr/>
        </p:nvSpPr>
        <p:spPr>
          <a:xfrm>
            <a:off x="4645152" y="1389887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773168" y="1600199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1389887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Groups comparable at the start?</a:t>
            </a:r>
          </a:p>
        </p:txBody>
      </p:sp>
      <p:sp>
        <p:nvSpPr>
          <p:cNvPr id="17" name="item-5"/>
          <p:cNvSpPr/>
          <p:nvPr/>
        </p:nvSpPr>
        <p:spPr>
          <a:xfrm>
            <a:off x="4645152" y="2359152"/>
            <a:ext cx="4041648" cy="822960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773168" y="2569464"/>
            <a:ext cx="402336" cy="402336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359152"/>
            <a:ext cx="3328415" cy="8229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Could another factor explain it?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Step 9 — What Would the Final Research Contribution Be?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198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139903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Problem</a:t>
            </a:r>
          </a:p>
        </p:txBody>
      </p:sp>
      <p:sp>
        <p:nvSpPr>
          <p:cNvPr id="6" name="Oval 5"/>
          <p:cNvSpPr/>
          <p:nvPr/>
        </p:nvSpPr>
        <p:spPr>
          <a:xfrm>
            <a:off x="1042416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80136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157984" y="139903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Gap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180136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3858768" y="139903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Research Question</a:t>
            </a:r>
          </a:p>
        </p:txBody>
      </p:sp>
      <p:sp>
        <p:nvSpPr>
          <p:cNvPr id="12" name="Oval 11"/>
          <p:cNvSpPr/>
          <p:nvPr/>
        </p:nvSpPr>
        <p:spPr>
          <a:xfrm>
            <a:off x="4443984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180136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5559552" y="139903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Objectives</a:t>
            </a:r>
          </a:p>
        </p:txBody>
      </p:sp>
      <p:sp>
        <p:nvSpPr>
          <p:cNvPr id="15" name="Oval 14"/>
          <p:cNvSpPr/>
          <p:nvPr/>
        </p:nvSpPr>
        <p:spPr>
          <a:xfrm>
            <a:off x="6144768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pic>
        <p:nvPicPr>
          <p:cNvPr id="16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801368"/>
            <a:ext cx="201168" cy="201168"/>
          </a:xfrm>
          <a:prstGeom prst="rect">
            <a:avLst/>
          </a:prstGeom>
        </p:spPr>
      </p:pic>
      <p:sp>
        <p:nvSpPr>
          <p:cNvPr id="17" name="step-5"/>
          <p:cNvSpPr/>
          <p:nvPr/>
        </p:nvSpPr>
        <p:spPr>
          <a:xfrm>
            <a:off x="7260336" y="139903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Variables</a:t>
            </a:r>
          </a:p>
        </p:txBody>
      </p:sp>
      <p:sp>
        <p:nvSpPr>
          <p:cNvPr id="18" name="Oval 17"/>
          <p:cNvSpPr/>
          <p:nvPr/>
        </p:nvSpPr>
        <p:spPr>
          <a:xfrm>
            <a:off x="7845552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step-6"/>
          <p:cNvSpPr/>
          <p:nvPr/>
        </p:nvSpPr>
        <p:spPr>
          <a:xfrm>
            <a:off x="457200" y="2862072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Design</a:t>
            </a:r>
          </a:p>
        </p:txBody>
      </p:sp>
      <p:sp>
        <p:nvSpPr>
          <p:cNvPr id="20" name="Oval 19"/>
          <p:cNvSpPr/>
          <p:nvPr/>
        </p:nvSpPr>
        <p:spPr>
          <a:xfrm>
            <a:off x="1042416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6</a:t>
            </a:r>
          </a:p>
        </p:txBody>
      </p:sp>
      <p:pic>
        <p:nvPicPr>
          <p:cNvPr id="21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3264408"/>
            <a:ext cx="201168" cy="201168"/>
          </a:xfrm>
          <a:prstGeom prst="rect">
            <a:avLst/>
          </a:prstGeom>
        </p:spPr>
      </p:pic>
      <p:sp>
        <p:nvSpPr>
          <p:cNvPr id="22" name="step-7"/>
          <p:cNvSpPr/>
          <p:nvPr/>
        </p:nvSpPr>
        <p:spPr>
          <a:xfrm>
            <a:off x="2157984" y="2862072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Data</a:t>
            </a:r>
          </a:p>
        </p:txBody>
      </p:sp>
      <p:sp>
        <p:nvSpPr>
          <p:cNvPr id="23" name="Oval 22"/>
          <p:cNvSpPr/>
          <p:nvPr/>
        </p:nvSpPr>
        <p:spPr>
          <a:xfrm>
            <a:off x="2743200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7</a:t>
            </a:r>
          </a:p>
        </p:txBody>
      </p:sp>
      <p:pic>
        <p:nvPicPr>
          <p:cNvPr id="24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3264408"/>
            <a:ext cx="201168" cy="201168"/>
          </a:xfrm>
          <a:prstGeom prst="rect">
            <a:avLst/>
          </a:prstGeom>
        </p:spPr>
      </p:pic>
      <p:sp>
        <p:nvSpPr>
          <p:cNvPr id="25" name="step-8"/>
          <p:cNvSpPr/>
          <p:nvPr/>
        </p:nvSpPr>
        <p:spPr>
          <a:xfrm>
            <a:off x="3858768" y="2862072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Analysis</a:t>
            </a:r>
          </a:p>
        </p:txBody>
      </p:sp>
      <p:sp>
        <p:nvSpPr>
          <p:cNvPr id="26" name="Oval 25"/>
          <p:cNvSpPr/>
          <p:nvPr/>
        </p:nvSpPr>
        <p:spPr>
          <a:xfrm>
            <a:off x="4443984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8</a:t>
            </a:r>
          </a:p>
        </p:txBody>
      </p:sp>
      <p:pic>
        <p:nvPicPr>
          <p:cNvPr id="2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3264408"/>
            <a:ext cx="201168" cy="201168"/>
          </a:xfrm>
          <a:prstGeom prst="rect">
            <a:avLst/>
          </a:prstGeom>
        </p:spPr>
      </p:pic>
      <p:sp>
        <p:nvSpPr>
          <p:cNvPr id="28" name="step-9"/>
          <p:cNvSpPr/>
          <p:nvPr/>
        </p:nvSpPr>
        <p:spPr>
          <a:xfrm>
            <a:off x="5559552" y="2862072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Evidence</a:t>
            </a:r>
          </a:p>
        </p:txBody>
      </p:sp>
      <p:sp>
        <p:nvSpPr>
          <p:cNvPr id="29" name="Oval 28"/>
          <p:cNvSpPr/>
          <p:nvPr/>
        </p:nvSpPr>
        <p:spPr>
          <a:xfrm>
            <a:off x="6144768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9</a:t>
            </a:r>
          </a:p>
        </p:txBody>
      </p:sp>
      <p:pic>
        <p:nvPicPr>
          <p:cNvPr id="3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3264408"/>
            <a:ext cx="201168" cy="201168"/>
          </a:xfrm>
          <a:prstGeom prst="rect">
            <a:avLst/>
          </a:prstGeom>
        </p:spPr>
      </p:pic>
      <p:sp>
        <p:nvSpPr>
          <p:cNvPr id="31" name="step-10"/>
          <p:cNvSpPr/>
          <p:nvPr/>
        </p:nvSpPr>
        <p:spPr>
          <a:xfrm>
            <a:off x="7260336" y="2862072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Proxima Nova"/>
              </a:rPr>
              <a:t>Contribution</a:t>
            </a:r>
          </a:p>
        </p:txBody>
      </p:sp>
      <p:sp>
        <p:nvSpPr>
          <p:cNvPr id="32" name="Oval 31"/>
          <p:cNvSpPr/>
          <p:nvPr/>
        </p:nvSpPr>
        <p:spPr>
          <a:xfrm>
            <a:off x="7845552" y="2734056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We never started with “Which AI model?” We started with “What do we need to know?”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15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199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In the case study, what comes first?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Choosing an AI model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Identifying the real research problem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Conducting interviews</a:t>
            </a:r>
          </a:p>
        </p:txBody>
      </p:sp>
      <p:sp>
        <p:nvSpPr>
          <p:cNvPr id="15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Writing the abstract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3708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FFE3E5"/>
                </a:solidFill>
                <a:latin typeface="Proxima Nova"/>
              </a:rPr>
              <a:t>Type your answer in the chat — A, B, C or D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15 — Answer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200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In the case study, what comes first?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Choosing an AI model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5333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oxima Nova"/>
              </a:rPr>
              <a:t>Identifying the real research problem</a:t>
            </a:r>
          </a:p>
        </p:txBody>
      </p:sp>
      <p:pic>
        <p:nvPicPr>
          <p:cNvPr id="12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2487168"/>
            <a:ext cx="329184" cy="329184"/>
          </a:xfrm>
          <a:prstGeom prst="rect">
            <a:avLst/>
          </a:prstGeom>
        </p:spPr>
      </p:pic>
      <p:sp>
        <p:nvSpPr>
          <p:cNvPr id="13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Conducting interviews</a:t>
            </a:r>
          </a:p>
        </p:txBody>
      </p:sp>
      <p:sp>
        <p:nvSpPr>
          <p:cNvPr id="16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Writing the abstract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431596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E3E5"/>
                </a:solidFill>
                <a:latin typeface="Proxima Nova"/>
              </a:rPr>
              <a:t>Why? </a:t>
            </a:r>
            <a:r>
              <a:rPr sz="1500" b="0" i="0">
                <a:solidFill>
                  <a:srgbClr val="FFFFFF"/>
                </a:solidFill>
                <a:latin typeface="Proxima Nova"/>
              </a:rPr>
              <a:t>Research-first asks “What do we need to know?” before “What can this technology do?”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1783080"/>
            <a:ext cx="7680960" cy="2011680"/>
          </a:xfrm>
        </p:spPr>
        <p:txBody>
          <a:bodyPr wrap="square" lIns="0" tIns="0" rIns="0" bIns="0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From Research Study to Research Defense: Explaining, Justifying and Communicating Your Work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201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inutes-chip"/>
          <p:cNvSpPr/>
          <p:nvPr/>
        </p:nvSpPr>
        <p:spPr>
          <a:xfrm>
            <a:off x="630936" y="118872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endParaRPr sz="1500" b="1" i="0" dirty="0">
              <a:solidFill>
                <a:srgbClr val="1C2A26"/>
              </a:solidFill>
              <a:latin typeface="Proxima Nov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093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272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362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8541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9631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0720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1810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9000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3989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50791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6168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72583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83480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9437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0527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16168" y="4114800"/>
            <a:ext cx="182880" cy="182880"/>
          </a:xfrm>
          <a:prstGeom prst="ellipse">
            <a:avLst/>
          </a:prstGeom>
          <a:solidFill>
            <a:srgbClr val="F98C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502920"/>
            <a:ext cx="630936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A Good Researcher Must Also Be Able to Defend the Research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202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tag"/>
          <p:cNvSpPr/>
          <p:nvPr/>
        </p:nvSpPr>
        <p:spPr>
          <a:xfrm>
            <a:off x="630936" y="12801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con-gavel" descr="gave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44168"/>
            <a:ext cx="25603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1280160"/>
            <a:ext cx="178308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300" b="1" i="0">
                <a:solidFill>
                  <a:srgbClr val="1C2A26"/>
                </a:solidFill>
                <a:latin typeface="Proxima Nova"/>
              </a:rPr>
              <a:t>DEFEND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783080"/>
            <a:ext cx="7863840" cy="178308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Proxima Nova"/>
              </a:rPr>
              <a:t>“Why did you conduct this study?”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3657600"/>
            <a:ext cx="7680960" cy="8229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000" b="0" i="0">
                <a:solidFill>
                  <a:srgbClr val="FFE3E5"/>
                </a:solidFill>
                <a:latin typeface="Proxima Nova"/>
              </a:rPr>
              <a:t>Your answer should connect the problem, gap, question, method and contribution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The 30-Second Research Explanation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203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Problem</a:t>
            </a:r>
          </a:p>
        </p:txBody>
      </p:sp>
      <p:sp>
        <p:nvSpPr>
          <p:cNvPr id="6" name="Oval 5"/>
          <p:cNvSpPr/>
          <p:nvPr/>
        </p:nvSpPr>
        <p:spPr>
          <a:xfrm>
            <a:off x="1042416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157984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Gap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3858768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Approach</a:t>
            </a:r>
          </a:p>
        </p:txBody>
      </p:sp>
      <p:sp>
        <p:nvSpPr>
          <p:cNvPr id="12" name="Oval 11"/>
          <p:cNvSpPr/>
          <p:nvPr/>
        </p:nvSpPr>
        <p:spPr>
          <a:xfrm>
            <a:off x="444398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5559552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Finding</a:t>
            </a:r>
          </a:p>
        </p:txBody>
      </p:sp>
      <p:sp>
        <p:nvSpPr>
          <p:cNvPr id="15" name="Oval 14"/>
          <p:cNvSpPr/>
          <p:nvPr/>
        </p:nvSpPr>
        <p:spPr>
          <a:xfrm>
            <a:off x="6144768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pic>
        <p:nvPicPr>
          <p:cNvPr id="16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2532888"/>
            <a:ext cx="201168" cy="201168"/>
          </a:xfrm>
          <a:prstGeom prst="rect">
            <a:avLst/>
          </a:prstGeom>
        </p:spPr>
      </p:pic>
      <p:sp>
        <p:nvSpPr>
          <p:cNvPr id="17" name="step-5"/>
          <p:cNvSpPr/>
          <p:nvPr/>
        </p:nvSpPr>
        <p:spPr>
          <a:xfrm>
            <a:off x="7260336" y="2039112"/>
            <a:ext cx="1426464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Proxima Nova"/>
              </a:rPr>
              <a:t>Contribution</a:t>
            </a:r>
          </a:p>
        </p:txBody>
      </p:sp>
      <p:sp>
        <p:nvSpPr>
          <p:cNvPr id="18" name="Oval 17"/>
          <p:cNvSpPr/>
          <p:nvPr/>
        </p:nvSpPr>
        <p:spPr>
          <a:xfrm>
            <a:off x="7845552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Not your whole literature review. Not every algorithm.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The Most Dangerous Question — “Why Did You Choose This Method?”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204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question"/>
          <p:cNvSpPr/>
          <p:nvPr/>
        </p:nvSpPr>
        <p:spPr>
          <a:xfrm>
            <a:off x="457200" y="941832"/>
            <a:ext cx="8229600" cy="1143000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con-question" descr="quest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161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941832"/>
            <a:ext cx="7132320" cy="11430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Proxima Nova"/>
              </a:rPr>
              <a:t>“Why did you choose this method?”</a:t>
            </a:r>
          </a:p>
        </p:txBody>
      </p:sp>
      <p:sp>
        <p:nvSpPr>
          <p:cNvPr id="8" name="step-1"/>
          <p:cNvSpPr/>
          <p:nvPr/>
        </p:nvSpPr>
        <p:spPr>
          <a:xfrm>
            <a:off x="457200" y="2633472"/>
            <a:ext cx="1851660" cy="105156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Link it to the research question</a:t>
            </a:r>
          </a:p>
        </p:txBody>
      </p:sp>
      <p:sp>
        <p:nvSpPr>
          <p:cNvPr id="9" name="Oval 8"/>
          <p:cNvSpPr/>
          <p:nvPr/>
        </p:nvSpPr>
        <p:spPr>
          <a:xfrm>
            <a:off x="1255014" y="25054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436" y="3058668"/>
            <a:ext cx="201168" cy="201168"/>
          </a:xfrm>
          <a:prstGeom prst="rect">
            <a:avLst/>
          </a:prstGeom>
        </p:spPr>
      </p:pic>
      <p:sp>
        <p:nvSpPr>
          <p:cNvPr id="11" name="step-2"/>
          <p:cNvSpPr/>
          <p:nvPr/>
        </p:nvSpPr>
        <p:spPr>
          <a:xfrm>
            <a:off x="2583179" y="2633472"/>
            <a:ext cx="1851660" cy="105156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Say what evidence it gives</a:t>
            </a:r>
          </a:p>
        </p:txBody>
      </p:sp>
      <p:sp>
        <p:nvSpPr>
          <p:cNvPr id="12" name="Oval 11"/>
          <p:cNvSpPr/>
          <p:nvPr/>
        </p:nvSpPr>
        <p:spPr>
          <a:xfrm>
            <a:off x="3380993" y="25054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3058668"/>
            <a:ext cx="201168" cy="201168"/>
          </a:xfrm>
          <a:prstGeom prst="rect">
            <a:avLst/>
          </a:prstGeom>
        </p:spPr>
      </p:pic>
      <p:sp>
        <p:nvSpPr>
          <p:cNvPr id="14" name="step-3"/>
          <p:cNvSpPr/>
          <p:nvPr/>
        </p:nvSpPr>
        <p:spPr>
          <a:xfrm>
            <a:off x="4709159" y="2633472"/>
            <a:ext cx="1851660" cy="105156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Explain why it fits the objective</a:t>
            </a:r>
          </a:p>
        </p:txBody>
      </p:sp>
      <p:sp>
        <p:nvSpPr>
          <p:cNvPr id="15" name="Oval 14"/>
          <p:cNvSpPr/>
          <p:nvPr/>
        </p:nvSpPr>
        <p:spPr>
          <a:xfrm>
            <a:off x="5506974" y="25054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6" name="icon-arrowright" descr="arrowright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5" y="3058668"/>
            <a:ext cx="201168" cy="201168"/>
          </a:xfrm>
          <a:prstGeom prst="rect">
            <a:avLst/>
          </a:prstGeom>
        </p:spPr>
      </p:pic>
      <p:sp>
        <p:nvSpPr>
          <p:cNvPr id="17" name="step-4"/>
          <p:cNvSpPr/>
          <p:nvPr/>
        </p:nvSpPr>
        <p:spPr>
          <a:xfrm>
            <a:off x="6835140" y="2633472"/>
            <a:ext cx="1851660" cy="105156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Proxima Nova"/>
              </a:rPr>
              <a:t>Never: “It is popular” or “It was easy”</a:t>
            </a:r>
          </a:p>
        </p:txBody>
      </p:sp>
      <p:sp>
        <p:nvSpPr>
          <p:cNvPr id="18" name="Oval 17"/>
          <p:cNvSpPr/>
          <p:nvPr/>
        </p:nvSpPr>
        <p:spPr>
          <a:xfrm>
            <a:off x="7632953" y="2505456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“Why Didn't You Use a Different Method?”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205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question"/>
          <p:cNvSpPr/>
          <p:nvPr/>
        </p:nvSpPr>
        <p:spPr>
          <a:xfrm>
            <a:off x="457200" y="941832"/>
            <a:ext cx="8229600" cy="1143000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con-question" descr="quest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161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941832"/>
            <a:ext cx="7132320" cy="11430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Proxima Nova"/>
              </a:rPr>
              <a:t>“Why didn’t you use only interviews?”</a:t>
            </a:r>
          </a:p>
        </p:txBody>
      </p:sp>
      <p:sp>
        <p:nvSpPr>
          <p:cNvPr id="8" name="step-1"/>
          <p:cNvSpPr/>
          <p:nvPr/>
        </p:nvSpPr>
        <p:spPr>
          <a:xfrm>
            <a:off x="457200" y="2633472"/>
            <a:ext cx="1851660" cy="105156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Don’t get defensive</a:t>
            </a:r>
          </a:p>
        </p:txBody>
      </p:sp>
      <p:sp>
        <p:nvSpPr>
          <p:cNvPr id="9" name="Oval 8"/>
          <p:cNvSpPr/>
          <p:nvPr/>
        </p:nvSpPr>
        <p:spPr>
          <a:xfrm>
            <a:off x="1255014" y="25054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436" y="3058668"/>
            <a:ext cx="201168" cy="201168"/>
          </a:xfrm>
          <a:prstGeom prst="rect">
            <a:avLst/>
          </a:prstGeom>
        </p:spPr>
      </p:pic>
      <p:sp>
        <p:nvSpPr>
          <p:cNvPr id="11" name="step-2"/>
          <p:cNvSpPr/>
          <p:nvPr/>
        </p:nvSpPr>
        <p:spPr>
          <a:xfrm>
            <a:off x="2583179" y="2633472"/>
            <a:ext cx="1851660" cy="105156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Other methods were possible</a:t>
            </a:r>
          </a:p>
        </p:txBody>
      </p:sp>
      <p:sp>
        <p:nvSpPr>
          <p:cNvPr id="12" name="Oval 11"/>
          <p:cNvSpPr/>
          <p:nvPr/>
        </p:nvSpPr>
        <p:spPr>
          <a:xfrm>
            <a:off x="3380993" y="25054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3058668"/>
            <a:ext cx="201168" cy="201168"/>
          </a:xfrm>
          <a:prstGeom prst="rect">
            <a:avLst/>
          </a:prstGeom>
        </p:spPr>
      </p:pic>
      <p:sp>
        <p:nvSpPr>
          <p:cNvPr id="14" name="step-3"/>
          <p:cNvSpPr/>
          <p:nvPr/>
        </p:nvSpPr>
        <p:spPr>
          <a:xfrm>
            <a:off x="4709159" y="2633472"/>
            <a:ext cx="1851660" cy="105156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Explain why yours fits best</a:t>
            </a:r>
          </a:p>
        </p:txBody>
      </p:sp>
      <p:sp>
        <p:nvSpPr>
          <p:cNvPr id="15" name="Oval 14"/>
          <p:cNvSpPr/>
          <p:nvPr/>
        </p:nvSpPr>
        <p:spPr>
          <a:xfrm>
            <a:off x="5506974" y="25054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6" name="icon-arrowright" descr="arrowright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5" y="3058668"/>
            <a:ext cx="201168" cy="201168"/>
          </a:xfrm>
          <a:prstGeom prst="rect">
            <a:avLst/>
          </a:prstGeom>
        </p:spPr>
      </p:pic>
      <p:sp>
        <p:nvSpPr>
          <p:cNvPr id="17" name="step-4"/>
          <p:cNvSpPr/>
          <p:nvPr/>
        </p:nvSpPr>
        <p:spPr>
          <a:xfrm>
            <a:off x="6835140" y="2633472"/>
            <a:ext cx="1851660" cy="105156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Acknowledge the trade-offs</a:t>
            </a:r>
          </a:p>
        </p:txBody>
      </p:sp>
      <p:sp>
        <p:nvSpPr>
          <p:cNvPr id="18" name="Oval 17"/>
          <p:cNvSpPr/>
          <p:nvPr/>
        </p:nvSpPr>
        <p:spPr>
          <a:xfrm>
            <a:off x="7632953" y="25054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“What Is the Strongest Evidence in Your Study?”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206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question"/>
          <p:cNvSpPr/>
          <p:nvPr/>
        </p:nvSpPr>
        <p:spPr>
          <a:xfrm>
            <a:off x="457200" y="941832"/>
            <a:ext cx="8229600" cy="1143000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con-question" descr="quest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161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941832"/>
            <a:ext cx="7132320" cy="11430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Proxima Nova"/>
              </a:rPr>
              <a:t>“What is the strongest evidence in your study?”</a:t>
            </a:r>
          </a:p>
        </p:txBody>
      </p:sp>
      <p:sp>
        <p:nvSpPr>
          <p:cNvPr id="8" name="step-1"/>
          <p:cNvSpPr/>
          <p:nvPr/>
        </p:nvSpPr>
        <p:spPr>
          <a:xfrm>
            <a:off x="457200" y="2633472"/>
            <a:ext cx="1851660" cy="105156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Know your evidence hierarchy</a:t>
            </a:r>
          </a:p>
        </p:txBody>
      </p:sp>
      <p:sp>
        <p:nvSpPr>
          <p:cNvPr id="9" name="Oval 8"/>
          <p:cNvSpPr/>
          <p:nvPr/>
        </p:nvSpPr>
        <p:spPr>
          <a:xfrm>
            <a:off x="1255014" y="25054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436" y="3058668"/>
            <a:ext cx="201168" cy="201168"/>
          </a:xfrm>
          <a:prstGeom prst="rect">
            <a:avLst/>
          </a:prstGeom>
        </p:spPr>
      </p:pic>
      <p:sp>
        <p:nvSpPr>
          <p:cNvPr id="11" name="step-2"/>
          <p:cNvSpPr/>
          <p:nvPr/>
        </p:nvSpPr>
        <p:spPr>
          <a:xfrm>
            <a:off x="2583179" y="2633472"/>
            <a:ext cx="1851660" cy="105156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Controlled comparison of outcomes</a:t>
            </a:r>
          </a:p>
        </p:txBody>
      </p:sp>
      <p:sp>
        <p:nvSpPr>
          <p:cNvPr id="12" name="Oval 11"/>
          <p:cNvSpPr/>
          <p:nvPr/>
        </p:nvSpPr>
        <p:spPr>
          <a:xfrm>
            <a:off x="3380993" y="2505456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3058668"/>
            <a:ext cx="201168" cy="201168"/>
          </a:xfrm>
          <a:prstGeom prst="rect">
            <a:avLst/>
          </a:prstGeom>
        </p:spPr>
      </p:pic>
      <p:sp>
        <p:nvSpPr>
          <p:cNvPr id="14" name="step-3"/>
          <p:cNvSpPr/>
          <p:nvPr/>
        </p:nvSpPr>
        <p:spPr>
          <a:xfrm>
            <a:off x="4709159" y="2633472"/>
            <a:ext cx="1851660" cy="105156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Backed by pre- and post-data</a:t>
            </a:r>
          </a:p>
        </p:txBody>
      </p:sp>
      <p:sp>
        <p:nvSpPr>
          <p:cNvPr id="15" name="Oval 14"/>
          <p:cNvSpPr/>
          <p:nvPr/>
        </p:nvSpPr>
        <p:spPr>
          <a:xfrm>
            <a:off x="5506974" y="25054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6" name="icon-arrowright" descr="arrowright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5" y="3058668"/>
            <a:ext cx="201168" cy="201168"/>
          </a:xfrm>
          <a:prstGeom prst="rect">
            <a:avLst/>
          </a:prstGeom>
        </p:spPr>
      </p:pic>
      <p:sp>
        <p:nvSpPr>
          <p:cNvPr id="17" name="step-4"/>
          <p:cNvSpPr/>
          <p:nvPr/>
        </p:nvSpPr>
        <p:spPr>
          <a:xfrm>
            <a:off x="6835140" y="2633472"/>
            <a:ext cx="1851660" cy="105156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Say it without opening the paper</a:t>
            </a:r>
          </a:p>
        </p:txBody>
      </p:sp>
      <p:sp>
        <p:nvSpPr>
          <p:cNvPr id="18" name="Oval 17"/>
          <p:cNvSpPr/>
          <p:nvPr/>
        </p:nvSpPr>
        <p:spPr>
          <a:xfrm>
            <a:off x="7632953" y="25054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“What Is the Weakest Part of Your Study?”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207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question"/>
          <p:cNvSpPr/>
          <p:nvPr/>
        </p:nvSpPr>
        <p:spPr>
          <a:xfrm>
            <a:off x="457200" y="941832"/>
            <a:ext cx="8229600" cy="1143000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con-question" descr="quest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1615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941832"/>
            <a:ext cx="7132320" cy="11430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Proxima Nova"/>
              </a:rPr>
              <a:t>“What is the weakest part of your study?”</a:t>
            </a:r>
          </a:p>
        </p:txBody>
      </p:sp>
      <p:sp>
        <p:nvSpPr>
          <p:cNvPr id="8" name="step-1"/>
          <p:cNvSpPr/>
          <p:nvPr/>
        </p:nvSpPr>
        <p:spPr>
          <a:xfrm>
            <a:off x="457200" y="2633472"/>
            <a:ext cx="1851660" cy="105156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Every study has boundaries</a:t>
            </a:r>
          </a:p>
        </p:txBody>
      </p:sp>
      <p:sp>
        <p:nvSpPr>
          <p:cNvPr id="9" name="Oval 8"/>
          <p:cNvSpPr/>
          <p:nvPr/>
        </p:nvSpPr>
        <p:spPr>
          <a:xfrm>
            <a:off x="1255014" y="25054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436" y="3058668"/>
            <a:ext cx="201168" cy="201168"/>
          </a:xfrm>
          <a:prstGeom prst="rect">
            <a:avLst/>
          </a:prstGeom>
        </p:spPr>
      </p:pic>
      <p:sp>
        <p:nvSpPr>
          <p:cNvPr id="11" name="step-2"/>
          <p:cNvSpPr/>
          <p:nvPr/>
        </p:nvSpPr>
        <p:spPr>
          <a:xfrm>
            <a:off x="2583179" y="2633472"/>
            <a:ext cx="1851660" cy="105156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Name them honestly</a:t>
            </a:r>
          </a:p>
        </p:txBody>
      </p:sp>
      <p:sp>
        <p:nvSpPr>
          <p:cNvPr id="12" name="Oval 11"/>
          <p:cNvSpPr/>
          <p:nvPr/>
        </p:nvSpPr>
        <p:spPr>
          <a:xfrm>
            <a:off x="3380993" y="25054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3058668"/>
            <a:ext cx="201168" cy="201168"/>
          </a:xfrm>
          <a:prstGeom prst="rect">
            <a:avLst/>
          </a:prstGeom>
        </p:spPr>
      </p:pic>
      <p:sp>
        <p:nvSpPr>
          <p:cNvPr id="14" name="step-3"/>
          <p:cNvSpPr/>
          <p:nvPr/>
        </p:nvSpPr>
        <p:spPr>
          <a:xfrm>
            <a:off x="4709159" y="2633472"/>
            <a:ext cx="1851660" cy="105156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Explain how you handled them</a:t>
            </a:r>
          </a:p>
        </p:txBody>
      </p:sp>
      <p:sp>
        <p:nvSpPr>
          <p:cNvPr id="15" name="Oval 14"/>
          <p:cNvSpPr/>
          <p:nvPr/>
        </p:nvSpPr>
        <p:spPr>
          <a:xfrm>
            <a:off x="5506974" y="25054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6" name="icon-arrowright" descr="arrowright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5" y="3058668"/>
            <a:ext cx="201168" cy="201168"/>
          </a:xfrm>
          <a:prstGeom prst="rect">
            <a:avLst/>
          </a:prstGeom>
        </p:spPr>
      </p:pic>
      <p:sp>
        <p:nvSpPr>
          <p:cNvPr id="17" name="step-4"/>
          <p:cNvSpPr/>
          <p:nvPr/>
        </p:nvSpPr>
        <p:spPr>
          <a:xfrm>
            <a:off x="6835140" y="2633472"/>
            <a:ext cx="1851660" cy="105156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Say what they mean for the claims</a:t>
            </a:r>
          </a:p>
        </p:txBody>
      </p:sp>
      <p:sp>
        <p:nvSpPr>
          <p:cNvPr id="18" name="Oval 17"/>
          <p:cNvSpPr/>
          <p:nvPr/>
        </p:nvSpPr>
        <p:spPr>
          <a:xfrm>
            <a:off x="7632953" y="25054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Don't Turn Limitations Into Apologies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208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824227"/>
            <a:ext cx="3886200" cy="189280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82422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Proxima Nova"/>
              </a:rPr>
              <a:t>An apology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83463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92973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537459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“Unfortunately we only had 120 participants, so our research is not very good.”</a:t>
            </a:r>
          </a:p>
        </p:txBody>
      </p:sp>
      <p:sp>
        <p:nvSpPr>
          <p:cNvPr id="10" name="panel-2"/>
          <p:cNvSpPr/>
          <p:nvPr/>
        </p:nvSpPr>
        <p:spPr>
          <a:xfrm>
            <a:off x="4800600" y="1824227"/>
            <a:ext cx="3886200" cy="189280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anel-head-2"/>
          <p:cNvSpPr/>
          <p:nvPr/>
        </p:nvSpPr>
        <p:spPr>
          <a:xfrm>
            <a:off x="4800600" y="182422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Proxima Nova"/>
              </a:rPr>
              <a:t>A calibrated statement</a:t>
            </a:r>
          </a:p>
        </p:txBody>
      </p:sp>
      <p:sp>
        <p:nvSpPr>
          <p:cNvPr id="12" name="Oval 11"/>
          <p:cNvSpPr/>
          <p:nvPr/>
        </p:nvSpPr>
        <p:spPr>
          <a:xfrm>
            <a:off x="4983480" y="283463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929737"/>
            <a:ext cx="175564" cy="1755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58968" y="2537459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“120 participants was enough for the planned analysis, but all came from one academic setting.”</a:t>
            </a:r>
          </a:p>
        </p:txBody>
      </p:sp>
      <p:sp>
        <p:nvSpPr>
          <p:cNvPr id="15" name="Oval 14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How to Handle a Question You Cannot Answer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209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17627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Don’t invent an answer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67004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217627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Don’t get defensive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67004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217627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Proxima Nova"/>
              </a:rPr>
              <a:t>Acknowledge the boundary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204825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67004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217627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600" b="1" i="0">
                <a:solidFill>
                  <a:srgbClr val="1C2A26"/>
                </a:solidFill>
                <a:latin typeface="Proxima Nova"/>
              </a:rPr>
              <a:t>Say what the study did cover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The Research Defense Master Framework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210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1399031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Problem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180136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1399031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Gap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180136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1399031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Question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180136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1399031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Method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12710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step-5"/>
          <p:cNvSpPr/>
          <p:nvPr/>
        </p:nvSpPr>
        <p:spPr>
          <a:xfrm>
            <a:off x="1520189" y="2862072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Evidence</a:t>
            </a:r>
          </a:p>
        </p:txBody>
      </p:sp>
      <p:sp>
        <p:nvSpPr>
          <p:cNvPr id="17" name="Oval 16"/>
          <p:cNvSpPr/>
          <p:nvPr/>
        </p:nvSpPr>
        <p:spPr>
          <a:xfrm>
            <a:off x="2318003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5</a:t>
            </a:r>
          </a:p>
        </p:txBody>
      </p:sp>
      <p:pic>
        <p:nvPicPr>
          <p:cNvPr id="18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426" y="3264408"/>
            <a:ext cx="201168" cy="201168"/>
          </a:xfrm>
          <a:prstGeom prst="rect">
            <a:avLst/>
          </a:prstGeom>
        </p:spPr>
      </p:pic>
      <p:sp>
        <p:nvSpPr>
          <p:cNvPr id="19" name="step-6"/>
          <p:cNvSpPr/>
          <p:nvPr/>
        </p:nvSpPr>
        <p:spPr>
          <a:xfrm>
            <a:off x="3646170" y="2862072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Claim</a:t>
            </a:r>
          </a:p>
        </p:txBody>
      </p:sp>
      <p:sp>
        <p:nvSpPr>
          <p:cNvPr id="20" name="Oval 19"/>
          <p:cNvSpPr/>
          <p:nvPr/>
        </p:nvSpPr>
        <p:spPr>
          <a:xfrm>
            <a:off x="4443984" y="2734056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6</a:t>
            </a:r>
          </a:p>
        </p:txBody>
      </p:sp>
      <p:pic>
        <p:nvPicPr>
          <p:cNvPr id="21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405" y="3264408"/>
            <a:ext cx="201168" cy="201168"/>
          </a:xfrm>
          <a:prstGeom prst="rect">
            <a:avLst/>
          </a:prstGeom>
        </p:spPr>
      </p:pic>
      <p:sp>
        <p:nvSpPr>
          <p:cNvPr id="22" name="step-7"/>
          <p:cNvSpPr/>
          <p:nvPr/>
        </p:nvSpPr>
        <p:spPr>
          <a:xfrm>
            <a:off x="5772149" y="2862072"/>
            <a:ext cx="1851660" cy="100584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Contribution</a:t>
            </a:r>
          </a:p>
        </p:txBody>
      </p:sp>
      <p:sp>
        <p:nvSpPr>
          <p:cNvPr id="23" name="Oval 22"/>
          <p:cNvSpPr/>
          <p:nvPr/>
        </p:nvSpPr>
        <p:spPr>
          <a:xfrm>
            <a:off x="6569964" y="2734056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If one link is weak, the whole argument is weaker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16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211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Asked about the weakest part of your study, the best approach is to…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Claim there are none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Name the boundaries honestly and explain what they mean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Apologize repeatedly</a:t>
            </a:r>
          </a:p>
        </p:txBody>
      </p:sp>
      <p:sp>
        <p:nvSpPr>
          <p:cNvPr id="15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Change the subject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3708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FFE3E5"/>
                </a:solidFill>
                <a:latin typeface="Proxima Nova"/>
              </a:rPr>
              <a:t>Type your answer in the chat — A, B, C or D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16 — Answer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212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Asked about the weakest part of your study, the best approach is to…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Claim there are none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5333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oxima Nova"/>
              </a:rPr>
              <a:t>Name the boundaries honestly and explain what they mean</a:t>
            </a:r>
          </a:p>
        </p:txBody>
      </p:sp>
      <p:pic>
        <p:nvPicPr>
          <p:cNvPr id="12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2487168"/>
            <a:ext cx="329184" cy="329184"/>
          </a:xfrm>
          <a:prstGeom prst="rect">
            <a:avLst/>
          </a:prstGeom>
        </p:spPr>
      </p:pic>
      <p:sp>
        <p:nvSpPr>
          <p:cNvPr id="13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Apologize repeatedly</a:t>
            </a:r>
          </a:p>
        </p:txBody>
      </p:sp>
      <p:sp>
        <p:nvSpPr>
          <p:cNvPr id="16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Change the subject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431596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E3E5"/>
                </a:solidFill>
                <a:latin typeface="Proxima Nova"/>
              </a:rPr>
              <a:t>Why? </a:t>
            </a:r>
            <a:r>
              <a:rPr sz="1500" b="0" i="0">
                <a:solidFill>
                  <a:srgbClr val="FFFFFF"/>
                </a:solidFill>
                <a:latin typeface="Proxima Nova"/>
              </a:rPr>
              <a:t>Calibrated honesty builds credibility. Limitations are not apologies.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1783080"/>
            <a:ext cx="7680960" cy="2011680"/>
          </a:xfrm>
        </p:spPr>
        <p:txBody>
          <a:bodyPr wrap="square" lIns="0" tIns="0" rIns="0" bIns="0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From Research Paper to Research Presentation: Making Your Work Clear, Engaging and Memorable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213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inutes-chip"/>
          <p:cNvSpPr/>
          <p:nvPr/>
        </p:nvSpPr>
        <p:spPr>
          <a:xfrm>
            <a:off x="630936" y="118872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BAE40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endParaRPr sz="1500" b="1" i="0" dirty="0">
              <a:solidFill>
                <a:srgbClr val="1C2A26"/>
              </a:solidFill>
              <a:latin typeface="Proxima Nova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093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272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362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74519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8541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9631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0720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18104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9000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3989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50791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6168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72583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83480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94376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05272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16168" y="411480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A Research Paper and a Research Presentation Are Not the Same Thing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214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Research paper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5457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book" descr="boo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44967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Designed for detailed reading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1469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book" descr="boo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409797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Every section, every table</a:t>
            </a:r>
          </a:p>
        </p:txBody>
      </p:sp>
      <p:sp>
        <p:nvSpPr>
          <p:cNvPr id="13" name="panel-2"/>
          <p:cNvSpPr/>
          <p:nvPr/>
        </p:nvSpPr>
        <p:spPr>
          <a:xfrm>
            <a:off x="48006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nel-head-2"/>
          <p:cNvSpPr/>
          <p:nvPr/>
        </p:nvSpPr>
        <p:spPr>
          <a:xfrm>
            <a:off x="48006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roxima Nova"/>
              </a:rPr>
              <a:t>Research presentation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235457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microphone" descr="micro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44967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Designed for understanding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331469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-microphone" descr="micro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409797"/>
            <a:ext cx="175564" cy="1755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0" i="0">
                <a:solidFill>
                  <a:srgbClr val="1C2A26"/>
                </a:solidFill>
                <a:latin typeface="Proxima Nova"/>
              </a:rPr>
              <a:t>One story, one message</a:t>
            </a:r>
          </a:p>
        </p:txBody>
      </p:sp>
      <p:sp>
        <p:nvSpPr>
          <p:cNvPr id="21" name="Oval 20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Start With the Problem, Not the Technology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215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The problem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91109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53288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Why current approaches fall short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53288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Your approach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53288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203911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The evidence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191109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After 5 minutes of embeddings, the audience asks: “What problem?”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One Slide, One Main Message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216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914400"/>
            <a:ext cx="3886200" cy="3712463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914400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1C2A26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A “Results” slide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37943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1933041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627632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8 graphs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24328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719425"/>
            <a:ext cx="175564" cy="17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2414016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3 tables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410712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3505809"/>
            <a:ext cx="175564" cy="1755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" y="3200400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6 metrics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197096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times" descr="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4292193"/>
            <a:ext cx="175564" cy="1755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5568" y="3986784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A paragraph</a:t>
            </a:r>
          </a:p>
        </p:txBody>
      </p:sp>
      <p:sp>
        <p:nvSpPr>
          <p:cNvPr id="19" name="panel-2"/>
          <p:cNvSpPr/>
          <p:nvPr/>
        </p:nvSpPr>
        <p:spPr>
          <a:xfrm>
            <a:off x="4800600" y="914400"/>
            <a:ext cx="3886200" cy="3712463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anel-head-2"/>
          <p:cNvSpPr/>
          <p:nvPr/>
        </p:nvSpPr>
        <p:spPr>
          <a:xfrm>
            <a:off x="4800600" y="914400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Proxima Nova"/>
              </a:rPr>
              <a:t>One main message</a:t>
            </a:r>
          </a:p>
        </p:txBody>
      </p:sp>
      <p:sp>
        <p:nvSpPr>
          <p:cNvPr id="21" name="Oval 20"/>
          <p:cNvSpPr/>
          <p:nvPr/>
        </p:nvSpPr>
        <p:spPr>
          <a:xfrm>
            <a:off x="4983480" y="1837943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check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1933041"/>
            <a:ext cx="175564" cy="1755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58968" y="1627632"/>
            <a:ext cx="3136392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“Model A beats three baselines”</a:t>
            </a:r>
          </a:p>
        </p:txBody>
      </p:sp>
      <p:sp>
        <p:nvSpPr>
          <p:cNvPr id="24" name="Oval 23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Use Visuals to Explain, Not Decorate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217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chartline" descr="chartlin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1639884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171700"/>
            <a:ext cx="1650492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Line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734564"/>
            <a:ext cx="1650492" cy="78130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Show a trend</a:t>
            </a:r>
          </a:p>
        </p:txBody>
      </p:sp>
      <p:sp>
        <p:nvSpPr>
          <p:cNvPr id="10" name="card-2"/>
          <p:cNvSpPr/>
          <p:nvPr/>
        </p:nvSpPr>
        <p:spPr>
          <a:xfrm>
            <a:off x="2564892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747772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-chartbar" descr="chartb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612" y="1639884"/>
            <a:ext cx="313822" cy="3138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92908" y="2171700"/>
            <a:ext cx="1650492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Comparison 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2908" y="2734564"/>
            <a:ext cx="1650492" cy="78130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Show differences</a:t>
            </a:r>
          </a:p>
        </p:txBody>
      </p:sp>
      <p:sp>
        <p:nvSpPr>
          <p:cNvPr id="15" name="card-3"/>
          <p:cNvSpPr/>
          <p:nvPr/>
        </p:nvSpPr>
        <p:spPr>
          <a:xfrm>
            <a:off x="4672584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55464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th" descr="t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04" y="1639884"/>
            <a:ext cx="313822" cy="31382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00600" y="2171700"/>
            <a:ext cx="1650492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Confusion 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734564"/>
            <a:ext cx="1650492" cy="78130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Show classification behavior</a:t>
            </a:r>
          </a:p>
        </p:txBody>
      </p:sp>
      <p:sp>
        <p:nvSpPr>
          <p:cNvPr id="20" name="card-4"/>
          <p:cNvSpPr/>
          <p:nvPr/>
        </p:nvSpPr>
        <p:spPr>
          <a:xfrm>
            <a:off x="6780276" y="1330451"/>
            <a:ext cx="1906524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963156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-projectdiagram" descr="projectdiagram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996" y="1639884"/>
            <a:ext cx="313822" cy="31382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08292" y="2171700"/>
            <a:ext cx="1650492" cy="54457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600" b="1" i="0">
                <a:solidFill>
                  <a:srgbClr val="1C2A26"/>
                </a:solidFill>
                <a:latin typeface="Proxima Nova"/>
              </a:rPr>
              <a:t>Concept diagram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8292" y="2734564"/>
            <a:ext cx="1650492" cy="78130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Explain relationships</a:t>
            </a:r>
          </a:p>
        </p:txBody>
      </p:sp>
      <p:sp>
        <p:nvSpPr>
          <p:cNvPr id="25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con-ban" descr="ba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Never add a visual just to fill empty space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Don't Hide Uncertainty Behind Confident Language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218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panel-1"/>
          <p:cNvSpPr/>
          <p:nvPr/>
        </p:nvSpPr>
        <p:spPr>
          <a:xfrm>
            <a:off x="4572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nel-head-1"/>
          <p:cNvSpPr/>
          <p:nvPr/>
        </p:nvSpPr>
        <p:spPr>
          <a:xfrm>
            <a:off x="4572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2E9E6B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Proxima Nova"/>
              </a:rPr>
              <a:t>Matches the evidence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54579"/>
            <a:ext cx="365760" cy="365760"/>
          </a:xfrm>
          <a:prstGeom prst="ellipse">
            <a:avLst/>
          </a:prstGeom>
          <a:solidFill>
            <a:srgbClr val="5C6A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" y="2449677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“We observed an association between AI adoption and productivity”</a:t>
            </a:r>
          </a:p>
        </p:txBody>
      </p:sp>
      <p:sp>
        <p:nvSpPr>
          <p:cNvPr id="10" name="panel-2"/>
          <p:cNvSpPr/>
          <p:nvPr/>
        </p:nvSpPr>
        <p:spPr>
          <a:xfrm>
            <a:off x="4800600" y="1344167"/>
            <a:ext cx="3886200" cy="2852928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anel-head-2"/>
          <p:cNvSpPr/>
          <p:nvPr/>
        </p:nvSpPr>
        <p:spPr>
          <a:xfrm>
            <a:off x="4800600" y="1344167"/>
            <a:ext cx="3886200" cy="566928"/>
          </a:xfrm>
          <a:prstGeom prst="roundRect">
            <a:avLst>
              <a:gd name="adj" fmla="val 12000"/>
            </a:avLst>
          </a:prstGeom>
          <a:solidFill>
            <a:srgbClr val="F5333F"/>
          </a:solidFill>
          <a:ln>
            <a:noFill/>
          </a:ln>
        </p:spPr>
        <p:txBody>
          <a:bodyPr wrap="square" lIns="54864" tIns="27432" rIns="54864" bIns="2743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Proxima Nova"/>
              </a:rPr>
              <a:t>Overreaches</a:t>
            </a:r>
          </a:p>
        </p:txBody>
      </p:sp>
      <p:sp>
        <p:nvSpPr>
          <p:cNvPr id="12" name="Oval 11"/>
          <p:cNvSpPr/>
          <p:nvPr/>
        </p:nvSpPr>
        <p:spPr>
          <a:xfrm>
            <a:off x="4983480" y="235457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-exclamationtriangle" descr="exclamationtriang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2449677"/>
            <a:ext cx="175564" cy="1755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58968" y="205740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“AI adoption increases productivity”</a:t>
            </a:r>
          </a:p>
        </p:txBody>
      </p:sp>
      <p:sp>
        <p:nvSpPr>
          <p:cNvPr id="15" name="Oval 14"/>
          <p:cNvSpPr/>
          <p:nvPr/>
        </p:nvSpPr>
        <p:spPr>
          <a:xfrm>
            <a:off x="4983480" y="3314699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-exclamationtriangle" descr="exclamationtriang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7" y="3409797"/>
            <a:ext cx="175564" cy="1755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58968" y="3017520"/>
            <a:ext cx="3136392" cy="92354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300" b="0" i="0">
                <a:solidFill>
                  <a:srgbClr val="1C2A26"/>
                </a:solidFill>
                <a:latin typeface="Proxima Nova"/>
              </a:rPr>
              <a:t>A causal claim needs a design that can show it</a:t>
            </a:r>
          </a:p>
        </p:txBody>
      </p:sp>
      <p:sp>
        <p:nvSpPr>
          <p:cNvPr id="18" name="Oval 17"/>
          <p:cNvSpPr/>
          <p:nvPr/>
        </p:nvSpPr>
        <p:spPr>
          <a:xfrm>
            <a:off x="4334256" y="2532887"/>
            <a:ext cx="475488" cy="475488"/>
          </a:xfrm>
          <a:prstGeom prst="ellipse">
            <a:avLst/>
          </a:prstGeom>
          <a:solidFill>
            <a:srgbClr val="FBAE4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VS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Your Audience Is Not One Audience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219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card-1"/>
          <p:cNvSpPr/>
          <p:nvPr/>
        </p:nvSpPr>
        <p:spPr>
          <a:xfrm>
            <a:off x="457200" y="1330451"/>
            <a:ext cx="2609088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brain" descr="brai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20" y="1639884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171700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AI researchers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766314"/>
            <a:ext cx="2353056" cy="74955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Architecture • baselines • evaluation</a:t>
            </a:r>
          </a:p>
        </p:txBody>
      </p:sp>
      <p:sp>
        <p:nvSpPr>
          <p:cNvPr id="10" name="card-2"/>
          <p:cNvSpPr/>
          <p:nvPr/>
        </p:nvSpPr>
        <p:spPr>
          <a:xfrm>
            <a:off x="3267456" y="1330451"/>
            <a:ext cx="2609088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50336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-usertie" descr="userti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176" y="1639884"/>
            <a:ext cx="313822" cy="3138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95472" y="2171700"/>
            <a:ext cx="2353056" cy="576326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Business 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5472" y="2766314"/>
            <a:ext cx="2353056" cy="749554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Problem • impact • cost • risk</a:t>
            </a:r>
          </a:p>
        </p:txBody>
      </p:sp>
      <p:sp>
        <p:nvSpPr>
          <p:cNvPr id="15" name="card-3"/>
          <p:cNvSpPr/>
          <p:nvPr/>
        </p:nvSpPr>
        <p:spPr>
          <a:xfrm>
            <a:off x="6077712" y="1330451"/>
            <a:ext cx="2609088" cy="22402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60592" y="1495043"/>
            <a:ext cx="603504" cy="603504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-graduationcap" descr="graduationc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432" y="1639884"/>
            <a:ext cx="313822" cy="31382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05728" y="2171700"/>
            <a:ext cx="2353056" cy="306451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700" b="1" i="0">
                <a:solidFill>
                  <a:srgbClr val="1C2A26"/>
                </a:solidFill>
                <a:latin typeface="Proxima Nova"/>
              </a:rPr>
              <a:t>Students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5728" y="2496439"/>
            <a:ext cx="2353056" cy="1019429"/>
          </a:xfrm>
          <a:prstGeom prst="rect">
            <a:avLst/>
          </a:prstGeom>
          <a:noFill/>
        </p:spPr>
        <p:txBody>
          <a:bodyPr wrap="square" lIns="54864" tIns="0" rIns="18288" bIns="0" anchor="t">
            <a:spAutoFit/>
          </a:bodyPr>
          <a:lstStyle/>
          <a:p>
            <a:pPr algn="l"/>
            <a:r>
              <a:rPr sz="1300" b="0" i="0">
                <a:solidFill>
                  <a:srgbClr val="5C6A64"/>
                </a:solidFill>
                <a:latin typeface="Proxima Nova"/>
              </a:rPr>
              <a:t>Definitions • examples • intuition</a:t>
            </a:r>
          </a:p>
        </p:txBody>
      </p:sp>
      <p:sp>
        <p:nvSpPr>
          <p:cNvPr id="20" name="remember-chip"/>
          <p:cNvSpPr/>
          <p:nvPr/>
        </p:nvSpPr>
        <p:spPr>
          <a:xfrm>
            <a:off x="457200" y="4087368"/>
            <a:ext cx="8229600" cy="548640"/>
          </a:xfrm>
          <a:prstGeom prst="roundRect">
            <a:avLst>
              <a:gd name="adj" fmla="val 30000"/>
            </a:avLst>
          </a:prstGeom>
          <a:solidFill>
            <a:srgbClr val="1C2A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icon-comments" descr="comment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215383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7280" y="4087368"/>
            <a:ext cx="740664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roxima Nova"/>
              </a:rPr>
              <a:t>The research does not change. The explanation does.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How to Handle Questions Without Losing Control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220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217627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Don’t rush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670048"/>
            <a:ext cx="201168" cy="201168"/>
          </a:xfrm>
          <a:prstGeom prst="rect">
            <a:avLst/>
          </a:prstGeom>
        </p:spPr>
      </p:pic>
      <p:sp>
        <p:nvSpPr>
          <p:cNvPr id="8" name="step-2"/>
          <p:cNvSpPr/>
          <p:nvPr/>
        </p:nvSpPr>
        <p:spPr>
          <a:xfrm>
            <a:off x="2583179" y="217627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Proxima Nova"/>
              </a:rPr>
              <a:t>Clarify the question</a:t>
            </a:r>
          </a:p>
        </p:txBody>
      </p:sp>
      <p:sp>
        <p:nvSpPr>
          <p:cNvPr id="9" name="Oval 8"/>
          <p:cNvSpPr/>
          <p:nvPr/>
        </p:nvSpPr>
        <p:spPr>
          <a:xfrm>
            <a:off x="3380993" y="204825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670048"/>
            <a:ext cx="201168" cy="201168"/>
          </a:xfrm>
          <a:prstGeom prst="rect">
            <a:avLst/>
          </a:prstGeom>
        </p:spPr>
      </p:pic>
      <p:sp>
        <p:nvSpPr>
          <p:cNvPr id="11" name="step-3"/>
          <p:cNvSpPr/>
          <p:nvPr/>
        </p:nvSpPr>
        <p:spPr>
          <a:xfrm>
            <a:off x="4709159" y="217627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Answer directly if you know</a:t>
            </a:r>
          </a:p>
        </p:txBody>
      </p:sp>
      <p:sp>
        <p:nvSpPr>
          <p:cNvPr id="12" name="Oval 11"/>
          <p:cNvSpPr/>
          <p:nvPr/>
        </p:nvSpPr>
        <p:spPr>
          <a:xfrm>
            <a:off x="5506974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3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670048"/>
            <a:ext cx="201168" cy="201168"/>
          </a:xfrm>
          <a:prstGeom prst="rect">
            <a:avLst/>
          </a:prstGeom>
        </p:spPr>
      </p:pic>
      <p:sp>
        <p:nvSpPr>
          <p:cNvPr id="14" name="step-4"/>
          <p:cNvSpPr/>
          <p:nvPr/>
        </p:nvSpPr>
        <p:spPr>
          <a:xfrm>
            <a:off x="6835140" y="2176272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300" b="1" i="0">
                <a:solidFill>
                  <a:srgbClr val="1C2A26"/>
                </a:solidFill>
                <a:latin typeface="Proxima Nova"/>
              </a:rPr>
              <a:t>Take multi-part questions one by one</a:t>
            </a:r>
          </a:p>
        </p:txBody>
      </p:sp>
      <p:sp>
        <p:nvSpPr>
          <p:cNvPr id="15" name="Oval 14"/>
          <p:cNvSpPr/>
          <p:nvPr/>
        </p:nvSpPr>
        <p:spPr>
          <a:xfrm>
            <a:off x="7632953" y="204825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FFFFFF"/>
                </a:solidFill>
                <a:latin typeface="Proxima Nova"/>
              </a:rPr>
              <a:t>The 10-Minute Research Presentation Structure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221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153619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Min 1: Problem</a:t>
            </a:r>
          </a:p>
        </p:txBody>
      </p:sp>
      <p:pic>
        <p:nvPicPr>
          <p:cNvPr id="6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938527"/>
            <a:ext cx="201168" cy="201168"/>
          </a:xfrm>
          <a:prstGeom prst="rect">
            <a:avLst/>
          </a:prstGeom>
        </p:spPr>
      </p:pic>
      <p:sp>
        <p:nvSpPr>
          <p:cNvPr id="7" name="step-2"/>
          <p:cNvSpPr/>
          <p:nvPr/>
        </p:nvSpPr>
        <p:spPr>
          <a:xfrm>
            <a:off x="2157984" y="153619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Min 2: Gap</a:t>
            </a:r>
          </a:p>
        </p:txBody>
      </p:sp>
      <p:pic>
        <p:nvPicPr>
          <p:cNvPr id="8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1938527"/>
            <a:ext cx="201168" cy="201168"/>
          </a:xfrm>
          <a:prstGeom prst="rect">
            <a:avLst/>
          </a:prstGeom>
        </p:spPr>
      </p:pic>
      <p:sp>
        <p:nvSpPr>
          <p:cNvPr id="9" name="step-3"/>
          <p:cNvSpPr/>
          <p:nvPr/>
        </p:nvSpPr>
        <p:spPr>
          <a:xfrm>
            <a:off x="3858768" y="153619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Min 3: Question and objectives</a:t>
            </a:r>
          </a:p>
        </p:txBody>
      </p:sp>
      <p:pic>
        <p:nvPicPr>
          <p:cNvPr id="10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1938527"/>
            <a:ext cx="201168" cy="201168"/>
          </a:xfrm>
          <a:prstGeom prst="rect">
            <a:avLst/>
          </a:prstGeom>
        </p:spPr>
      </p:pic>
      <p:sp>
        <p:nvSpPr>
          <p:cNvPr id="11" name="step-4"/>
          <p:cNvSpPr/>
          <p:nvPr/>
        </p:nvSpPr>
        <p:spPr>
          <a:xfrm>
            <a:off x="5559552" y="153619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Min 4: Approach</a:t>
            </a:r>
          </a:p>
        </p:txBody>
      </p:sp>
      <p:pic>
        <p:nvPicPr>
          <p:cNvPr id="12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938527"/>
            <a:ext cx="201168" cy="201168"/>
          </a:xfrm>
          <a:prstGeom prst="rect">
            <a:avLst/>
          </a:prstGeom>
        </p:spPr>
      </p:pic>
      <p:sp>
        <p:nvSpPr>
          <p:cNvPr id="13" name="step-5"/>
          <p:cNvSpPr/>
          <p:nvPr/>
        </p:nvSpPr>
        <p:spPr>
          <a:xfrm>
            <a:off x="7260336" y="1536191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Min 5: Design and data</a:t>
            </a:r>
          </a:p>
        </p:txBody>
      </p:sp>
      <p:sp>
        <p:nvSpPr>
          <p:cNvPr id="14" name="step-6"/>
          <p:cNvSpPr/>
          <p:nvPr/>
        </p:nvSpPr>
        <p:spPr>
          <a:xfrm>
            <a:off x="1307592" y="2999232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rIns="4572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Proxima Nova"/>
              </a:rPr>
              <a:t>Min 6–7: Findings</a:t>
            </a:r>
          </a:p>
        </p:txBody>
      </p:sp>
      <p:pic>
        <p:nvPicPr>
          <p:cNvPr id="15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32" y="3401568"/>
            <a:ext cx="201168" cy="201168"/>
          </a:xfrm>
          <a:prstGeom prst="rect">
            <a:avLst/>
          </a:prstGeom>
        </p:spPr>
      </p:pic>
      <p:sp>
        <p:nvSpPr>
          <p:cNvPr id="16" name="step-7"/>
          <p:cNvSpPr/>
          <p:nvPr/>
        </p:nvSpPr>
        <p:spPr>
          <a:xfrm>
            <a:off x="3008376" y="2999232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Min 8: Interpretation</a:t>
            </a:r>
          </a:p>
        </p:txBody>
      </p:sp>
      <p:pic>
        <p:nvPicPr>
          <p:cNvPr id="1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3401568"/>
            <a:ext cx="201168" cy="201168"/>
          </a:xfrm>
          <a:prstGeom prst="rect">
            <a:avLst/>
          </a:prstGeom>
        </p:spPr>
      </p:pic>
      <p:sp>
        <p:nvSpPr>
          <p:cNvPr id="18" name="step-8"/>
          <p:cNvSpPr/>
          <p:nvPr/>
        </p:nvSpPr>
        <p:spPr>
          <a:xfrm>
            <a:off x="4709160" y="2999232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Min 9: Contribution and limits</a:t>
            </a:r>
          </a:p>
        </p:txBody>
      </p:sp>
      <p:pic>
        <p:nvPicPr>
          <p:cNvPr id="19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401568"/>
            <a:ext cx="201168" cy="201168"/>
          </a:xfrm>
          <a:prstGeom prst="rect">
            <a:avLst/>
          </a:prstGeom>
        </p:spPr>
      </p:pic>
      <p:sp>
        <p:nvSpPr>
          <p:cNvPr id="20" name="step-9"/>
          <p:cNvSpPr/>
          <p:nvPr/>
        </p:nvSpPr>
        <p:spPr>
          <a:xfrm>
            <a:off x="6409944" y="2999232"/>
            <a:ext cx="1426464" cy="100584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rIns="45720" bIns="36576" rtlCol="0" anchor="ctr"/>
          <a:lstStyle/>
          <a:p>
            <a:pPr algn="ctr"/>
            <a:r>
              <a:rPr sz="1200" b="1" i="0">
                <a:solidFill>
                  <a:srgbClr val="1C2A26"/>
                </a:solidFill>
                <a:latin typeface="Proxima Nova"/>
              </a:rPr>
              <a:t>Min 10: Takeaway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The One-Sentence Takeaway Test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222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quote-card"/>
          <p:cNvSpPr/>
          <p:nvPr/>
        </p:nvSpPr>
        <p:spPr>
          <a:xfrm>
            <a:off x="457200" y="1033271"/>
            <a:ext cx="8229600" cy="3474720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353312"/>
            <a:ext cx="731520" cy="73152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-bullseye" descr="bullsey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" y="1528876"/>
            <a:ext cx="380390" cy="3803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37360" y="1216152"/>
            <a:ext cx="6583680" cy="201168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3000" b="1" i="0">
                <a:solidFill>
                  <a:srgbClr val="1C2A26"/>
                </a:solidFill>
                <a:latin typeface="Proxima Nova"/>
              </a:rPr>
              <a:t>“The main thing I want the audience to remember is…”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319272"/>
            <a:ext cx="6583680" cy="10058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800" b="0" i="0">
                <a:solidFill>
                  <a:srgbClr val="5C6A64"/>
                </a:solidFill>
                <a:latin typeface="Proxima Nova"/>
              </a:rPr>
              <a:t>If a slide does not support that sentence, ask whether it is necessary.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17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223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What is the best way to design a 10-minute research presentation?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Turn every paper section into a slide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Build around one central message backed by evidence</a:t>
            </a:r>
          </a:p>
        </p:txBody>
      </p:sp>
      <p:sp>
        <p:nvSpPr>
          <p:cNvPr id="12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Maximize the number of slides</a:t>
            </a:r>
          </a:p>
        </p:txBody>
      </p:sp>
      <p:sp>
        <p:nvSpPr>
          <p:cNvPr id="15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1C2A26"/>
                </a:solidFill>
                <a:latin typeface="Proxima Nova"/>
              </a:rPr>
              <a:t>Start with the model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3708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FFE3E5"/>
                </a:solidFill>
                <a:latin typeface="Proxima Nova"/>
              </a:rPr>
              <a:t>Type your answer in the chat — A, B, C or D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30936" y="384048"/>
            <a:ext cx="5943600" cy="566928"/>
          </a:xfrm>
        </p:spPr>
        <p:txBody>
          <a:bodyPr wrap="square" lIns="0" tIns="0" rIns="0" bIns="0" anchor="ctr"/>
          <a:lstStyle/>
          <a:p>
            <a:pPr algn="l"/>
            <a:r>
              <a:rPr sz="2400" b="1" i="0">
                <a:solidFill>
                  <a:srgbClr val="FFFFFF"/>
                </a:solidFill>
                <a:latin typeface="Proxima Nova"/>
              </a:rPr>
              <a:t>MCQ 17 — Answer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Proxima Nova"/>
              </a:rPr>
              <a:t>224</a:t>
            </a:fld>
            <a:endParaRPr lang="en-US" sz="900">
              <a:solidFill>
                <a:srgbClr val="FFFFFF"/>
              </a:solidFill>
              <a:latin typeface="Proxima Nova"/>
            </a:endParaRPr>
          </a:p>
        </p:txBody>
      </p:sp>
      <p:sp>
        <p:nvSpPr>
          <p:cNvPr id="4" name="mcq-card"/>
          <p:cNvSpPr/>
          <p:nvPr/>
        </p:nvSpPr>
        <p:spPr>
          <a:xfrm>
            <a:off x="548640" y="1051560"/>
            <a:ext cx="80467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2000" b="1" i="0">
                <a:solidFill>
                  <a:srgbClr val="1C2A26"/>
                </a:solidFill>
                <a:latin typeface="Proxima Nova"/>
              </a:rPr>
              <a:t>What is the best way to design a 10-minute research presentation?</a:t>
            </a:r>
          </a:p>
        </p:txBody>
      </p:sp>
      <p:sp>
        <p:nvSpPr>
          <p:cNvPr id="6" name="option-A"/>
          <p:cNvSpPr/>
          <p:nvPr/>
        </p:nvSpPr>
        <p:spPr>
          <a:xfrm>
            <a:off x="731520" y="1828800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1901952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Turn every paper section into a slide</a:t>
            </a:r>
          </a:p>
        </p:txBody>
      </p:sp>
      <p:sp>
        <p:nvSpPr>
          <p:cNvPr id="9" name="option-B"/>
          <p:cNvSpPr/>
          <p:nvPr/>
        </p:nvSpPr>
        <p:spPr>
          <a:xfrm>
            <a:off x="731520" y="2395728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533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46888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5333F"/>
                </a:solidFill>
                <a:latin typeface="Proxima Nov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oxima Nova"/>
              </a:rPr>
              <a:t>Build around one central message backed by evidence</a:t>
            </a:r>
          </a:p>
        </p:txBody>
      </p:sp>
      <p:pic>
        <p:nvPicPr>
          <p:cNvPr id="12" name="icon-check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2487168"/>
            <a:ext cx="329184" cy="329184"/>
          </a:xfrm>
          <a:prstGeom prst="rect">
            <a:avLst/>
          </a:prstGeom>
        </p:spPr>
      </p:pic>
      <p:sp>
        <p:nvSpPr>
          <p:cNvPr id="13" name="option-C"/>
          <p:cNvSpPr/>
          <p:nvPr/>
        </p:nvSpPr>
        <p:spPr>
          <a:xfrm>
            <a:off x="731520" y="2962656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3035808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62656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Maximize the number of slides</a:t>
            </a:r>
          </a:p>
        </p:txBody>
      </p:sp>
      <p:sp>
        <p:nvSpPr>
          <p:cNvPr id="16" name="option-D"/>
          <p:cNvSpPr/>
          <p:nvPr/>
        </p:nvSpPr>
        <p:spPr>
          <a:xfrm>
            <a:off x="731520" y="3529584"/>
            <a:ext cx="7680960" cy="512064"/>
          </a:xfrm>
          <a:prstGeom prst="roundRect">
            <a:avLst>
              <a:gd name="adj" fmla="val 20000"/>
            </a:avLst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3602736"/>
            <a:ext cx="365760" cy="365760"/>
          </a:xfrm>
          <a:prstGeom prst="ellipse">
            <a:avLst/>
          </a:prstGeom>
          <a:solidFill>
            <a:srgbClr val="D9DDD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29584"/>
            <a:ext cx="6492240" cy="512064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600" b="0" i="0">
                <a:solidFill>
                  <a:srgbClr val="5C6A64"/>
                </a:solidFill>
                <a:latin typeface="Proxima Nova"/>
              </a:rPr>
              <a:t>Start with the model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431596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E3E5"/>
                </a:solidFill>
                <a:latin typeface="Proxima Nova"/>
              </a:rPr>
              <a:t>Why? </a:t>
            </a:r>
            <a:r>
              <a:rPr sz="1500" b="0" i="0">
                <a:solidFill>
                  <a:srgbClr val="FFFFFF"/>
                </a:solidFill>
                <a:latin typeface="Proxima Nova"/>
              </a:rPr>
              <a:t>Make the important things impossible to misunderstand.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20040" y="64008"/>
            <a:ext cx="7315200" cy="512064"/>
          </a:xfrm>
        </p:spPr>
        <p:txBody>
          <a:bodyPr wrap="square" lIns="0" tIns="0" rIns="0" bIns="0" anchor="ctr"/>
          <a:lstStyle/>
          <a:p>
            <a:pPr algn="l"/>
            <a:r>
              <a:rPr sz="2000" b="1" i="0">
                <a:solidFill>
                  <a:srgbClr val="FFFFFF"/>
                </a:solidFill>
                <a:latin typeface="Proxima Nova"/>
              </a:rPr>
              <a:t>Your Task After the Session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7498079" y="4818888"/>
            <a:ext cx="1188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8A9590"/>
                </a:solidFill>
                <a:latin typeface="Proxima Nova"/>
              </a:rPr>
              <a:t>225</a:t>
            </a:fld>
            <a:endParaRPr lang="en-US" sz="900">
              <a:solidFill>
                <a:srgbClr val="8A9590"/>
              </a:solidFill>
              <a:latin typeface="Proxima Nova"/>
            </a:endParaRPr>
          </a:p>
        </p:txBody>
      </p:sp>
      <p:sp>
        <p:nvSpPr>
          <p:cNvPr id="5" name="step-1"/>
          <p:cNvSpPr/>
          <p:nvPr/>
        </p:nvSpPr>
        <p:spPr>
          <a:xfrm>
            <a:off x="457200" y="1856231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One area</a:t>
            </a:r>
          </a:p>
        </p:txBody>
      </p:sp>
      <p:sp>
        <p:nvSpPr>
          <p:cNvPr id="6" name="Oval 5"/>
          <p:cNvSpPr/>
          <p:nvPr/>
        </p:nvSpPr>
        <p:spPr>
          <a:xfrm>
            <a:off x="1255014" y="17282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1</a:t>
            </a:r>
          </a:p>
        </p:txBody>
      </p:sp>
      <p:pic>
        <p:nvPicPr>
          <p:cNvPr id="7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350008"/>
            <a:ext cx="201168" cy="201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3090672"/>
            <a:ext cx="19431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C6A64"/>
                </a:solidFill>
                <a:latin typeface="Proxima Nova"/>
              </a:rPr>
              <a:t>Pick one AI / Data Science area of interest</a:t>
            </a:r>
          </a:p>
        </p:txBody>
      </p:sp>
      <p:sp>
        <p:nvSpPr>
          <p:cNvPr id="9" name="step-2"/>
          <p:cNvSpPr/>
          <p:nvPr/>
        </p:nvSpPr>
        <p:spPr>
          <a:xfrm>
            <a:off x="2583179" y="1856231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Two sources</a:t>
            </a:r>
          </a:p>
        </p:txBody>
      </p:sp>
      <p:sp>
        <p:nvSpPr>
          <p:cNvPr id="10" name="Oval 9"/>
          <p:cNvSpPr/>
          <p:nvPr/>
        </p:nvSpPr>
        <p:spPr>
          <a:xfrm>
            <a:off x="3380993" y="17282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2</a:t>
            </a:r>
          </a:p>
        </p:txBody>
      </p:sp>
      <p:pic>
        <p:nvPicPr>
          <p:cNvPr id="11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350008"/>
            <a:ext cx="201168" cy="2011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37460" y="3090672"/>
            <a:ext cx="19431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C6A64"/>
                </a:solidFill>
                <a:latin typeface="Proxima Nova"/>
              </a:rPr>
              <a:t>Recent peer-reviewed papers or credible reports</a:t>
            </a:r>
          </a:p>
        </p:txBody>
      </p:sp>
      <p:sp>
        <p:nvSpPr>
          <p:cNvPr id="13" name="step-3"/>
          <p:cNvSpPr/>
          <p:nvPr/>
        </p:nvSpPr>
        <p:spPr>
          <a:xfrm>
            <a:off x="4709159" y="1856231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1C2A26"/>
                </a:solidFill>
                <a:latin typeface="Proxima Nova"/>
              </a:rPr>
              <a:t>One dataset</a:t>
            </a:r>
          </a:p>
        </p:txBody>
      </p:sp>
      <p:sp>
        <p:nvSpPr>
          <p:cNvPr id="14" name="Oval 13"/>
          <p:cNvSpPr/>
          <p:nvPr/>
        </p:nvSpPr>
        <p:spPr>
          <a:xfrm>
            <a:off x="5506974" y="1728215"/>
            <a:ext cx="256032" cy="256032"/>
          </a:xfrm>
          <a:prstGeom prst="ellipse">
            <a:avLst/>
          </a:prstGeom>
          <a:solidFill>
            <a:srgbClr val="1C2A2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3</a:t>
            </a:r>
          </a:p>
        </p:txBody>
      </p:sp>
      <p:pic>
        <p:nvPicPr>
          <p:cNvPr id="15" name="icon-arrowright" descr="arrowrigh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5" y="2350008"/>
            <a:ext cx="201168" cy="2011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63440" y="3090672"/>
            <a:ext cx="19431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C6A64"/>
                </a:solidFill>
                <a:latin typeface="Proxima Nova"/>
              </a:rPr>
              <a:t>A relevant benchmark, where applicable</a:t>
            </a:r>
          </a:p>
        </p:txBody>
      </p:sp>
      <p:sp>
        <p:nvSpPr>
          <p:cNvPr id="17" name="step-4"/>
          <p:cNvSpPr/>
          <p:nvPr/>
        </p:nvSpPr>
        <p:spPr>
          <a:xfrm>
            <a:off x="6835140" y="1856231"/>
            <a:ext cx="1851660" cy="1188720"/>
          </a:xfrm>
          <a:prstGeom prst="roundRect">
            <a:avLst>
              <a:gd name="adj" fmla="val 14000"/>
            </a:avLst>
          </a:prstGeom>
          <a:solidFill>
            <a:srgbClr val="F5333F"/>
          </a:solidFill>
          <a:ln>
            <a:noFill/>
          </a:ln>
        </p:spPr>
        <p:txBody>
          <a:bodyPr wrap="square" lIns="45720" tIns="164592" rIns="45720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oxima Nova"/>
              </a:rPr>
              <a:t>One gap</a:t>
            </a:r>
          </a:p>
        </p:txBody>
      </p:sp>
      <p:sp>
        <p:nvSpPr>
          <p:cNvPr id="18" name="Oval 17"/>
          <p:cNvSpPr/>
          <p:nvPr/>
        </p:nvSpPr>
        <p:spPr>
          <a:xfrm>
            <a:off x="7632953" y="1728215"/>
            <a:ext cx="256032" cy="256032"/>
          </a:xfrm>
          <a:prstGeom prst="ellipse">
            <a:avLst/>
          </a:prstGeom>
          <a:solidFill>
            <a:srgbClr val="B320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roxima Nov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090672"/>
            <a:ext cx="19431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C6A64"/>
                </a:solidFill>
                <a:latin typeface="Proxima Nova"/>
              </a:rPr>
              <a:t>150–200 word note: why it may be worth investigating</a:t>
            </a:r>
          </a:p>
        </p:txBody>
      </p:sp>
      <p:sp>
        <p:nvSpPr>
          <p:cNvPr id="20" name="TextBox 15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800" b="1" i="0">
                <a:solidFill>
                  <a:srgbClr val="F5333F"/>
                </a:solidFill>
                <a:latin typeface="Proxima Nova"/>
              </a:rPr>
              <a:t>Use the four screening questions: relevance, evidence, feasibility, evaluability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7"/>
          <p:cNvSpPr txBox="1"/>
          <p:nvPr/>
        </p:nvSpPr>
        <p:spPr>
          <a:xfrm>
            <a:off x="555037" y="2114911"/>
            <a:ext cx="6895272" cy="1171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roxima Nova"/>
              <a:buNone/>
            </a:pPr>
            <a:r>
              <a:rPr lang="en-IN" sz="4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You!</a:t>
            </a:r>
            <a:endParaRPr sz="4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88" name="Google Shape;78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2370" y="0"/>
            <a:ext cx="1356542" cy="1577482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47"/>
          <p:cNvSpPr txBox="1"/>
          <p:nvPr/>
        </p:nvSpPr>
        <p:spPr>
          <a:xfrm>
            <a:off x="1157111" y="716037"/>
            <a:ext cx="1655704" cy="1311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i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1" name="Google Shape;791;p47"/>
          <p:cNvSpPr txBox="1">
            <a:spLocks noGrp="1"/>
          </p:cNvSpPr>
          <p:nvPr>
            <p:ph type="sldNum" idx="12"/>
          </p:nvPr>
        </p:nvSpPr>
        <p:spPr>
          <a:xfrm>
            <a:off x="6616976" y="401240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226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_UPGRAD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1665</TotalTime>
  <Words>8505</Words>
  <Application>Microsoft Office PowerPoint</Application>
  <PresentationFormat>On-screen Show (16:9)</PresentationFormat>
  <Paragraphs>2272</Paragraphs>
  <Slides>226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226</vt:i4>
      </vt:variant>
    </vt:vector>
  </HeadingPairs>
  <TitlesOfParts>
    <vt:vector size="232" baseType="lpstr">
      <vt:lpstr>Arial</vt:lpstr>
      <vt:lpstr>Proxima Nova</vt:lpstr>
      <vt:lpstr>Calibri</vt:lpstr>
      <vt:lpstr>Lato</vt:lpstr>
      <vt:lpstr>Roboto</vt:lpstr>
      <vt:lpstr>MASTER_UPGRAD</vt:lpstr>
      <vt:lpstr>PowerPoint Presentation</vt:lpstr>
      <vt:lpstr>PowerPoint Presentation</vt:lpstr>
      <vt:lpstr>From AI Technology to Research Thinking</vt:lpstr>
      <vt:lpstr>Welcome and Opening</vt:lpstr>
      <vt:lpstr>A Simple Question: Is Every AI Project Research?</vt:lpstr>
      <vt:lpstr>The 10-Second Research Test</vt:lpstr>
      <vt:lpstr>The AI &amp; Data Science Research Landscape</vt:lpstr>
      <vt:lpstr>Imagine AI Research as a Map</vt:lpstr>
      <vt:lpstr>The One Word I Want You to Remember</vt:lpstr>
      <vt:lpstr>A Very Small Research Experiment</vt:lpstr>
      <vt:lpstr>Your First Challenge</vt:lpstr>
      <vt:lpstr>MCQ 1</vt:lpstr>
      <vt:lpstr>MCQ 1 — Answer</vt:lpstr>
      <vt:lpstr>Understanding the Major Research Areas</vt:lpstr>
      <vt:lpstr>From “AI” to the Actual Research Landscape</vt:lpstr>
      <vt:lpstr>Machine Learning: The Foundation</vt:lpstr>
      <vt:lpstr>Deep Learning: More Than Bigger Models</vt:lpstr>
      <vt:lpstr>NLP and Transformers</vt:lpstr>
      <vt:lpstr>Generative AI and Large Language Models</vt:lpstr>
      <vt:lpstr>RAG: Retrieval-Augmented Generation</vt:lpstr>
      <vt:lpstr>Agentic AI</vt:lpstr>
      <vt:lpstr>Computer Vision</vt:lpstr>
      <vt:lpstr>Multimodal AI</vt:lpstr>
      <vt:lpstr>Predictive Analytics and Time-Series Research</vt:lpstr>
      <vt:lpstr>Recommender Systems and Personalisation</vt:lpstr>
      <vt:lpstr>Responsible AI, Explainability and Security</vt:lpstr>
      <vt:lpstr>The Big Picture</vt:lpstr>
      <vt:lpstr>From Research Area to Research Gap and Research Question</vt:lpstr>
      <vt:lpstr>Research Area vs. Research Problem</vt:lpstr>
      <vt:lpstr>The Research Narrowing Process</vt:lpstr>
      <vt:lpstr>What Is a Research Gap?</vt:lpstr>
      <vt:lpstr>Six Ways to Find a Research Gap</vt:lpstr>
      <vt:lpstr>Finding Gaps Through Literature Comparison</vt:lpstr>
      <vt:lpstr>Use Limitations as Research Clues</vt:lpstr>
      <vt:lpstr>From Research Gap to Research Question</vt:lpstr>
      <vt:lpstr>What Makes a Strong Research Question?</vt:lpstr>
      <vt:lpstr>Novelty Does Not Mean Inventing Everything</vt:lpstr>
      <vt:lpstr>MCQ 2</vt:lpstr>
      <vt:lpstr>MCQ 2 — Answer</vt:lpstr>
      <vt:lpstr>From Research Questions to Research Objectives, Hypotheses and Variables</vt:lpstr>
      <vt:lpstr>From Research Question to Research Objective</vt:lpstr>
      <vt:lpstr>Characteristics of a Strong Objective</vt:lpstr>
      <vt:lpstr>Research Question and Objectives Must Align</vt:lpstr>
      <vt:lpstr>Primary and Secondary Objectives</vt:lpstr>
      <vt:lpstr>What Is a Research Hypothesis?</vt:lpstr>
      <vt:lpstr>Null and Alternative Hypotheses</vt:lpstr>
      <vt:lpstr>Identify Your Research Variables</vt:lpstr>
      <vt:lpstr>Example — Variables in an AI Study</vt:lpstr>
      <vt:lpstr>Operationalizing Abstract Concepts</vt:lpstr>
      <vt:lpstr>The Complete Research Design Chain</vt:lpstr>
      <vt:lpstr>MCQ 3</vt:lpstr>
      <vt:lpstr>MCQ 3 — Answer</vt:lpstr>
      <vt:lpstr>Choosing the Right Research Methodology and Research Design</vt:lpstr>
      <vt:lpstr>Methodology Is a Research Decision</vt:lpstr>
      <vt:lpstr>The Three Broad Research Approaches</vt:lpstr>
      <vt:lpstr>When Should We Use Quantitative Research?</vt:lpstr>
      <vt:lpstr>When Should We Use Qualitative Research?</vt:lpstr>
      <vt:lpstr>Quantitative vs. Qualitative — A Simple Example</vt:lpstr>
      <vt:lpstr>What Is Mixed-Methods Research?</vt:lpstr>
      <vt:lpstr>Research Design — The Blueprint of the Study</vt:lpstr>
      <vt:lpstr>Example — Designing an AI Experiment</vt:lpstr>
      <vt:lpstr>Methodology Must Be Justified</vt:lpstr>
      <vt:lpstr>MCQ 4</vt:lpstr>
      <vt:lpstr>MCQ 4 — Answer</vt:lpstr>
      <vt:lpstr>Sampling, Data Collection, Data Quality and Research Ethics</vt:lpstr>
      <vt:lpstr>From Research Design to Data</vt:lpstr>
      <vt:lpstr>Population vs. Sample</vt:lpstr>
      <vt:lpstr>Probability vs. Non-Probability Sampling</vt:lpstr>
      <vt:lpstr>Sample Size Is Not Just “More Is Better”</vt:lpstr>
      <vt:lpstr>Primary vs. Secondary Data</vt:lpstr>
      <vt:lpstr>Choosing the Right Data Collection Method</vt:lpstr>
      <vt:lpstr>Build a Good Research Instrument</vt:lpstr>
      <vt:lpstr>Reliability vs. Validity</vt:lpstr>
      <vt:lpstr>Data Quality — The Hidden Research Problem</vt:lpstr>
      <vt:lpstr>Research Ethics — Can We Collect This Data?</vt:lpstr>
      <vt:lpstr>MCQ 5</vt:lpstr>
      <vt:lpstr>MCQ 5 — Answer</vt:lpstr>
      <vt:lpstr>From Raw Data to Evidence: Analysis, Evaluation and Interpretation</vt:lpstr>
      <vt:lpstr>Data Does Not Speak for Itself</vt:lpstr>
      <vt:lpstr>The Data Analysis Pipeline</vt:lpstr>
      <vt:lpstr>Descriptive Analysis — What Does the Data Look Like?</vt:lpstr>
      <vt:lpstr>Visualize Before You Interpret</vt:lpstr>
      <vt:lpstr>Descriptive vs. Inferential Analysis</vt:lpstr>
      <vt:lpstr>Choosing the Right Statistical Test</vt:lpstr>
      <vt:lpstr>Statistical Significance Is Not the Whole Story</vt:lpstr>
      <vt:lpstr>Model Evaluation in AI Research</vt:lpstr>
      <vt:lpstr>Correlation Does Not Automatically Mean Causation</vt:lpstr>
      <vt:lpstr>Results vs. Interpretation</vt:lpstr>
      <vt:lpstr>MCQ 6</vt:lpstr>
      <vt:lpstr>MCQ 6 — Answer</vt:lpstr>
      <vt:lpstr>Can We Trust the Findings? Validity, Reproducibility and Generalizability</vt:lpstr>
      <vt:lpstr>A Good Result Is Not Automatically a Strong Result</vt:lpstr>
      <vt:lpstr>Internal Validity — Did the Study Really Test the Claim?</vt:lpstr>
      <vt:lpstr>External Validity — Will It Work Elsewhere?</vt:lpstr>
      <vt:lpstr>Generalizability Has Boundaries</vt:lpstr>
      <vt:lpstr>Reproducibility — Can I Repeat the Analysis?</vt:lpstr>
      <vt:lpstr>Reproducibility vs. Replicability</vt:lpstr>
      <vt:lpstr>Reproducible AI Research</vt:lpstr>
      <vt:lpstr>Robustness — Does the Finding Survive Change?</vt:lpstr>
      <vt:lpstr>Uncertainty and Research Limitations</vt:lpstr>
      <vt:lpstr>The Credibility Checklist</vt:lpstr>
      <vt:lpstr>MCQ 7</vt:lpstr>
      <vt:lpstr>MCQ 7 — Answer</vt:lpstr>
      <vt:lpstr>How to Critically Evaluate a Research Paper</vt:lpstr>
      <vt:lpstr>Reading a Research Paper Is Not the Same as Critically Reading It</vt:lpstr>
      <vt:lpstr>Start With the Research Question, Not the Results</vt:lpstr>
      <vt:lpstr>Does the Method Actually Match the Question?</vt:lpstr>
      <vt:lpstr>Look for Hidden Weaknesses in the Methods</vt:lpstr>
      <vt:lpstr>The Baseline Question — Better Than What?</vt:lpstr>
      <vt:lpstr>Results and Conclusions — Are They Actually Aligned?</vt:lpstr>
      <vt:lpstr>Read the Paper Looking for Bias, Not Just Errors</vt:lpstr>
      <vt:lpstr>The Research Paper Critical-Appraisal Framework</vt:lpstr>
      <vt:lpstr>MCQ 8</vt:lpstr>
      <vt:lpstr>MCQ 8 — Answer</vt:lpstr>
      <vt:lpstr>How to Conduct a Strong Literature Review</vt:lpstr>
      <vt:lpstr>Literature Review Is Not a List of Papers</vt:lpstr>
      <vt:lpstr>Search Strategy Comes Before Searching</vt:lpstr>
      <vt:lpstr>Choose Sources Based on the Research Need</vt:lpstr>
      <vt:lpstr>Build Inclusion and Exclusion Criteria</vt:lpstr>
      <vt:lpstr>Search, Screen, Select</vt:lpstr>
      <vt:lpstr>Build a Literature Matrix</vt:lpstr>
      <vt:lpstr>Compare Studies by Dimensions, Not by Author</vt:lpstr>
      <vt:lpstr>Use Recent Papers Without Losing Foundational Research</vt:lpstr>
      <vt:lpstr>From Literature Summary to Evidence Synthesis</vt:lpstr>
      <vt:lpstr>The Literature Review Pipeline</vt:lpstr>
      <vt:lpstr>MCQ 9</vt:lpstr>
      <vt:lpstr>MCQ 9 — Answer</vt:lpstr>
      <vt:lpstr>From Literature to a Strong Research Argument</vt:lpstr>
      <vt:lpstr>Research Writing Is an Argument, Not a Collection of Facts</vt:lpstr>
      <vt:lpstr>The Introduction Is a Funnel</vt:lpstr>
      <vt:lpstr>Every Paragraph Needs a Job</vt:lpstr>
      <vt:lpstr>Citation Is Evidence, Not Decoration</vt:lpstr>
      <vt:lpstr>One Citation Does Not Prove Everything</vt:lpstr>
      <vt:lpstr>Your Voice Must Remain Visible</vt:lpstr>
      <vt:lpstr>Turn the Gap Into a Research Argument</vt:lpstr>
      <vt:lpstr>Write Contributions as Verifiable Claims</vt:lpstr>
      <vt:lpstr>MCQ 10</vt:lpstr>
      <vt:lpstr>MCQ 10 — Answer</vt:lpstr>
      <vt:lpstr>From Research Idea to Proposal, Paper and Publication</vt:lpstr>
      <vt:lpstr>Research Proposal — The Blueprint Before the Study</vt:lpstr>
      <vt:lpstr>The Proposal Alignment Test</vt:lpstr>
      <vt:lpstr>The Research Paper — What Does Each Section Do?</vt:lpstr>
      <vt:lpstr>Methods — Make the Study Reproducible</vt:lpstr>
      <vt:lpstr>Results — Report, Don't Oversell</vt:lpstr>
      <vt:lpstr>Discussion — Answer “So What?”</vt:lpstr>
      <vt:lpstr>Conclusion — Don't Introduce a New Paper</vt:lpstr>
      <vt:lpstr>The Complete Research-to-Publication Workflow</vt:lpstr>
      <vt:lpstr>MCQ 11</vt:lpstr>
      <vt:lpstr>MCQ 11 — Answer</vt:lpstr>
      <vt:lpstr>From Completed Research to Successful Publication</vt:lpstr>
      <vt:lpstr>Finishing the Paper Is Not the End</vt:lpstr>
      <vt:lpstr>Start With Journal–Paper Fit</vt:lpstr>
      <vt:lpstr>Understand the Journal Before You Submit</vt:lpstr>
      <vt:lpstr>Impact Factor Is Not the Whole Decision</vt:lpstr>
      <vt:lpstr>Recognize Predatory Publishing Red Flags</vt:lpstr>
      <vt:lpstr>Read the Author Guidelines Before Writing</vt:lpstr>
      <vt:lpstr>The Cover Letter — Your First Editorial Argument</vt:lpstr>
      <vt:lpstr>What Happens After Submission?</vt:lpstr>
      <vt:lpstr>How to Respond to Reviewer Comments</vt:lpstr>
      <vt:lpstr>The Publication Readiness Checklist</vt:lpstr>
      <vt:lpstr>MCQ 12</vt:lpstr>
      <vt:lpstr>MCQ 12 — Answer</vt:lpstr>
      <vt:lpstr>Common Research Mistakes and How to Avoid Them</vt:lpstr>
      <vt:lpstr>Good Research Can Fail Because of Small Decisions</vt:lpstr>
      <vt:lpstr>Mistake 1 — Starting With the Technology</vt:lpstr>
      <vt:lpstr>Mistake 2 — Data Leakage</vt:lpstr>
      <vt:lpstr>Mistake 3 — Choosing the Best Result After the Fact</vt:lpstr>
      <vt:lpstr>Mistake 4 — Ignoring Negative or Unexpected Results</vt:lpstr>
      <vt:lpstr>Mistake 5 — Overclaiming From a Small Study</vt:lpstr>
      <vt:lpstr>Mistake 6 — Hiding Important Methodological Details</vt:lpstr>
      <vt:lpstr>Mistake 7 — Research Ethics and Publication Problems</vt:lpstr>
      <vt:lpstr>The Researcher's Final Error Check</vt:lpstr>
      <vt:lpstr>MCQ 13</vt:lpstr>
      <vt:lpstr>MCQ 13 — Answer</vt:lpstr>
      <vt:lpstr>Generative AI in Research: Powerful Assistant, Not a Replacement for the Researcher</vt:lpstr>
      <vt:lpstr>AI Has Changed the Research Workflow</vt:lpstr>
      <vt:lpstr>What Can AI Help a Researcher Do?</vt:lpstr>
      <vt:lpstr>Scenario — Can I Ask AI to Find Papers?</vt:lpstr>
      <vt:lpstr>Scenario — Can AI Write My Literature Review?</vt:lpstr>
      <vt:lpstr>Scenario — Can AI Analyze My Research Data?</vt:lpstr>
      <vt:lpstr>Scenario — Can AI Generate My Research Data?</vt:lpstr>
      <vt:lpstr>Scenario — Can AI Be an Author?</vt:lpstr>
      <vt:lpstr>AI Disclosure — Transparency Builds Trust</vt:lpstr>
      <vt:lpstr>Never Upload Confidential Research Without Thinking</vt:lpstr>
      <vt:lpstr>The Human-in-the-Loop Researcher</vt:lpstr>
      <vt:lpstr>MCQ 14</vt:lpstr>
      <vt:lpstr>MCQ 14 — Answer</vt:lpstr>
      <vt:lpstr>From Research Idea to Research Plan: An Integrated AI Research Case Study</vt:lpstr>
      <vt:lpstr>Let's Build a Research Study From Scratch</vt:lpstr>
      <vt:lpstr>Step 1 — Identify the Real Research Problem</vt:lpstr>
      <vt:lpstr>Step 2 — Turn the Problem Into a Research Gap</vt:lpstr>
      <vt:lpstr>Step 3 — Formulate the Research Question</vt:lpstr>
      <vt:lpstr>Step 4 — Convert Questions Into Objectives</vt:lpstr>
      <vt:lpstr>Step 5 — Identify the Variables</vt:lpstr>
      <vt:lpstr>Step 6 — Choose the Research Design</vt:lpstr>
      <vt:lpstr>Step 7 — Design the Data Collection</vt:lpstr>
      <vt:lpstr>Step 8 — Decide How We Will Evaluate the Evidence</vt:lpstr>
      <vt:lpstr>Step 9 — What Would the Final Research Contribution Be?</vt:lpstr>
      <vt:lpstr>MCQ 15</vt:lpstr>
      <vt:lpstr>MCQ 15 — Answer</vt:lpstr>
      <vt:lpstr>From Research Study to Research Defense: Explaining, Justifying and Communicating Your Work</vt:lpstr>
      <vt:lpstr>A Good Researcher Must Also Be Able to Defend the Research</vt:lpstr>
      <vt:lpstr>The 30-Second Research Explanation</vt:lpstr>
      <vt:lpstr>The Most Dangerous Question — “Why Did You Choose This Method?”</vt:lpstr>
      <vt:lpstr>“Why Didn't You Use a Different Method?”</vt:lpstr>
      <vt:lpstr>“What Is the Strongest Evidence in Your Study?”</vt:lpstr>
      <vt:lpstr>“What Is the Weakest Part of Your Study?”</vt:lpstr>
      <vt:lpstr>Don't Turn Limitations Into Apologies</vt:lpstr>
      <vt:lpstr>How to Handle a Question You Cannot Answer</vt:lpstr>
      <vt:lpstr>The Research Defense Master Framework</vt:lpstr>
      <vt:lpstr>MCQ 16</vt:lpstr>
      <vt:lpstr>MCQ 16 — Answer</vt:lpstr>
      <vt:lpstr>From Research Paper to Research Presentation: Making Your Work Clear, Engaging and Memorable</vt:lpstr>
      <vt:lpstr>A Research Paper and a Research Presentation Are Not the Same Thing</vt:lpstr>
      <vt:lpstr>Start With the Problem, Not the Technology</vt:lpstr>
      <vt:lpstr>One Slide, One Main Message</vt:lpstr>
      <vt:lpstr>Use Visuals to Explain, Not Decorate</vt:lpstr>
      <vt:lpstr>Don't Hide Uncertainty Behind Confident Language</vt:lpstr>
      <vt:lpstr>Your Audience Is Not One Audience</vt:lpstr>
      <vt:lpstr>How to Handle Questions Without Losing Control</vt:lpstr>
      <vt:lpstr>The 10-Minute Research Presentation Structure</vt:lpstr>
      <vt:lpstr>The One-Sentence Takeaway Test</vt:lpstr>
      <vt:lpstr>MCQ 17</vt:lpstr>
      <vt:lpstr>MCQ 17 — Answer</vt:lpstr>
      <vt:lpstr>Your Task After the Session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Jyoti Dabass</cp:lastModifiedBy>
  <cp:revision>52</cp:revision>
  <dcterms:modified xsi:type="dcterms:W3CDTF">2026-10-09T10:55:07Z</dcterms:modified>
</cp:coreProperties>
</file>